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Lst>
  <p:sldSz cx="18288000" cy="10287000"/>
  <p:notesSz cx="6858000" cy="9144000"/>
  <p:embeddedFontLst>
    <p:embeddedFont>
      <p:font typeface="Calibri (MS)" panose="020B0604020202020204" charset="0"/>
      <p:regular r:id="rId15"/>
    </p:embeddedFont>
    <p:embeddedFont>
      <p:font typeface="Calibri (MS) Bold" panose="020B0604020202020204" charset="0"/>
      <p:regular r:id="rId16"/>
    </p:embeddedFont>
    <p:embeddedFont>
      <p:font typeface="Cambria Bold" panose="02040803050406030204" pitchFamily="18" charset="0"/>
      <p:regular r:id="rId17"/>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5B819F-8D4E-48E8-91B6-2AD36B35F72E}" v="131" dt="2026-10-23T21:57:33.5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4.jpeg"/><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CosmicFrontierDev/SCOPE---Space-Collision-Orbital-Proximity-Evaluation" TargetMode="External"/><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03554" y="3951303"/>
            <a:ext cx="2948064" cy="2948064"/>
            <a:chOff x="0" y="0"/>
            <a:chExt cx="3930752" cy="3930752"/>
          </a:xfrm>
        </p:grpSpPr>
        <p:sp>
          <p:nvSpPr>
            <p:cNvPr id="3" name="Freeform 3"/>
            <p:cNvSpPr/>
            <p:nvPr/>
          </p:nvSpPr>
          <p:spPr>
            <a:xfrm>
              <a:off x="0" y="0"/>
              <a:ext cx="3930777" cy="3930777"/>
            </a:xfrm>
            <a:custGeom>
              <a:avLst/>
              <a:gdLst/>
              <a:ahLst/>
              <a:cxnLst/>
              <a:rect l="l" t="t" r="r" b="b"/>
              <a:pathLst>
                <a:path w="3930777" h="3930777">
                  <a:moveTo>
                    <a:pt x="0" y="1965325"/>
                  </a:moveTo>
                  <a:cubicBezTo>
                    <a:pt x="0" y="879983"/>
                    <a:pt x="879983" y="0"/>
                    <a:pt x="1965325" y="0"/>
                  </a:cubicBezTo>
                  <a:cubicBezTo>
                    <a:pt x="3050667" y="0"/>
                    <a:pt x="3930777" y="879983"/>
                    <a:pt x="3930777" y="1965325"/>
                  </a:cubicBezTo>
                  <a:cubicBezTo>
                    <a:pt x="3930777" y="3050667"/>
                    <a:pt x="3050794" y="3930777"/>
                    <a:pt x="1965325" y="3930777"/>
                  </a:cubicBezTo>
                  <a:cubicBezTo>
                    <a:pt x="879856" y="3930777"/>
                    <a:pt x="0" y="3050794"/>
                    <a:pt x="0" y="1965325"/>
                  </a:cubicBezTo>
                  <a:close/>
                </a:path>
              </a:pathLst>
            </a:custGeom>
            <a:blipFill>
              <a:blip r:embed="rId2">
                <a:alphaModFix amt="0"/>
              </a:blip>
              <a:stretch>
                <a:fillRect l="-78303" r="-78302"/>
              </a:stretch>
            </a:blipFill>
            <a:ln w="23812" cap="sq">
              <a:solidFill>
                <a:srgbClr val="2B4C7E"/>
              </a:solidFill>
              <a:prstDash val="solid"/>
              <a:miter/>
            </a:ln>
          </p:spPr>
        </p:sp>
      </p:grpSp>
      <p:grpSp>
        <p:nvGrpSpPr>
          <p:cNvPr id="4" name="Group 4"/>
          <p:cNvGrpSpPr/>
          <p:nvPr/>
        </p:nvGrpSpPr>
        <p:grpSpPr>
          <a:xfrm>
            <a:off x="11503785" y="3051535"/>
            <a:ext cx="4747603" cy="4747603"/>
            <a:chOff x="0" y="0"/>
            <a:chExt cx="6330137" cy="6330137"/>
          </a:xfrm>
        </p:grpSpPr>
        <p:sp>
          <p:nvSpPr>
            <p:cNvPr id="5" name="Freeform 5"/>
            <p:cNvSpPr/>
            <p:nvPr/>
          </p:nvSpPr>
          <p:spPr>
            <a:xfrm>
              <a:off x="0" y="0"/>
              <a:ext cx="6330188" cy="6330188"/>
            </a:xfrm>
            <a:custGeom>
              <a:avLst/>
              <a:gdLst/>
              <a:ahLst/>
              <a:cxnLst/>
              <a:rect l="l" t="t" r="r" b="b"/>
              <a:pathLst>
                <a:path w="6330188" h="6330188">
                  <a:moveTo>
                    <a:pt x="0" y="3165094"/>
                  </a:moveTo>
                  <a:cubicBezTo>
                    <a:pt x="0" y="1417066"/>
                    <a:pt x="1417066" y="0"/>
                    <a:pt x="3165094" y="0"/>
                  </a:cubicBezTo>
                  <a:cubicBezTo>
                    <a:pt x="4913122" y="0"/>
                    <a:pt x="6330188" y="1417066"/>
                    <a:pt x="6330188" y="3165094"/>
                  </a:cubicBezTo>
                  <a:cubicBezTo>
                    <a:pt x="6330188" y="4913122"/>
                    <a:pt x="4913122" y="6330188"/>
                    <a:pt x="3165094" y="6330188"/>
                  </a:cubicBezTo>
                  <a:cubicBezTo>
                    <a:pt x="1417066" y="6330188"/>
                    <a:pt x="0" y="4913122"/>
                    <a:pt x="0" y="3165094"/>
                  </a:cubicBezTo>
                  <a:close/>
                </a:path>
              </a:pathLst>
            </a:custGeom>
            <a:blipFill>
              <a:blip r:embed="rId2">
                <a:alphaModFix amt="0"/>
              </a:blip>
              <a:stretch>
                <a:fillRect l="-78302" r="-78302"/>
              </a:stretch>
            </a:blipFill>
            <a:ln w="23812" cap="sq">
              <a:solidFill>
                <a:srgbClr val="3A6EA5"/>
              </a:solidFill>
              <a:prstDash val="solid"/>
              <a:miter/>
            </a:ln>
          </p:spPr>
        </p:sp>
      </p:grpSp>
      <p:grpSp>
        <p:nvGrpSpPr>
          <p:cNvPr id="6" name="Group 6"/>
          <p:cNvGrpSpPr/>
          <p:nvPr/>
        </p:nvGrpSpPr>
        <p:grpSpPr>
          <a:xfrm>
            <a:off x="10666645" y="2146396"/>
            <a:ext cx="6547104" cy="6547104"/>
            <a:chOff x="-5448823" y="876822"/>
            <a:chExt cx="8729472" cy="8729472"/>
          </a:xfrm>
        </p:grpSpPr>
        <p:sp>
          <p:nvSpPr>
            <p:cNvPr id="7" name="Freeform 7"/>
            <p:cNvSpPr/>
            <p:nvPr/>
          </p:nvSpPr>
          <p:spPr>
            <a:xfrm>
              <a:off x="-5448823" y="876822"/>
              <a:ext cx="8729472" cy="8729472"/>
            </a:xfrm>
            <a:custGeom>
              <a:avLst/>
              <a:gdLst/>
              <a:ahLst/>
              <a:cxnLst/>
              <a:rect l="l" t="t" r="r" b="b"/>
              <a:pathLst>
                <a:path w="8729472" h="8729472">
                  <a:moveTo>
                    <a:pt x="0" y="4364736"/>
                  </a:moveTo>
                  <a:cubicBezTo>
                    <a:pt x="0" y="1954149"/>
                    <a:pt x="1954149" y="0"/>
                    <a:pt x="4364736" y="0"/>
                  </a:cubicBezTo>
                  <a:cubicBezTo>
                    <a:pt x="6775323" y="0"/>
                    <a:pt x="8729472" y="1954149"/>
                    <a:pt x="8729472" y="4364736"/>
                  </a:cubicBezTo>
                  <a:cubicBezTo>
                    <a:pt x="8729472" y="6775323"/>
                    <a:pt x="6775323" y="8729472"/>
                    <a:pt x="4364736" y="8729472"/>
                  </a:cubicBezTo>
                  <a:cubicBezTo>
                    <a:pt x="1954149" y="8729472"/>
                    <a:pt x="0" y="6775323"/>
                    <a:pt x="0" y="4364736"/>
                  </a:cubicBezTo>
                  <a:close/>
                </a:path>
              </a:pathLst>
            </a:custGeom>
            <a:blipFill>
              <a:blip r:embed="rId2">
                <a:alphaModFix amt="0"/>
              </a:blip>
              <a:stretch>
                <a:fillRect l="-78304" r="-78304"/>
              </a:stretch>
            </a:blipFill>
            <a:ln w="23812" cap="sq">
              <a:solidFill>
                <a:srgbClr val="38BDF8"/>
              </a:solidFill>
              <a:prstDash val="solid"/>
              <a:miter/>
            </a:ln>
          </p:spPr>
        </p:sp>
      </p:grpSp>
      <p:grpSp>
        <p:nvGrpSpPr>
          <p:cNvPr id="8" name="Group 8"/>
          <p:cNvGrpSpPr/>
          <p:nvPr/>
        </p:nvGrpSpPr>
        <p:grpSpPr>
          <a:xfrm>
            <a:off x="13138630" y="4623750"/>
            <a:ext cx="1603172" cy="1603172"/>
            <a:chOff x="0" y="0"/>
            <a:chExt cx="2137562" cy="2137562"/>
          </a:xfrm>
        </p:grpSpPr>
        <p:sp>
          <p:nvSpPr>
            <p:cNvPr id="9" name="Freeform 9"/>
            <p:cNvSpPr/>
            <p:nvPr/>
          </p:nvSpPr>
          <p:spPr>
            <a:xfrm>
              <a:off x="0" y="0"/>
              <a:ext cx="2137664" cy="2137664"/>
            </a:xfrm>
            <a:custGeom>
              <a:avLst/>
              <a:gdLst/>
              <a:ahLst/>
              <a:cxnLst/>
              <a:rect l="l" t="t" r="r" b="b"/>
              <a:pathLst>
                <a:path w="2137664" h="2137664">
                  <a:moveTo>
                    <a:pt x="0" y="1068832"/>
                  </a:moveTo>
                  <a:cubicBezTo>
                    <a:pt x="0" y="478536"/>
                    <a:pt x="478536" y="0"/>
                    <a:pt x="1068832" y="0"/>
                  </a:cubicBezTo>
                  <a:cubicBezTo>
                    <a:pt x="1659128" y="0"/>
                    <a:pt x="2137664" y="478536"/>
                    <a:pt x="2137664" y="1068832"/>
                  </a:cubicBezTo>
                  <a:cubicBezTo>
                    <a:pt x="2137664" y="1659128"/>
                    <a:pt x="1659128" y="2137664"/>
                    <a:pt x="1068832" y="2137664"/>
                  </a:cubicBezTo>
                  <a:cubicBezTo>
                    <a:pt x="478536" y="2137664"/>
                    <a:pt x="0" y="1659001"/>
                    <a:pt x="0" y="1068832"/>
                  </a:cubicBezTo>
                  <a:close/>
                </a:path>
              </a:pathLst>
            </a:custGeom>
            <a:solidFill>
              <a:srgbClr val="D2E4FF"/>
            </a:solidFill>
            <a:ln w="28575" cap="sq">
              <a:solidFill>
                <a:srgbClr val="38BDF8"/>
              </a:solidFill>
              <a:prstDash val="solid"/>
              <a:miter/>
            </a:ln>
          </p:spPr>
        </p:sp>
      </p:grpSp>
      <p:grpSp>
        <p:nvGrpSpPr>
          <p:cNvPr id="10" name="Group 10"/>
          <p:cNvGrpSpPr/>
          <p:nvPr/>
        </p:nvGrpSpPr>
        <p:grpSpPr>
          <a:xfrm>
            <a:off x="14904026" y="3358408"/>
            <a:ext cx="625631" cy="469223"/>
            <a:chOff x="0" y="0"/>
            <a:chExt cx="812800" cy="609600"/>
          </a:xfrm>
        </p:grpSpPr>
        <p:sp>
          <p:nvSpPr>
            <p:cNvPr id="11" name="Freeform 11"/>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1B33"/>
            </a:solidFill>
          </p:spPr>
        </p:sp>
        <p:sp>
          <p:nvSpPr>
            <p:cNvPr id="12" name="TextBox 12"/>
            <p:cNvSpPr txBox="1"/>
            <p:nvPr/>
          </p:nvSpPr>
          <p:spPr>
            <a:xfrm>
              <a:off x="101600" y="-47625"/>
              <a:ext cx="609600" cy="657225"/>
            </a:xfrm>
            <a:prstGeom prst="rect">
              <a:avLst/>
            </a:prstGeom>
          </p:spPr>
          <p:txBody>
            <a:bodyPr lIns="50800" tIns="50800" rIns="50800" bIns="50800" rtlCol="0" anchor="ctr"/>
            <a:lstStyle/>
            <a:p>
              <a:pPr algn="ctr">
                <a:lnSpc>
                  <a:spcPts val="2520"/>
                </a:lnSpc>
              </a:pPr>
              <a:endParaRPr/>
            </a:p>
          </p:txBody>
        </p:sp>
      </p:grpSp>
      <p:grpSp>
        <p:nvGrpSpPr>
          <p:cNvPr id="15" name="Group 15"/>
          <p:cNvGrpSpPr/>
          <p:nvPr/>
        </p:nvGrpSpPr>
        <p:grpSpPr>
          <a:xfrm>
            <a:off x="14219335" y="7472807"/>
            <a:ext cx="625631" cy="469223"/>
            <a:chOff x="0" y="0"/>
            <a:chExt cx="812800" cy="609600"/>
          </a:xfrm>
        </p:grpSpPr>
        <p:sp>
          <p:nvSpPr>
            <p:cNvPr id="16" name="Freeform 16"/>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1B33"/>
            </a:solidFill>
          </p:spPr>
        </p:sp>
        <p:sp>
          <p:nvSpPr>
            <p:cNvPr id="17" name="TextBox 17"/>
            <p:cNvSpPr txBox="1"/>
            <p:nvPr/>
          </p:nvSpPr>
          <p:spPr>
            <a:xfrm>
              <a:off x="101600" y="-47625"/>
              <a:ext cx="609600" cy="657225"/>
            </a:xfrm>
            <a:prstGeom prst="rect">
              <a:avLst/>
            </a:prstGeom>
          </p:spPr>
          <p:txBody>
            <a:bodyPr lIns="50800" tIns="50800" rIns="50800" bIns="50800" rtlCol="0" anchor="ctr"/>
            <a:lstStyle/>
            <a:p>
              <a:pPr algn="ctr">
                <a:lnSpc>
                  <a:spcPts val="2520"/>
                </a:lnSpc>
              </a:pPr>
              <a:endParaRPr/>
            </a:p>
          </p:txBody>
        </p:sp>
      </p:grpSp>
      <p:grpSp>
        <p:nvGrpSpPr>
          <p:cNvPr id="18" name="Group 18"/>
          <p:cNvGrpSpPr/>
          <p:nvPr/>
        </p:nvGrpSpPr>
        <p:grpSpPr>
          <a:xfrm>
            <a:off x="14381426" y="7562930"/>
            <a:ext cx="288979" cy="288979"/>
            <a:chOff x="0" y="0"/>
            <a:chExt cx="385305" cy="385305"/>
          </a:xfrm>
        </p:grpSpPr>
        <p:sp>
          <p:nvSpPr>
            <p:cNvPr id="19" name="Freeform 19"/>
            <p:cNvSpPr/>
            <p:nvPr/>
          </p:nvSpPr>
          <p:spPr>
            <a:xfrm>
              <a:off x="0" y="0"/>
              <a:ext cx="385318" cy="385318"/>
            </a:xfrm>
            <a:custGeom>
              <a:avLst/>
              <a:gdLst/>
              <a:ahLst/>
              <a:cxnLst/>
              <a:rect l="l" t="t" r="r" b="b"/>
              <a:pathLst>
                <a:path w="385318" h="385318">
                  <a:moveTo>
                    <a:pt x="0" y="192659"/>
                  </a:moveTo>
                  <a:cubicBezTo>
                    <a:pt x="0" y="86233"/>
                    <a:pt x="86233" y="0"/>
                    <a:pt x="192659" y="0"/>
                  </a:cubicBezTo>
                  <a:cubicBezTo>
                    <a:pt x="299085" y="0"/>
                    <a:pt x="385318" y="86233"/>
                    <a:pt x="385318" y="192659"/>
                  </a:cubicBezTo>
                  <a:cubicBezTo>
                    <a:pt x="385318" y="299085"/>
                    <a:pt x="299085" y="385318"/>
                    <a:pt x="192659" y="385318"/>
                  </a:cubicBezTo>
                  <a:cubicBezTo>
                    <a:pt x="86233" y="385318"/>
                    <a:pt x="0" y="299085"/>
                    <a:pt x="0" y="192659"/>
                  </a:cubicBezTo>
                  <a:close/>
                </a:path>
              </a:pathLst>
            </a:custGeom>
            <a:solidFill>
              <a:srgbClr val="F59E0B"/>
            </a:solidFill>
            <a:ln w="19050" cap="sq">
              <a:solidFill>
                <a:srgbClr val="F59E0B"/>
              </a:solidFill>
              <a:prstDash val="solid"/>
              <a:miter/>
            </a:ln>
          </p:spPr>
        </p:sp>
      </p:grpSp>
      <p:grpSp>
        <p:nvGrpSpPr>
          <p:cNvPr id="20" name="Group 20"/>
          <p:cNvGrpSpPr/>
          <p:nvPr/>
        </p:nvGrpSpPr>
        <p:grpSpPr>
          <a:xfrm>
            <a:off x="11187250" y="4908504"/>
            <a:ext cx="625631" cy="469223"/>
            <a:chOff x="0" y="0"/>
            <a:chExt cx="812800" cy="609600"/>
          </a:xfrm>
        </p:grpSpPr>
        <p:sp>
          <p:nvSpPr>
            <p:cNvPr id="21" name="Freeform 21"/>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1B33"/>
            </a:solidFill>
          </p:spPr>
        </p:sp>
        <p:sp>
          <p:nvSpPr>
            <p:cNvPr id="22" name="TextBox 22"/>
            <p:cNvSpPr txBox="1"/>
            <p:nvPr/>
          </p:nvSpPr>
          <p:spPr>
            <a:xfrm>
              <a:off x="101600" y="-47625"/>
              <a:ext cx="609600" cy="657225"/>
            </a:xfrm>
            <a:prstGeom prst="rect">
              <a:avLst/>
            </a:prstGeom>
          </p:spPr>
          <p:txBody>
            <a:bodyPr lIns="50800" tIns="50800" rIns="50800" bIns="50800" rtlCol="0" anchor="ctr"/>
            <a:lstStyle/>
            <a:p>
              <a:pPr algn="ctr">
                <a:lnSpc>
                  <a:spcPts val="2520"/>
                </a:lnSpc>
              </a:pPr>
              <a:endParaRPr/>
            </a:p>
          </p:txBody>
        </p:sp>
      </p:grpSp>
      <p:sp>
        <p:nvSpPr>
          <p:cNvPr id="25" name="Freeform 25"/>
          <p:cNvSpPr/>
          <p:nvPr/>
        </p:nvSpPr>
        <p:spPr>
          <a:xfrm>
            <a:off x="779951" y="443149"/>
            <a:ext cx="2246360" cy="2136997"/>
          </a:xfrm>
          <a:custGeom>
            <a:avLst/>
            <a:gdLst/>
            <a:ahLst/>
            <a:cxnLst/>
            <a:rect l="l" t="t" r="r" b="b"/>
            <a:pathLst>
              <a:path w="2246360" h="2136997">
                <a:moveTo>
                  <a:pt x="0" y="0"/>
                </a:moveTo>
                <a:lnTo>
                  <a:pt x="2246360" y="0"/>
                </a:lnTo>
                <a:lnTo>
                  <a:pt x="2246360" y="2136997"/>
                </a:lnTo>
                <a:lnTo>
                  <a:pt x="0" y="2136997"/>
                </a:lnTo>
                <a:lnTo>
                  <a:pt x="0" y="0"/>
                </a:lnTo>
                <a:close/>
              </a:path>
            </a:pathLst>
          </a:custGeom>
          <a:blipFill>
            <a:blip r:embed="rId3"/>
            <a:stretch>
              <a:fillRect/>
            </a:stretch>
          </a:blipFill>
        </p:spPr>
      </p:sp>
      <p:sp>
        <p:nvSpPr>
          <p:cNvPr id="26" name="TextBox 26"/>
          <p:cNvSpPr txBox="1"/>
          <p:nvPr/>
        </p:nvSpPr>
        <p:spPr>
          <a:xfrm>
            <a:off x="779951" y="4407056"/>
            <a:ext cx="10345249" cy="6115050"/>
          </a:xfrm>
          <a:prstGeom prst="rect">
            <a:avLst/>
          </a:prstGeom>
        </p:spPr>
        <p:txBody>
          <a:bodyPr lIns="0" tIns="0" rIns="0" bIns="0" rtlCol="0" anchor="t">
            <a:spAutoFit/>
          </a:bodyPr>
          <a:lstStyle/>
          <a:p>
            <a:pPr algn="l">
              <a:lnSpc>
                <a:spcPts val="5039"/>
              </a:lnSpc>
            </a:pPr>
            <a:r>
              <a:rPr lang="en-US" sz="4199" b="1">
                <a:solidFill>
                  <a:srgbClr val="0B1B33"/>
                </a:solidFill>
                <a:latin typeface="Calibri (MS) Bold"/>
                <a:ea typeface="Calibri (MS) Bold"/>
                <a:cs typeface="Calibri (MS) Bold"/>
                <a:sym typeface="Calibri (MS) Bold"/>
              </a:rPr>
              <a:t>Space Collision &amp; Orbital Proximity Evaluation System</a:t>
            </a:r>
          </a:p>
          <a:p>
            <a:pPr algn="l">
              <a:lnSpc>
                <a:spcPts val="2159"/>
              </a:lnSpc>
            </a:pPr>
            <a:r>
              <a:rPr lang="en-US" sz="1799">
                <a:solidFill>
                  <a:srgbClr val="0B1B33"/>
                </a:solidFill>
                <a:latin typeface="Calibri (MS)"/>
                <a:ea typeface="Calibri (MS)"/>
                <a:cs typeface="Calibri (MS)"/>
                <a:sym typeface="Calibri (MS)"/>
              </a:rPr>
              <a:t> </a:t>
            </a:r>
          </a:p>
          <a:p>
            <a:pPr algn="l">
              <a:lnSpc>
                <a:spcPts val="3839"/>
              </a:lnSpc>
            </a:pPr>
            <a:r>
              <a:rPr lang="en-US" sz="3199" b="1">
                <a:solidFill>
                  <a:srgbClr val="0B1B33"/>
                </a:solidFill>
                <a:latin typeface="Calibri (MS) Bold"/>
                <a:ea typeface="Calibri (MS) Bold"/>
                <a:cs typeface="Calibri (MS) Bold"/>
                <a:sym typeface="Calibri (MS) Bold"/>
              </a:rPr>
              <a:t>Presented by: </a:t>
            </a:r>
            <a:r>
              <a:rPr lang="en-US" sz="3199">
                <a:solidFill>
                  <a:srgbClr val="0B1B33"/>
                </a:solidFill>
                <a:latin typeface="Calibri (MS)"/>
                <a:ea typeface="Calibri (MS)"/>
                <a:cs typeface="Calibri (MS)"/>
                <a:sym typeface="Calibri (MS)"/>
              </a:rPr>
              <a:t>DHRUVANSH PANCHAL</a:t>
            </a:r>
          </a:p>
          <a:p>
            <a:pPr algn="l">
              <a:lnSpc>
                <a:spcPts val="3839"/>
              </a:lnSpc>
            </a:pPr>
            <a:endParaRPr lang="en-US" sz="3199">
              <a:solidFill>
                <a:srgbClr val="0B1B33"/>
              </a:solidFill>
              <a:latin typeface="Calibri (MS)"/>
              <a:ea typeface="Calibri (MS)"/>
              <a:cs typeface="Calibri (MS)"/>
              <a:sym typeface="Calibri (MS)"/>
            </a:endParaRPr>
          </a:p>
          <a:p>
            <a:pPr algn="l">
              <a:lnSpc>
                <a:spcPts val="3839"/>
              </a:lnSpc>
            </a:pPr>
            <a:r>
              <a:rPr lang="en-US" sz="3199" b="1">
                <a:solidFill>
                  <a:srgbClr val="0B1B33"/>
                </a:solidFill>
                <a:latin typeface="Calibri (MS) Bold"/>
                <a:ea typeface="Calibri (MS) Bold"/>
                <a:cs typeface="Calibri (MS) Bold"/>
                <a:sym typeface="Calibri (MS) Bold"/>
              </a:rPr>
              <a:t>ID:</a:t>
            </a:r>
            <a:r>
              <a:rPr lang="en-US" sz="3199">
                <a:solidFill>
                  <a:srgbClr val="0B1B33"/>
                </a:solidFill>
                <a:latin typeface="Calibri (MS)"/>
                <a:ea typeface="Calibri (MS)"/>
                <a:cs typeface="Calibri (MS)"/>
                <a:sym typeface="Calibri (MS)"/>
              </a:rPr>
              <a:t> 25EC417  </a:t>
            </a:r>
          </a:p>
          <a:p>
            <a:pPr algn="l">
              <a:lnSpc>
                <a:spcPts val="3839"/>
              </a:lnSpc>
            </a:pPr>
            <a:endParaRPr lang="en-US" sz="3199">
              <a:solidFill>
                <a:srgbClr val="0B1B33"/>
              </a:solidFill>
              <a:latin typeface="Calibri (MS)"/>
              <a:ea typeface="Calibri (MS)"/>
              <a:cs typeface="Calibri (MS)"/>
              <a:sym typeface="Calibri (MS)"/>
            </a:endParaRPr>
          </a:p>
          <a:p>
            <a:pPr algn="l">
              <a:lnSpc>
                <a:spcPts val="3839"/>
              </a:lnSpc>
            </a:pPr>
            <a:r>
              <a:rPr lang="en-US" sz="3199" b="1">
                <a:solidFill>
                  <a:srgbClr val="0B1B33"/>
                </a:solidFill>
                <a:latin typeface="Calibri (MS) Bold"/>
                <a:ea typeface="Calibri (MS) Bold"/>
                <a:cs typeface="Calibri (MS) Bold"/>
                <a:sym typeface="Calibri (MS) Bold"/>
              </a:rPr>
              <a:t>Course:</a:t>
            </a:r>
            <a:r>
              <a:rPr lang="en-US" sz="3199">
                <a:solidFill>
                  <a:srgbClr val="0B1B33"/>
                </a:solidFill>
                <a:latin typeface="Calibri (MS)"/>
                <a:ea typeface="Calibri (MS)"/>
                <a:cs typeface="Calibri (MS)"/>
                <a:sym typeface="Calibri (MS)"/>
              </a:rPr>
              <a:t> 204ES OBJECT ORIENTED PROGRAMMING</a:t>
            </a:r>
          </a:p>
          <a:p>
            <a:pPr algn="l">
              <a:lnSpc>
                <a:spcPts val="3839"/>
              </a:lnSpc>
            </a:pPr>
            <a:endParaRPr lang="en-US" sz="3199">
              <a:solidFill>
                <a:srgbClr val="0B1B33"/>
              </a:solidFill>
              <a:latin typeface="Calibri (MS)"/>
              <a:ea typeface="Calibri (MS)"/>
              <a:cs typeface="Calibri (MS)"/>
              <a:sym typeface="Calibri (MS)"/>
            </a:endParaRPr>
          </a:p>
          <a:p>
            <a:pPr algn="l">
              <a:lnSpc>
                <a:spcPts val="3839"/>
              </a:lnSpc>
            </a:pPr>
            <a:r>
              <a:rPr lang="en-US" sz="3199" b="1">
                <a:solidFill>
                  <a:srgbClr val="0B1B33"/>
                </a:solidFill>
                <a:latin typeface="Calibri (MS) Bold"/>
                <a:ea typeface="Calibri (MS) Bold"/>
                <a:cs typeface="Calibri (MS) Bold"/>
                <a:sym typeface="Calibri (MS) Bold"/>
              </a:rPr>
              <a:t>Department:</a:t>
            </a:r>
            <a:r>
              <a:rPr lang="en-US" sz="3199">
                <a:solidFill>
                  <a:srgbClr val="0B1B33"/>
                </a:solidFill>
                <a:latin typeface="Calibri (MS)"/>
                <a:ea typeface="Calibri (MS)"/>
                <a:cs typeface="Calibri (MS)"/>
                <a:sym typeface="Calibri (MS)"/>
              </a:rPr>
              <a:t> ECE</a:t>
            </a:r>
          </a:p>
          <a:p>
            <a:pPr algn="l">
              <a:lnSpc>
                <a:spcPts val="2879"/>
              </a:lnSpc>
            </a:pPr>
            <a:endParaRPr lang="en-US" sz="3199">
              <a:solidFill>
                <a:srgbClr val="0B1B33"/>
              </a:solidFill>
              <a:latin typeface="Calibri (MS)"/>
              <a:ea typeface="Calibri (MS)"/>
              <a:cs typeface="Calibri (MS)"/>
              <a:sym typeface="Calibri (MS)"/>
            </a:endParaRPr>
          </a:p>
          <a:p>
            <a:pPr algn="l">
              <a:lnSpc>
                <a:spcPts val="2879"/>
              </a:lnSpc>
            </a:pPr>
            <a:endParaRPr lang="en-US" sz="3199">
              <a:solidFill>
                <a:srgbClr val="0B1B33"/>
              </a:solidFill>
              <a:latin typeface="Calibri (MS)"/>
              <a:ea typeface="Calibri (MS)"/>
              <a:cs typeface="Calibri (MS)"/>
              <a:sym typeface="Calibri (MS)"/>
            </a:endParaRPr>
          </a:p>
          <a:p>
            <a:pPr algn="l">
              <a:lnSpc>
                <a:spcPts val="2879"/>
              </a:lnSpc>
            </a:pPr>
            <a:endParaRPr lang="en-US" sz="3199">
              <a:solidFill>
                <a:srgbClr val="0B1B33"/>
              </a:solidFill>
              <a:latin typeface="Calibri (MS)"/>
              <a:ea typeface="Calibri (MS)"/>
              <a:cs typeface="Calibri (MS)"/>
              <a:sym typeface="Calibri (MS)"/>
            </a:endParaRPr>
          </a:p>
        </p:txBody>
      </p:sp>
      <p:sp>
        <p:nvSpPr>
          <p:cNvPr id="27" name="TextBox 27"/>
          <p:cNvSpPr txBox="1"/>
          <p:nvPr/>
        </p:nvSpPr>
        <p:spPr>
          <a:xfrm>
            <a:off x="779951" y="2916993"/>
            <a:ext cx="9875520" cy="1147815"/>
          </a:xfrm>
          <a:prstGeom prst="rect">
            <a:avLst/>
          </a:prstGeom>
        </p:spPr>
        <p:txBody>
          <a:bodyPr lIns="0" tIns="0" rIns="0" bIns="0" rtlCol="0" anchor="t">
            <a:spAutoFit/>
          </a:bodyPr>
          <a:lstStyle/>
          <a:p>
            <a:pPr algn="l">
              <a:lnSpc>
                <a:spcPts val="9359"/>
              </a:lnSpc>
            </a:pPr>
            <a:r>
              <a:rPr lang="en-US" sz="7200" b="1">
                <a:solidFill>
                  <a:srgbClr val="0B1B33"/>
                </a:solidFill>
                <a:latin typeface="Calibri (MS) Bold"/>
                <a:ea typeface="Calibri (MS) Bold"/>
                <a:cs typeface="Calibri (MS) Bold"/>
                <a:sym typeface="Calibri (MS) Bold"/>
              </a:rPr>
              <a:t>SCOPE</a:t>
            </a:r>
            <a:endParaRPr lang="en-US" sz="7200" b="1">
              <a:solidFill>
                <a:srgbClr val="0B1B33"/>
              </a:solidFill>
              <a:latin typeface="Calibri (MS) Bold"/>
              <a:ea typeface="Calibri (MS) Bold"/>
              <a:cs typeface="Calibri (MS) Bold"/>
            </a:endParaRPr>
          </a:p>
        </p:txBody>
      </p:sp>
      <p:sp>
        <p:nvSpPr>
          <p:cNvPr id="28" name="TextBox 28"/>
          <p:cNvSpPr txBox="1"/>
          <p:nvPr/>
        </p:nvSpPr>
        <p:spPr>
          <a:xfrm>
            <a:off x="3506615" y="682973"/>
            <a:ext cx="10699310" cy="1464119"/>
          </a:xfrm>
          <a:prstGeom prst="rect">
            <a:avLst/>
          </a:prstGeom>
        </p:spPr>
        <p:txBody>
          <a:bodyPr wrap="square" lIns="0" tIns="0" rIns="0" bIns="0" rtlCol="0" anchor="t">
            <a:spAutoFit/>
          </a:bodyPr>
          <a:lstStyle/>
          <a:p>
            <a:pPr algn="l">
              <a:lnSpc>
                <a:spcPts val="5759"/>
              </a:lnSpc>
            </a:pPr>
            <a:r>
              <a:rPr lang="en-US" sz="4799">
                <a:solidFill>
                  <a:srgbClr val="0B1B33"/>
                </a:solidFill>
                <a:latin typeface="Calibri (MS)"/>
                <a:ea typeface="Calibri (MS)"/>
                <a:cs typeface="Calibri (MS)"/>
                <a:sym typeface="Calibri (MS)"/>
              </a:rPr>
              <a:t>BIRLA VISHVAKARMA MAHAVIDYALAYA</a:t>
            </a:r>
          </a:p>
          <a:p>
            <a:pPr algn="ctr">
              <a:lnSpc>
                <a:spcPts val="5759"/>
              </a:lnSpc>
            </a:pPr>
            <a:r>
              <a:rPr lang="en-US" sz="4799">
                <a:solidFill>
                  <a:srgbClr val="0B1B33"/>
                </a:solidFill>
                <a:latin typeface="Calibri (MS)"/>
                <a:ea typeface="Calibri (MS)"/>
                <a:cs typeface="Calibri (MS)"/>
                <a:sym typeface="Calibri (MS)"/>
              </a:rPr>
              <a:t>Engineering College</a:t>
            </a:r>
          </a:p>
        </p:txBody>
      </p:sp>
      <p:grpSp>
        <p:nvGrpSpPr>
          <p:cNvPr id="29" name="Group 29"/>
          <p:cNvGrpSpPr/>
          <p:nvPr/>
        </p:nvGrpSpPr>
        <p:grpSpPr>
          <a:xfrm>
            <a:off x="16579173" y="6445550"/>
            <a:ext cx="625631" cy="469223"/>
            <a:chOff x="0" y="0"/>
            <a:chExt cx="812800" cy="609600"/>
          </a:xfrm>
        </p:grpSpPr>
        <p:sp>
          <p:nvSpPr>
            <p:cNvPr id="30" name="Freeform 30"/>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1B33"/>
            </a:solidFill>
          </p:spPr>
        </p:sp>
        <p:sp>
          <p:nvSpPr>
            <p:cNvPr id="31" name="TextBox 31"/>
            <p:cNvSpPr txBox="1"/>
            <p:nvPr/>
          </p:nvSpPr>
          <p:spPr>
            <a:xfrm>
              <a:off x="101600" y="-47625"/>
              <a:ext cx="609600" cy="657225"/>
            </a:xfrm>
            <a:prstGeom prst="rect">
              <a:avLst/>
            </a:prstGeom>
          </p:spPr>
          <p:txBody>
            <a:bodyPr lIns="50800" tIns="50800" rIns="50800" bIns="50800" rtlCol="0" anchor="ctr"/>
            <a:lstStyle/>
            <a:p>
              <a:pPr algn="ctr">
                <a:lnSpc>
                  <a:spcPts val="2520"/>
                </a:lnSpc>
              </a:pPr>
              <a:endParaRPr/>
            </a:p>
          </p:txBody>
        </p:sp>
      </p:grpSp>
      <p:grpSp>
        <p:nvGrpSpPr>
          <p:cNvPr id="32" name="Group 32"/>
          <p:cNvGrpSpPr/>
          <p:nvPr/>
        </p:nvGrpSpPr>
        <p:grpSpPr>
          <a:xfrm>
            <a:off x="15089656" y="3468652"/>
            <a:ext cx="253953" cy="253953"/>
            <a:chOff x="0" y="0"/>
            <a:chExt cx="385305" cy="385305"/>
          </a:xfrm>
        </p:grpSpPr>
        <p:sp>
          <p:nvSpPr>
            <p:cNvPr id="33" name="Freeform 33"/>
            <p:cNvSpPr/>
            <p:nvPr/>
          </p:nvSpPr>
          <p:spPr>
            <a:xfrm>
              <a:off x="0" y="0"/>
              <a:ext cx="385318" cy="385318"/>
            </a:xfrm>
            <a:custGeom>
              <a:avLst/>
              <a:gdLst/>
              <a:ahLst/>
              <a:cxnLst/>
              <a:rect l="l" t="t" r="r" b="b"/>
              <a:pathLst>
                <a:path w="385318" h="385318">
                  <a:moveTo>
                    <a:pt x="0" y="192659"/>
                  </a:moveTo>
                  <a:cubicBezTo>
                    <a:pt x="0" y="86233"/>
                    <a:pt x="86233" y="0"/>
                    <a:pt x="192659" y="0"/>
                  </a:cubicBezTo>
                  <a:cubicBezTo>
                    <a:pt x="299085" y="0"/>
                    <a:pt x="385318" y="86233"/>
                    <a:pt x="385318" y="192659"/>
                  </a:cubicBezTo>
                  <a:cubicBezTo>
                    <a:pt x="385318" y="299085"/>
                    <a:pt x="299085" y="385318"/>
                    <a:pt x="192659" y="385318"/>
                  </a:cubicBezTo>
                  <a:cubicBezTo>
                    <a:pt x="86233" y="385318"/>
                    <a:pt x="0" y="299085"/>
                    <a:pt x="0" y="192659"/>
                  </a:cubicBezTo>
                  <a:close/>
                </a:path>
              </a:pathLst>
            </a:custGeom>
            <a:solidFill>
              <a:srgbClr val="F59E0B"/>
            </a:solidFill>
            <a:ln w="19050" cap="sq">
              <a:solidFill>
                <a:srgbClr val="F59E0B"/>
              </a:solidFill>
              <a:prstDash val="solid"/>
              <a:miter/>
            </a:ln>
          </p:spPr>
        </p:sp>
      </p:grpSp>
      <p:sp>
        <p:nvSpPr>
          <p:cNvPr id="35" name="Freeform 19">
            <a:extLst>
              <a:ext uri="{FF2B5EF4-FFF2-40B4-BE49-F238E27FC236}">
                <a16:creationId xmlns:a16="http://schemas.microsoft.com/office/drawing/2014/main" id="{184AE1A8-CEB5-A7AC-ECB5-A32BE45D4783}"/>
              </a:ext>
            </a:extLst>
          </p:cNvPr>
          <p:cNvSpPr/>
          <p:nvPr/>
        </p:nvSpPr>
        <p:spPr>
          <a:xfrm>
            <a:off x="11355347" y="5006577"/>
            <a:ext cx="288989" cy="288989"/>
          </a:xfrm>
          <a:custGeom>
            <a:avLst/>
            <a:gdLst/>
            <a:ahLst/>
            <a:cxnLst/>
            <a:rect l="l" t="t" r="r" b="b"/>
            <a:pathLst>
              <a:path w="385318" h="385318">
                <a:moveTo>
                  <a:pt x="0" y="192659"/>
                </a:moveTo>
                <a:cubicBezTo>
                  <a:pt x="0" y="86233"/>
                  <a:pt x="86233" y="0"/>
                  <a:pt x="192659" y="0"/>
                </a:cubicBezTo>
                <a:cubicBezTo>
                  <a:pt x="299085" y="0"/>
                  <a:pt x="385318" y="86233"/>
                  <a:pt x="385318" y="192659"/>
                </a:cubicBezTo>
                <a:cubicBezTo>
                  <a:pt x="385318" y="299085"/>
                  <a:pt x="299085" y="385318"/>
                  <a:pt x="192659" y="385318"/>
                </a:cubicBezTo>
                <a:cubicBezTo>
                  <a:pt x="86233" y="385318"/>
                  <a:pt x="0" y="299085"/>
                  <a:pt x="0" y="192659"/>
                </a:cubicBezTo>
                <a:close/>
              </a:path>
            </a:pathLst>
          </a:custGeom>
          <a:solidFill>
            <a:srgbClr val="F59E0B"/>
          </a:solidFill>
          <a:ln w="19050" cap="sq">
            <a:solidFill>
              <a:srgbClr val="F59E0B"/>
            </a:solidFill>
            <a:prstDash val="solid"/>
            <a:miter/>
          </a:ln>
        </p:spPr>
      </p:sp>
      <p:sp>
        <p:nvSpPr>
          <p:cNvPr id="37" name="Freeform 19">
            <a:extLst>
              <a:ext uri="{FF2B5EF4-FFF2-40B4-BE49-F238E27FC236}">
                <a16:creationId xmlns:a16="http://schemas.microsoft.com/office/drawing/2014/main" id="{CD2082C6-F71A-8419-1339-A8B64DC88364}"/>
              </a:ext>
            </a:extLst>
          </p:cNvPr>
          <p:cNvSpPr/>
          <p:nvPr/>
        </p:nvSpPr>
        <p:spPr>
          <a:xfrm>
            <a:off x="16753021" y="6536840"/>
            <a:ext cx="288989" cy="288989"/>
          </a:xfrm>
          <a:custGeom>
            <a:avLst/>
            <a:gdLst/>
            <a:ahLst/>
            <a:cxnLst/>
            <a:rect l="l" t="t" r="r" b="b"/>
            <a:pathLst>
              <a:path w="385318" h="385318">
                <a:moveTo>
                  <a:pt x="0" y="192659"/>
                </a:moveTo>
                <a:cubicBezTo>
                  <a:pt x="0" y="86233"/>
                  <a:pt x="86233" y="0"/>
                  <a:pt x="192659" y="0"/>
                </a:cubicBezTo>
                <a:cubicBezTo>
                  <a:pt x="299085" y="0"/>
                  <a:pt x="385318" y="86233"/>
                  <a:pt x="385318" y="192659"/>
                </a:cubicBezTo>
                <a:cubicBezTo>
                  <a:pt x="385318" y="299085"/>
                  <a:pt x="299085" y="385318"/>
                  <a:pt x="192659" y="385318"/>
                </a:cubicBezTo>
                <a:cubicBezTo>
                  <a:pt x="86233" y="385318"/>
                  <a:pt x="0" y="299085"/>
                  <a:pt x="0" y="192659"/>
                </a:cubicBezTo>
                <a:close/>
              </a:path>
            </a:pathLst>
          </a:custGeom>
          <a:solidFill>
            <a:srgbClr val="F59E0B"/>
          </a:solidFill>
          <a:ln w="19050" cap="sq">
            <a:solidFill>
              <a:srgbClr val="F59E0B"/>
            </a:solidFill>
            <a:prstDash val="solid"/>
            <a:miter/>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9601200"/>
            <a:ext cx="9601200" cy="411480"/>
            <a:chOff x="0" y="0"/>
            <a:chExt cx="12801600" cy="548640"/>
          </a:xfrm>
        </p:grpSpPr>
        <p:sp>
          <p:nvSpPr>
            <p:cNvPr id="3" name="Freeform 3"/>
            <p:cNvSpPr/>
            <p:nvPr/>
          </p:nvSpPr>
          <p:spPr>
            <a:xfrm>
              <a:off x="0" y="0"/>
              <a:ext cx="12801600" cy="548640"/>
            </a:xfrm>
            <a:custGeom>
              <a:avLst/>
              <a:gdLst/>
              <a:ahLst/>
              <a:cxnLst/>
              <a:rect l="l" t="t" r="r" b="b"/>
              <a:pathLst>
                <a:path w="12801600" h="548640">
                  <a:moveTo>
                    <a:pt x="0" y="0"/>
                  </a:moveTo>
                  <a:lnTo>
                    <a:pt x="12801600" y="0"/>
                  </a:lnTo>
                  <a:lnTo>
                    <a:pt x="12801600" y="548640"/>
                  </a:lnTo>
                  <a:lnTo>
                    <a:pt x="0" y="548640"/>
                  </a:lnTo>
                  <a:close/>
                </a:path>
              </a:pathLst>
            </a:custGeom>
            <a:blipFill>
              <a:blip r:embed="rId2">
                <a:alphaModFix amt="0"/>
              </a:blip>
              <a:stretch>
                <a:fillRect t="-404650" b="-404650"/>
              </a:stretch>
            </a:blipFill>
          </p:spPr>
        </p:sp>
        <p:sp>
          <p:nvSpPr>
            <p:cNvPr id="4" name="TextBox 4"/>
            <p:cNvSpPr txBox="1"/>
            <p:nvPr/>
          </p:nvSpPr>
          <p:spPr>
            <a:xfrm>
              <a:off x="0" y="-38100"/>
              <a:ext cx="12801600" cy="586740"/>
            </a:xfrm>
            <a:prstGeom prst="rect">
              <a:avLst/>
            </a:prstGeom>
          </p:spPr>
          <p:txBody>
            <a:bodyPr lIns="0" tIns="0" rIns="0" bIns="0" rtlCol="0" anchor="ctr"/>
            <a:lstStyle/>
            <a:p>
              <a:pPr algn="l">
                <a:lnSpc>
                  <a:spcPts val="1800"/>
                </a:lnSpc>
              </a:pPr>
              <a:r>
                <a:rPr lang="en-US" sz="1500">
                  <a:solidFill>
                    <a:srgbClr val="64748B"/>
                  </a:solidFill>
                  <a:latin typeface="Calibri (MS)"/>
                  <a:ea typeface="Calibri (MS)"/>
                  <a:cs typeface="Calibri (MS)"/>
                  <a:sym typeface="Calibri (MS)"/>
                </a:rPr>
                <a:t>SCOPE  |  204ES Object Oriented Programming</a:t>
              </a:r>
            </a:p>
          </p:txBody>
        </p:sp>
      </p:grpSp>
      <p:grpSp>
        <p:nvGrpSpPr>
          <p:cNvPr id="5" name="Group 5"/>
          <p:cNvGrpSpPr/>
          <p:nvPr/>
        </p:nvGrpSpPr>
        <p:grpSpPr>
          <a:xfrm>
            <a:off x="822960" y="197030"/>
            <a:ext cx="16596360" cy="1413817"/>
            <a:chOff x="0" y="-239169"/>
            <a:chExt cx="22128480" cy="1885089"/>
          </a:xfrm>
        </p:grpSpPr>
        <p:sp>
          <p:nvSpPr>
            <p:cNvPr id="6" name="Freeform 6"/>
            <p:cNvSpPr/>
            <p:nvPr/>
          </p:nvSpPr>
          <p:spPr>
            <a:xfrm>
              <a:off x="0" y="0"/>
              <a:ext cx="22128480" cy="1645920"/>
            </a:xfrm>
            <a:custGeom>
              <a:avLst/>
              <a:gdLst/>
              <a:ahLst/>
              <a:cxnLst/>
              <a:rect l="l" t="t" r="r" b="b"/>
              <a:pathLst>
                <a:path w="22128480" h="1645920">
                  <a:moveTo>
                    <a:pt x="0" y="0"/>
                  </a:moveTo>
                  <a:lnTo>
                    <a:pt x="22128480" y="0"/>
                  </a:lnTo>
                  <a:lnTo>
                    <a:pt x="22128480" y="1645920"/>
                  </a:lnTo>
                  <a:lnTo>
                    <a:pt x="0" y="1645920"/>
                  </a:lnTo>
                  <a:close/>
                </a:path>
              </a:pathLst>
            </a:custGeom>
            <a:blipFill>
              <a:blip r:embed="rId2">
                <a:alphaModFix amt="0"/>
              </a:blip>
              <a:stretch>
                <a:fillRect t="-211965" b="-211965"/>
              </a:stretch>
            </a:blipFill>
          </p:spPr>
        </p:sp>
        <p:sp>
          <p:nvSpPr>
            <p:cNvPr id="7" name="TextBox 7"/>
            <p:cNvSpPr txBox="1"/>
            <p:nvPr/>
          </p:nvSpPr>
          <p:spPr>
            <a:xfrm>
              <a:off x="0" y="-239169"/>
              <a:ext cx="22128480" cy="1655445"/>
            </a:xfrm>
            <a:prstGeom prst="rect">
              <a:avLst/>
            </a:prstGeom>
          </p:spPr>
          <p:txBody>
            <a:bodyPr lIns="0" tIns="0" rIns="0" bIns="0" rtlCol="0" anchor="ctr"/>
            <a:lstStyle/>
            <a:p>
              <a:pPr algn="l">
                <a:lnSpc>
                  <a:spcPts val="6120"/>
                </a:lnSpc>
              </a:pPr>
              <a:r>
                <a:rPr lang="en-US" sz="5100" b="1">
                  <a:solidFill>
                    <a:srgbClr val="0B1B33"/>
                  </a:solidFill>
                  <a:latin typeface="Cambria Bold"/>
                  <a:ea typeface="Cambria Bold"/>
                  <a:cs typeface="Cambria Bold"/>
                  <a:sym typeface="Cambria Bold"/>
                </a:rPr>
                <a:t>Introduction</a:t>
              </a:r>
            </a:p>
          </p:txBody>
        </p:sp>
      </p:grpSp>
      <p:sp>
        <p:nvSpPr>
          <p:cNvPr id="8" name="TextBox 8"/>
          <p:cNvSpPr txBox="1"/>
          <p:nvPr/>
        </p:nvSpPr>
        <p:spPr>
          <a:xfrm>
            <a:off x="816227" y="1451167"/>
            <a:ext cx="16493490" cy="7372350"/>
          </a:xfrm>
          <a:prstGeom prst="rect">
            <a:avLst/>
          </a:prstGeom>
        </p:spPr>
        <p:txBody>
          <a:bodyPr lIns="0" tIns="0" rIns="0" bIns="0" rtlCol="0" anchor="t">
            <a:spAutoFit/>
          </a:bodyPr>
          <a:lstStyle/>
          <a:p>
            <a:pPr marL="690879" lvl="1" indent="-345439" algn="l">
              <a:lnSpc>
                <a:spcPts val="3839"/>
              </a:lnSpc>
              <a:buFont typeface="Arial"/>
              <a:buChar char="•"/>
            </a:pPr>
            <a:r>
              <a:rPr lang="en-US" sz="3199">
                <a:solidFill>
                  <a:srgbClr val="0B1B33"/>
                </a:solidFill>
                <a:latin typeface="Calibri (MS)"/>
                <a:ea typeface="Calibri (MS)"/>
                <a:cs typeface="Calibri (MS)"/>
                <a:sym typeface="Calibri (MS)"/>
              </a:rPr>
              <a:t>Earth’s orbit contains numerous satellites(active and deactive), space debris and rocket bodies.</a:t>
            </a:r>
          </a:p>
          <a:p>
            <a:pPr algn="l">
              <a:lnSpc>
                <a:spcPts val="3839"/>
              </a:lnSpc>
            </a:pPr>
            <a:endParaRPr lang="en-US" sz="3199">
              <a:solidFill>
                <a:srgbClr val="0B1B33"/>
              </a:solidFill>
              <a:latin typeface="Calibri (MS)"/>
              <a:ea typeface="Calibri (MS)"/>
              <a:cs typeface="Calibri (MS)"/>
              <a:sym typeface="Calibri (MS)"/>
            </a:endParaRPr>
          </a:p>
          <a:p>
            <a:pPr marL="690879" lvl="1" indent="-345439" algn="l">
              <a:lnSpc>
                <a:spcPts val="3839"/>
              </a:lnSpc>
              <a:buFont typeface="Arial"/>
              <a:buChar char="•"/>
            </a:pPr>
            <a:r>
              <a:rPr lang="en-US" sz="3199">
                <a:solidFill>
                  <a:srgbClr val="0B1B33"/>
                </a:solidFill>
                <a:latin typeface="Calibri (MS)"/>
                <a:ea typeface="Calibri (MS)"/>
                <a:cs typeface="Calibri (MS)"/>
                <a:sym typeface="Calibri (MS)"/>
              </a:rPr>
              <a:t>Objects in low Earth orbit travel at about 7 to 8 km/s. A collision at this speed can destroy a satellite, even if the other object is only a small fragment.</a:t>
            </a:r>
          </a:p>
          <a:p>
            <a:pPr algn="l">
              <a:lnSpc>
                <a:spcPts val="3839"/>
              </a:lnSpc>
            </a:pPr>
            <a:endParaRPr lang="en-US" sz="3199">
              <a:solidFill>
                <a:srgbClr val="0B1B33"/>
              </a:solidFill>
              <a:latin typeface="Calibri (MS)"/>
              <a:ea typeface="Calibri (MS)"/>
              <a:cs typeface="Calibri (MS)"/>
              <a:sym typeface="Calibri (MS)"/>
            </a:endParaRPr>
          </a:p>
          <a:p>
            <a:pPr marL="690879" lvl="1" indent="-345439" algn="l">
              <a:lnSpc>
                <a:spcPts val="3839"/>
              </a:lnSpc>
              <a:buFont typeface="Arial"/>
              <a:buChar char="•"/>
            </a:pPr>
            <a:r>
              <a:rPr lang="en-US" sz="3199">
                <a:solidFill>
                  <a:srgbClr val="0B1B33"/>
                </a:solidFill>
                <a:latin typeface="Calibri (MS)"/>
                <a:ea typeface="Calibri (MS)"/>
                <a:cs typeface="Calibri (MS)"/>
                <a:sym typeface="Calibri (MS)"/>
              </a:rPr>
              <a:t>Increasing orbital congestion raises the risk of close approaches and potential collisions.</a:t>
            </a:r>
          </a:p>
          <a:p>
            <a:pPr algn="l">
              <a:lnSpc>
                <a:spcPts val="3839"/>
              </a:lnSpc>
            </a:pPr>
            <a:endParaRPr lang="en-US" sz="3199">
              <a:solidFill>
                <a:srgbClr val="0B1B33"/>
              </a:solidFill>
              <a:latin typeface="Calibri (MS)"/>
              <a:ea typeface="Calibri (MS)"/>
              <a:cs typeface="Calibri (MS)"/>
              <a:sym typeface="Calibri (MS)"/>
            </a:endParaRPr>
          </a:p>
          <a:p>
            <a:pPr marL="690879" lvl="1" indent="-345439" algn="l">
              <a:lnSpc>
                <a:spcPts val="3839"/>
              </a:lnSpc>
              <a:buFont typeface="Arial"/>
              <a:buChar char="•"/>
            </a:pPr>
            <a:r>
              <a:rPr lang="en-US" sz="3199">
                <a:solidFill>
                  <a:srgbClr val="0B1B33"/>
                </a:solidFill>
                <a:latin typeface="Calibri (MS)"/>
                <a:ea typeface="Calibri (MS)"/>
                <a:cs typeface="Calibri (MS)"/>
                <a:sym typeface="Calibri (MS)"/>
              </a:rPr>
              <a:t>Monitoring the positions and movements of orbital objects is essential for space safety.</a:t>
            </a:r>
          </a:p>
          <a:p>
            <a:pPr algn="l">
              <a:lnSpc>
                <a:spcPts val="3839"/>
              </a:lnSpc>
            </a:pPr>
            <a:endParaRPr lang="en-US" sz="3199">
              <a:solidFill>
                <a:srgbClr val="0B1B33"/>
              </a:solidFill>
              <a:latin typeface="Calibri (MS)"/>
              <a:ea typeface="Calibri (MS)"/>
              <a:cs typeface="Calibri (MS)"/>
              <a:sym typeface="Calibri (MS)"/>
            </a:endParaRPr>
          </a:p>
          <a:p>
            <a:pPr marL="690879" lvl="1" indent="-345439" algn="l">
              <a:lnSpc>
                <a:spcPts val="3839"/>
              </a:lnSpc>
              <a:buFont typeface="Arial"/>
              <a:buChar char="•"/>
            </a:pPr>
            <a:r>
              <a:rPr lang="en-US" sz="3199">
                <a:solidFill>
                  <a:srgbClr val="0B1B33"/>
                </a:solidFill>
                <a:latin typeface="Calibri (MS)"/>
                <a:ea typeface="Calibri (MS)"/>
                <a:cs typeface="Calibri (MS)"/>
                <a:sym typeface="Calibri (MS)"/>
              </a:rPr>
              <a:t>SCOPE (Space Collision &amp; Orbital Proximity Evaluation System) is a C++-based project that simulates orbital objects, detects close approaches, and evaluates potential collision risks.</a:t>
            </a:r>
          </a:p>
          <a:p>
            <a:pPr algn="l">
              <a:lnSpc>
                <a:spcPts val="3839"/>
              </a:lnSpc>
            </a:pPr>
            <a:endParaRPr lang="en-US" sz="3199">
              <a:solidFill>
                <a:srgbClr val="0B1B33"/>
              </a:solidFill>
              <a:latin typeface="Calibri (MS)"/>
              <a:ea typeface="Calibri (MS)"/>
              <a:cs typeface="Calibri (MS)"/>
              <a:sym typeface="Calibri (MS)"/>
            </a:endParaRPr>
          </a:p>
          <a:p>
            <a:pPr marL="690879" lvl="1" indent="-345439" algn="l">
              <a:lnSpc>
                <a:spcPts val="3839"/>
              </a:lnSpc>
              <a:buFont typeface="Arial"/>
              <a:buChar char="•"/>
            </a:pPr>
            <a:r>
              <a:rPr lang="en-US" sz="3199">
                <a:solidFill>
                  <a:srgbClr val="0B1B33"/>
                </a:solidFill>
                <a:latin typeface="Calibri (MS)"/>
                <a:ea typeface="Calibri (MS)"/>
                <a:cs typeface="Calibri (MS)"/>
                <a:sym typeface="Calibri (MS)"/>
              </a:rPr>
              <a:t>The project applies Object-Oriented Programming (OOP) concepts to a real-world space technology problem.</a:t>
            </a:r>
          </a:p>
          <a:p>
            <a:pPr algn="l">
              <a:lnSpc>
                <a:spcPts val="3959"/>
              </a:lnSpc>
            </a:pPr>
            <a:endParaRPr lang="en-US" sz="3199">
              <a:solidFill>
                <a:srgbClr val="0B1B33"/>
              </a:solidFill>
              <a:latin typeface="Calibri (MS)"/>
              <a:ea typeface="Calibri (MS)"/>
              <a:cs typeface="Calibri (MS)"/>
              <a:sym typeface="Calibri (MS)"/>
            </a:endParaRPr>
          </a:p>
        </p:txBody>
      </p:sp>
      <p:sp>
        <p:nvSpPr>
          <p:cNvPr id="9" name="TextBox 9"/>
          <p:cNvSpPr txBox="1"/>
          <p:nvPr/>
        </p:nvSpPr>
        <p:spPr>
          <a:xfrm>
            <a:off x="16824960" y="9608820"/>
            <a:ext cx="502920" cy="358140"/>
          </a:xfrm>
          <a:prstGeom prst="rect">
            <a:avLst/>
          </a:prstGeom>
        </p:spPr>
        <p:txBody>
          <a:bodyPr lIns="0" tIns="0" rIns="0" bIns="0" rtlCol="0" anchor="t">
            <a:spAutoFit/>
          </a:bodyPr>
          <a:lstStyle/>
          <a:p>
            <a:pPr algn="l">
              <a:lnSpc>
                <a:spcPts val="1800"/>
              </a:lnSpc>
            </a:pPr>
            <a:r>
              <a:rPr lang="en-US" sz="1500">
                <a:solidFill>
                  <a:srgbClr val="64748B"/>
                </a:solidFill>
                <a:latin typeface="Calibri (MS)"/>
                <a:ea typeface="Calibri (MS)"/>
                <a:cs typeface="Calibri (MS)"/>
                <a:sym typeface="Calibri (M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9601200"/>
            <a:ext cx="9601200" cy="411480"/>
            <a:chOff x="0" y="0"/>
            <a:chExt cx="12801600" cy="548640"/>
          </a:xfrm>
        </p:grpSpPr>
        <p:sp>
          <p:nvSpPr>
            <p:cNvPr id="3" name="Freeform 3"/>
            <p:cNvSpPr/>
            <p:nvPr/>
          </p:nvSpPr>
          <p:spPr>
            <a:xfrm>
              <a:off x="0" y="0"/>
              <a:ext cx="12801600" cy="548640"/>
            </a:xfrm>
            <a:custGeom>
              <a:avLst/>
              <a:gdLst/>
              <a:ahLst/>
              <a:cxnLst/>
              <a:rect l="l" t="t" r="r" b="b"/>
              <a:pathLst>
                <a:path w="12801600" h="548640">
                  <a:moveTo>
                    <a:pt x="0" y="0"/>
                  </a:moveTo>
                  <a:lnTo>
                    <a:pt x="12801600" y="0"/>
                  </a:lnTo>
                  <a:lnTo>
                    <a:pt x="12801600" y="548640"/>
                  </a:lnTo>
                  <a:lnTo>
                    <a:pt x="0" y="548640"/>
                  </a:lnTo>
                  <a:close/>
                </a:path>
              </a:pathLst>
            </a:custGeom>
            <a:blipFill>
              <a:blip r:embed="rId2">
                <a:alphaModFix amt="0"/>
              </a:blip>
              <a:stretch>
                <a:fillRect t="-404650" b="-404650"/>
              </a:stretch>
            </a:blipFill>
          </p:spPr>
        </p:sp>
        <p:sp>
          <p:nvSpPr>
            <p:cNvPr id="4" name="TextBox 4"/>
            <p:cNvSpPr txBox="1"/>
            <p:nvPr/>
          </p:nvSpPr>
          <p:spPr>
            <a:xfrm>
              <a:off x="0" y="-38100"/>
              <a:ext cx="12801600" cy="586740"/>
            </a:xfrm>
            <a:prstGeom prst="rect">
              <a:avLst/>
            </a:prstGeom>
          </p:spPr>
          <p:txBody>
            <a:bodyPr lIns="0" tIns="0" rIns="0" bIns="0" rtlCol="0" anchor="ctr"/>
            <a:lstStyle/>
            <a:p>
              <a:pPr algn="l">
                <a:lnSpc>
                  <a:spcPts val="1800"/>
                </a:lnSpc>
              </a:pPr>
              <a:r>
                <a:rPr lang="en-US" sz="1500">
                  <a:solidFill>
                    <a:srgbClr val="64748B"/>
                  </a:solidFill>
                  <a:latin typeface="Calibri (MS)"/>
                  <a:ea typeface="Calibri (MS)"/>
                  <a:cs typeface="Calibri (MS)"/>
                  <a:sym typeface="Calibri (MS)"/>
                </a:rPr>
                <a:t>SCOPE  |  204ES Object Oriented Programming</a:t>
              </a:r>
            </a:p>
          </p:txBody>
        </p:sp>
      </p:grpSp>
      <p:grpSp>
        <p:nvGrpSpPr>
          <p:cNvPr id="5" name="Group 5"/>
          <p:cNvGrpSpPr/>
          <p:nvPr/>
        </p:nvGrpSpPr>
        <p:grpSpPr>
          <a:xfrm>
            <a:off x="822960" y="548640"/>
            <a:ext cx="16596360" cy="1234440"/>
            <a:chOff x="0" y="0"/>
            <a:chExt cx="22128480" cy="1645920"/>
          </a:xfrm>
        </p:grpSpPr>
        <p:sp>
          <p:nvSpPr>
            <p:cNvPr id="6" name="Freeform 6"/>
            <p:cNvSpPr/>
            <p:nvPr/>
          </p:nvSpPr>
          <p:spPr>
            <a:xfrm>
              <a:off x="0" y="0"/>
              <a:ext cx="22128480" cy="1645920"/>
            </a:xfrm>
            <a:custGeom>
              <a:avLst/>
              <a:gdLst/>
              <a:ahLst/>
              <a:cxnLst/>
              <a:rect l="l" t="t" r="r" b="b"/>
              <a:pathLst>
                <a:path w="22128480" h="1645920">
                  <a:moveTo>
                    <a:pt x="0" y="0"/>
                  </a:moveTo>
                  <a:lnTo>
                    <a:pt x="22128480" y="0"/>
                  </a:lnTo>
                  <a:lnTo>
                    <a:pt x="22128480" y="1645920"/>
                  </a:lnTo>
                  <a:lnTo>
                    <a:pt x="0" y="1645920"/>
                  </a:lnTo>
                  <a:close/>
                </a:path>
              </a:pathLst>
            </a:custGeom>
            <a:blipFill>
              <a:blip r:embed="rId2">
                <a:alphaModFix amt="0"/>
              </a:blip>
              <a:stretch>
                <a:fillRect t="-211965" b="-211965"/>
              </a:stretch>
            </a:blipFill>
          </p:spPr>
        </p:sp>
        <p:sp>
          <p:nvSpPr>
            <p:cNvPr id="7" name="TextBox 7"/>
            <p:cNvSpPr txBox="1"/>
            <p:nvPr/>
          </p:nvSpPr>
          <p:spPr>
            <a:xfrm>
              <a:off x="0" y="-9525"/>
              <a:ext cx="22128480" cy="1655445"/>
            </a:xfrm>
            <a:prstGeom prst="rect">
              <a:avLst/>
            </a:prstGeom>
          </p:spPr>
          <p:txBody>
            <a:bodyPr lIns="0" tIns="0" rIns="0" bIns="0" rtlCol="0" anchor="ctr"/>
            <a:lstStyle/>
            <a:p>
              <a:pPr algn="l">
                <a:lnSpc>
                  <a:spcPts val="6120"/>
                </a:lnSpc>
              </a:pPr>
              <a:r>
                <a:rPr lang="en-US" sz="5100" b="1">
                  <a:solidFill>
                    <a:srgbClr val="0B1B33"/>
                  </a:solidFill>
                  <a:latin typeface="Cambria Bold"/>
                  <a:ea typeface="Cambria Bold"/>
                  <a:cs typeface="Cambria Bold"/>
                  <a:sym typeface="Cambria Bold"/>
                </a:rPr>
                <a:t>Problem Statement</a:t>
              </a:r>
            </a:p>
          </p:txBody>
        </p:sp>
      </p:grpSp>
      <p:grpSp>
        <p:nvGrpSpPr>
          <p:cNvPr id="8" name="Group 8"/>
          <p:cNvGrpSpPr/>
          <p:nvPr/>
        </p:nvGrpSpPr>
        <p:grpSpPr>
          <a:xfrm>
            <a:off x="813435" y="2185035"/>
            <a:ext cx="8522970" cy="5093970"/>
            <a:chOff x="0" y="0"/>
            <a:chExt cx="11363960" cy="6791960"/>
          </a:xfrm>
        </p:grpSpPr>
        <p:sp>
          <p:nvSpPr>
            <p:cNvPr id="9" name="Freeform 9"/>
            <p:cNvSpPr/>
            <p:nvPr/>
          </p:nvSpPr>
          <p:spPr>
            <a:xfrm>
              <a:off x="0" y="0"/>
              <a:ext cx="11363961" cy="6791961"/>
            </a:xfrm>
            <a:custGeom>
              <a:avLst/>
              <a:gdLst/>
              <a:ahLst/>
              <a:cxnLst/>
              <a:rect l="l" t="t" r="r" b="b"/>
              <a:pathLst>
                <a:path w="11363961" h="6791961">
                  <a:moveTo>
                    <a:pt x="0" y="220218"/>
                  </a:moveTo>
                  <a:cubicBezTo>
                    <a:pt x="0" y="98552"/>
                    <a:pt x="98552" y="0"/>
                    <a:pt x="220218" y="0"/>
                  </a:cubicBezTo>
                  <a:lnTo>
                    <a:pt x="11143742" y="0"/>
                  </a:lnTo>
                  <a:cubicBezTo>
                    <a:pt x="11265408" y="0"/>
                    <a:pt x="11363961" y="98552"/>
                    <a:pt x="11363961" y="220218"/>
                  </a:cubicBezTo>
                  <a:lnTo>
                    <a:pt x="11363961" y="6571742"/>
                  </a:lnTo>
                  <a:cubicBezTo>
                    <a:pt x="11363961" y="6693408"/>
                    <a:pt x="11265408" y="6791961"/>
                    <a:pt x="11143742" y="6791961"/>
                  </a:cubicBezTo>
                  <a:lnTo>
                    <a:pt x="220218" y="6791961"/>
                  </a:lnTo>
                  <a:cubicBezTo>
                    <a:pt x="98552" y="6791960"/>
                    <a:pt x="0" y="6693408"/>
                    <a:pt x="0" y="6571742"/>
                  </a:cubicBezTo>
                  <a:close/>
                </a:path>
              </a:pathLst>
            </a:custGeom>
            <a:solidFill>
              <a:srgbClr val="D2E4FF"/>
            </a:solidFill>
            <a:ln w="19050" cap="sq">
              <a:solidFill>
                <a:srgbClr val="0B1B33"/>
              </a:solidFill>
              <a:prstDash val="solid"/>
              <a:miter/>
            </a:ln>
          </p:spPr>
        </p:sp>
      </p:grpSp>
      <p:sp>
        <p:nvSpPr>
          <p:cNvPr id="10" name="TextBox 10"/>
          <p:cNvSpPr txBox="1"/>
          <p:nvPr/>
        </p:nvSpPr>
        <p:spPr>
          <a:xfrm>
            <a:off x="1303020" y="2686050"/>
            <a:ext cx="7543800" cy="466725"/>
          </a:xfrm>
          <a:prstGeom prst="rect">
            <a:avLst/>
          </a:prstGeom>
        </p:spPr>
        <p:txBody>
          <a:bodyPr lIns="0" tIns="0" rIns="0" bIns="0" rtlCol="0" anchor="t">
            <a:spAutoFit/>
          </a:bodyPr>
          <a:lstStyle/>
          <a:p>
            <a:pPr algn="l">
              <a:lnSpc>
                <a:spcPts val="3239"/>
              </a:lnSpc>
            </a:pPr>
            <a:r>
              <a:rPr lang="en-US" sz="2699" b="1">
                <a:solidFill>
                  <a:srgbClr val="1E3A5F"/>
                </a:solidFill>
                <a:latin typeface="Calibri (MS) Bold"/>
                <a:ea typeface="Calibri (MS) Bold"/>
                <a:cs typeface="Calibri (MS) Bold"/>
                <a:sym typeface="Calibri (MS) Bold"/>
              </a:rPr>
              <a:t>THE PROBLEM</a:t>
            </a:r>
          </a:p>
        </p:txBody>
      </p:sp>
      <p:sp>
        <p:nvSpPr>
          <p:cNvPr id="11" name="TextBox 11"/>
          <p:cNvSpPr txBox="1"/>
          <p:nvPr/>
        </p:nvSpPr>
        <p:spPr>
          <a:xfrm>
            <a:off x="1234440" y="3499485"/>
            <a:ext cx="7543800" cy="2809875"/>
          </a:xfrm>
          <a:prstGeom prst="rect">
            <a:avLst/>
          </a:prstGeom>
        </p:spPr>
        <p:txBody>
          <a:bodyPr lIns="0" tIns="0" rIns="0" bIns="0" rtlCol="0" anchor="t">
            <a:spAutoFit/>
          </a:bodyPr>
          <a:lstStyle/>
          <a:p>
            <a:pPr algn="l">
              <a:lnSpc>
                <a:spcPts val="3600"/>
              </a:lnSpc>
            </a:pPr>
            <a:r>
              <a:rPr lang="en-US" sz="3000">
                <a:solidFill>
                  <a:srgbClr val="0B1B33"/>
                </a:solidFill>
                <a:latin typeface="Calibri (MS)"/>
                <a:ea typeface="Calibri (MS)"/>
                <a:cs typeface="Calibri (MS)"/>
                <a:sym typeface="Calibri (MS)"/>
              </a:rPr>
              <a:t>The increasing number of satellites and space debris in Earth’s orbit raises the risk of close approaches and potential collisions. Continuous monitoring is essential to identify hazardous encounters, and early risk assessment can help protect valuable space assets.</a:t>
            </a:r>
          </a:p>
        </p:txBody>
      </p:sp>
      <p:grpSp>
        <p:nvGrpSpPr>
          <p:cNvPr id="12" name="Group 12"/>
          <p:cNvGrpSpPr/>
          <p:nvPr/>
        </p:nvGrpSpPr>
        <p:grpSpPr>
          <a:xfrm>
            <a:off x="10003155" y="2322195"/>
            <a:ext cx="1116330" cy="1116330"/>
            <a:chOff x="0" y="0"/>
            <a:chExt cx="1488440" cy="1488440"/>
          </a:xfrm>
        </p:grpSpPr>
        <p:sp>
          <p:nvSpPr>
            <p:cNvPr id="13" name="Freeform 13"/>
            <p:cNvSpPr/>
            <p:nvPr/>
          </p:nvSpPr>
          <p:spPr>
            <a:xfrm>
              <a:off x="0" y="0"/>
              <a:ext cx="1488440" cy="1488440"/>
            </a:xfrm>
            <a:custGeom>
              <a:avLst/>
              <a:gdLst/>
              <a:ahLst/>
              <a:cxnLst/>
              <a:rect l="l" t="t" r="r" b="b"/>
              <a:pathLst>
                <a:path w="1488440" h="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1E3A5F"/>
            </a:solidFill>
            <a:ln w="19050" cap="sq">
              <a:solidFill>
                <a:srgbClr val="1E3A5F"/>
              </a:solidFill>
              <a:prstDash val="solid"/>
              <a:miter/>
            </a:ln>
          </p:spPr>
        </p:sp>
      </p:grpSp>
      <p:grpSp>
        <p:nvGrpSpPr>
          <p:cNvPr id="14" name="Group 14"/>
          <p:cNvGrpSpPr/>
          <p:nvPr/>
        </p:nvGrpSpPr>
        <p:grpSpPr>
          <a:xfrm>
            <a:off x="10287000" y="2606040"/>
            <a:ext cx="548640" cy="548640"/>
            <a:chOff x="0" y="0"/>
            <a:chExt cx="731520" cy="731520"/>
          </a:xfrm>
        </p:grpSpPr>
        <p:sp>
          <p:nvSpPr>
            <p:cNvPr id="15" name="Freeform 15" descr="Crowded orbits"/>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3"/>
              <a:stretch>
                <a:fillRect/>
              </a:stretch>
            </a:blipFill>
          </p:spPr>
        </p:sp>
      </p:grpSp>
      <p:sp>
        <p:nvSpPr>
          <p:cNvPr id="16" name="TextBox 16"/>
          <p:cNvSpPr txBox="1"/>
          <p:nvPr/>
        </p:nvSpPr>
        <p:spPr>
          <a:xfrm>
            <a:off x="11452860" y="2137410"/>
            <a:ext cx="6035040" cy="605790"/>
          </a:xfrm>
          <a:prstGeom prst="rect">
            <a:avLst/>
          </a:prstGeom>
        </p:spPr>
        <p:txBody>
          <a:bodyPr lIns="0" tIns="0" rIns="0" bIns="0" rtlCol="0" anchor="t">
            <a:spAutoFit/>
          </a:bodyPr>
          <a:lstStyle/>
          <a:p>
            <a:pPr algn="l">
              <a:lnSpc>
                <a:spcPts val="3240"/>
              </a:lnSpc>
            </a:pPr>
            <a:r>
              <a:rPr lang="en-US" sz="2700" b="1">
                <a:solidFill>
                  <a:srgbClr val="0B1B33"/>
                </a:solidFill>
                <a:latin typeface="Calibri (MS) Bold"/>
                <a:ea typeface="Calibri (MS) Bold"/>
                <a:cs typeface="Calibri (MS) Bold"/>
                <a:sym typeface="Calibri (MS) Bold"/>
              </a:rPr>
              <a:t>Crowded orbits</a:t>
            </a:r>
          </a:p>
        </p:txBody>
      </p:sp>
      <p:sp>
        <p:nvSpPr>
          <p:cNvPr id="17" name="TextBox 17"/>
          <p:cNvSpPr txBox="1"/>
          <p:nvPr/>
        </p:nvSpPr>
        <p:spPr>
          <a:xfrm>
            <a:off x="11452860" y="2723007"/>
            <a:ext cx="6035040" cy="107632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Satellites, rocket stages and debris share the same space.</a:t>
            </a:r>
          </a:p>
        </p:txBody>
      </p:sp>
      <p:grpSp>
        <p:nvGrpSpPr>
          <p:cNvPr id="18" name="Group 18"/>
          <p:cNvGrpSpPr/>
          <p:nvPr/>
        </p:nvGrpSpPr>
        <p:grpSpPr>
          <a:xfrm>
            <a:off x="10003155" y="4105275"/>
            <a:ext cx="1116330" cy="1116330"/>
            <a:chOff x="0" y="0"/>
            <a:chExt cx="1488440" cy="1488440"/>
          </a:xfrm>
        </p:grpSpPr>
        <p:sp>
          <p:nvSpPr>
            <p:cNvPr id="19" name="Freeform 19"/>
            <p:cNvSpPr/>
            <p:nvPr/>
          </p:nvSpPr>
          <p:spPr>
            <a:xfrm>
              <a:off x="0" y="0"/>
              <a:ext cx="1488440" cy="1488440"/>
            </a:xfrm>
            <a:custGeom>
              <a:avLst/>
              <a:gdLst/>
              <a:ahLst/>
              <a:cxnLst/>
              <a:rect l="l" t="t" r="r" b="b"/>
              <a:pathLst>
                <a:path w="1488440" h="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1E3A5F"/>
            </a:solidFill>
            <a:ln w="19050" cap="sq">
              <a:solidFill>
                <a:srgbClr val="1E3A5F"/>
              </a:solidFill>
              <a:prstDash val="solid"/>
              <a:miter/>
            </a:ln>
          </p:spPr>
        </p:sp>
      </p:grpSp>
      <p:grpSp>
        <p:nvGrpSpPr>
          <p:cNvPr id="20" name="Group 20"/>
          <p:cNvGrpSpPr/>
          <p:nvPr/>
        </p:nvGrpSpPr>
        <p:grpSpPr>
          <a:xfrm>
            <a:off x="10287000" y="4389120"/>
            <a:ext cx="548640" cy="548640"/>
            <a:chOff x="0" y="0"/>
            <a:chExt cx="731520" cy="731520"/>
          </a:xfrm>
        </p:grpSpPr>
        <p:sp>
          <p:nvSpPr>
            <p:cNvPr id="21" name="Freeform 21" descr="Extreme speeds"/>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4"/>
              <a:stretch>
                <a:fillRect/>
              </a:stretch>
            </a:blipFill>
          </p:spPr>
        </p:sp>
      </p:grpSp>
      <p:sp>
        <p:nvSpPr>
          <p:cNvPr id="22" name="TextBox 22"/>
          <p:cNvSpPr txBox="1"/>
          <p:nvPr/>
        </p:nvSpPr>
        <p:spPr>
          <a:xfrm>
            <a:off x="11452860" y="3920490"/>
            <a:ext cx="6035040" cy="605790"/>
          </a:xfrm>
          <a:prstGeom prst="rect">
            <a:avLst/>
          </a:prstGeom>
        </p:spPr>
        <p:txBody>
          <a:bodyPr lIns="0" tIns="0" rIns="0" bIns="0" rtlCol="0" anchor="t">
            <a:spAutoFit/>
          </a:bodyPr>
          <a:lstStyle/>
          <a:p>
            <a:pPr algn="l">
              <a:lnSpc>
                <a:spcPts val="3240"/>
              </a:lnSpc>
            </a:pPr>
            <a:r>
              <a:rPr lang="en-US" sz="2700" b="1">
                <a:solidFill>
                  <a:srgbClr val="0B1B33"/>
                </a:solidFill>
                <a:latin typeface="Calibri (MS) Bold"/>
                <a:ea typeface="Calibri (MS) Bold"/>
                <a:cs typeface="Calibri (MS) Bold"/>
                <a:sym typeface="Calibri (MS) Bold"/>
              </a:rPr>
              <a:t>Extreme speeds</a:t>
            </a:r>
          </a:p>
        </p:txBody>
      </p:sp>
      <p:sp>
        <p:nvSpPr>
          <p:cNvPr id="23" name="TextBox 23"/>
          <p:cNvSpPr txBox="1"/>
          <p:nvPr/>
        </p:nvSpPr>
        <p:spPr>
          <a:xfrm>
            <a:off x="11452860" y="4506087"/>
            <a:ext cx="6035040" cy="107632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Objects move at about 7 to 8 km/s, so even small fragments are dangerous.</a:t>
            </a:r>
          </a:p>
        </p:txBody>
      </p:sp>
      <p:grpSp>
        <p:nvGrpSpPr>
          <p:cNvPr id="24" name="Group 24"/>
          <p:cNvGrpSpPr/>
          <p:nvPr/>
        </p:nvGrpSpPr>
        <p:grpSpPr>
          <a:xfrm>
            <a:off x="10003155" y="5888355"/>
            <a:ext cx="1116330" cy="1116330"/>
            <a:chOff x="0" y="0"/>
            <a:chExt cx="1488440" cy="1488440"/>
          </a:xfrm>
        </p:grpSpPr>
        <p:sp>
          <p:nvSpPr>
            <p:cNvPr id="25" name="Freeform 25"/>
            <p:cNvSpPr/>
            <p:nvPr/>
          </p:nvSpPr>
          <p:spPr>
            <a:xfrm>
              <a:off x="0" y="0"/>
              <a:ext cx="1488440" cy="1488440"/>
            </a:xfrm>
            <a:custGeom>
              <a:avLst/>
              <a:gdLst/>
              <a:ahLst/>
              <a:cxnLst/>
              <a:rect l="l" t="t" r="r" b="b"/>
              <a:pathLst>
                <a:path w="1488440" h="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1E3A5F"/>
            </a:solidFill>
            <a:ln w="19050" cap="sq">
              <a:solidFill>
                <a:srgbClr val="1E3A5F"/>
              </a:solidFill>
              <a:prstDash val="solid"/>
              <a:miter/>
            </a:ln>
          </p:spPr>
        </p:sp>
      </p:grpSp>
      <p:grpSp>
        <p:nvGrpSpPr>
          <p:cNvPr id="26" name="Group 26"/>
          <p:cNvGrpSpPr/>
          <p:nvPr/>
        </p:nvGrpSpPr>
        <p:grpSpPr>
          <a:xfrm>
            <a:off x="10287000" y="6172200"/>
            <a:ext cx="548640" cy="548640"/>
            <a:chOff x="0" y="0"/>
            <a:chExt cx="731520" cy="731520"/>
          </a:xfrm>
        </p:grpSpPr>
        <p:sp>
          <p:nvSpPr>
            <p:cNvPr id="27" name="Freeform 27" descr="Early warning needed"/>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5"/>
              <a:stretch>
                <a:fillRect/>
              </a:stretch>
            </a:blipFill>
          </p:spPr>
        </p:sp>
      </p:grpSp>
      <p:sp>
        <p:nvSpPr>
          <p:cNvPr id="28" name="TextBox 28"/>
          <p:cNvSpPr txBox="1"/>
          <p:nvPr/>
        </p:nvSpPr>
        <p:spPr>
          <a:xfrm>
            <a:off x="11452860" y="5703570"/>
            <a:ext cx="6035040" cy="605790"/>
          </a:xfrm>
          <a:prstGeom prst="rect">
            <a:avLst/>
          </a:prstGeom>
        </p:spPr>
        <p:txBody>
          <a:bodyPr lIns="0" tIns="0" rIns="0" bIns="0" rtlCol="0" anchor="t">
            <a:spAutoFit/>
          </a:bodyPr>
          <a:lstStyle/>
          <a:p>
            <a:pPr algn="l">
              <a:lnSpc>
                <a:spcPts val="3240"/>
              </a:lnSpc>
            </a:pPr>
            <a:r>
              <a:rPr lang="en-US" sz="2700" b="1">
                <a:solidFill>
                  <a:srgbClr val="0B1B33"/>
                </a:solidFill>
                <a:latin typeface="Calibri (MS) Bold"/>
                <a:ea typeface="Calibri (MS) Bold"/>
                <a:cs typeface="Calibri (MS) Bold"/>
                <a:sym typeface="Calibri (MS) Bold"/>
              </a:rPr>
              <a:t>Early warning needed</a:t>
            </a:r>
          </a:p>
        </p:txBody>
      </p:sp>
      <p:sp>
        <p:nvSpPr>
          <p:cNvPr id="29" name="TextBox 29"/>
          <p:cNvSpPr txBox="1"/>
          <p:nvPr/>
        </p:nvSpPr>
        <p:spPr>
          <a:xfrm>
            <a:off x="11452860" y="6289167"/>
            <a:ext cx="6035040" cy="107632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Spotting close approaches early gives time to respond.</a:t>
            </a:r>
          </a:p>
        </p:txBody>
      </p:sp>
      <p:grpSp>
        <p:nvGrpSpPr>
          <p:cNvPr id="30" name="Group 30"/>
          <p:cNvGrpSpPr/>
          <p:nvPr/>
        </p:nvGrpSpPr>
        <p:grpSpPr>
          <a:xfrm>
            <a:off x="813435" y="7740015"/>
            <a:ext cx="16615410" cy="1322070"/>
            <a:chOff x="0" y="0"/>
            <a:chExt cx="22153880" cy="1762760"/>
          </a:xfrm>
        </p:grpSpPr>
        <p:sp>
          <p:nvSpPr>
            <p:cNvPr id="31" name="Freeform 31"/>
            <p:cNvSpPr/>
            <p:nvPr/>
          </p:nvSpPr>
          <p:spPr>
            <a:xfrm>
              <a:off x="0" y="0"/>
              <a:ext cx="22153880" cy="1762760"/>
            </a:xfrm>
            <a:custGeom>
              <a:avLst/>
              <a:gdLst/>
              <a:ahLst/>
              <a:cxnLst/>
              <a:rect l="l" t="t" r="r" b="b"/>
              <a:pathLst>
                <a:path w="22153880" h="1762760">
                  <a:moveTo>
                    <a:pt x="0" y="222631"/>
                  </a:moveTo>
                  <a:cubicBezTo>
                    <a:pt x="0" y="99695"/>
                    <a:pt x="99695" y="0"/>
                    <a:pt x="222631" y="0"/>
                  </a:cubicBezTo>
                  <a:lnTo>
                    <a:pt x="21931249" y="0"/>
                  </a:lnTo>
                  <a:cubicBezTo>
                    <a:pt x="22054186" y="0"/>
                    <a:pt x="22153880" y="99695"/>
                    <a:pt x="22153880" y="222631"/>
                  </a:cubicBezTo>
                  <a:lnTo>
                    <a:pt x="22153880" y="1540129"/>
                  </a:lnTo>
                  <a:cubicBezTo>
                    <a:pt x="22153880" y="1663065"/>
                    <a:pt x="22054186" y="1762760"/>
                    <a:pt x="21931249" y="1762760"/>
                  </a:cubicBezTo>
                  <a:lnTo>
                    <a:pt x="222631" y="1762760"/>
                  </a:lnTo>
                  <a:cubicBezTo>
                    <a:pt x="99695" y="1762760"/>
                    <a:pt x="0" y="1663065"/>
                    <a:pt x="0" y="1540129"/>
                  </a:cubicBezTo>
                  <a:close/>
                </a:path>
              </a:pathLst>
            </a:custGeom>
            <a:solidFill>
              <a:srgbClr val="EEF3F9"/>
            </a:solidFill>
            <a:ln w="19050" cap="sq">
              <a:solidFill>
                <a:srgbClr val="EEF3F9"/>
              </a:solidFill>
              <a:prstDash val="solid"/>
              <a:miter/>
            </a:ln>
          </p:spPr>
        </p:sp>
      </p:grpSp>
      <p:grpSp>
        <p:nvGrpSpPr>
          <p:cNvPr id="32" name="Group 32"/>
          <p:cNvGrpSpPr/>
          <p:nvPr/>
        </p:nvGrpSpPr>
        <p:grpSpPr>
          <a:xfrm>
            <a:off x="1234440" y="7749540"/>
            <a:ext cx="15773400" cy="1303020"/>
            <a:chOff x="0" y="0"/>
            <a:chExt cx="21031200" cy="1737360"/>
          </a:xfrm>
        </p:grpSpPr>
        <p:sp>
          <p:nvSpPr>
            <p:cNvPr id="33" name="Freeform 33"/>
            <p:cNvSpPr/>
            <p:nvPr/>
          </p:nvSpPr>
          <p:spPr>
            <a:xfrm>
              <a:off x="0" y="0"/>
              <a:ext cx="21031200" cy="1737360"/>
            </a:xfrm>
            <a:custGeom>
              <a:avLst/>
              <a:gdLst/>
              <a:ahLst/>
              <a:cxnLst/>
              <a:rect l="l" t="t" r="r" b="b"/>
              <a:pathLst>
                <a:path w="21031200" h="1737360">
                  <a:moveTo>
                    <a:pt x="0" y="0"/>
                  </a:moveTo>
                  <a:lnTo>
                    <a:pt x="21031200" y="0"/>
                  </a:lnTo>
                  <a:lnTo>
                    <a:pt x="21031200" y="1737360"/>
                  </a:lnTo>
                  <a:lnTo>
                    <a:pt x="0" y="1737360"/>
                  </a:lnTo>
                  <a:close/>
                </a:path>
              </a:pathLst>
            </a:custGeom>
            <a:blipFill>
              <a:blip r:embed="rId2">
                <a:alphaModFix amt="0"/>
              </a:blip>
              <a:stretch>
                <a:fillRect t="-185871" b="-185871"/>
              </a:stretch>
            </a:blipFill>
          </p:spPr>
        </p:sp>
        <p:sp>
          <p:nvSpPr>
            <p:cNvPr id="34" name="TextBox 34"/>
            <p:cNvSpPr txBox="1"/>
            <p:nvPr/>
          </p:nvSpPr>
          <p:spPr>
            <a:xfrm>
              <a:off x="0" y="-38100"/>
              <a:ext cx="21031200" cy="1775460"/>
            </a:xfrm>
            <a:prstGeom prst="rect">
              <a:avLst/>
            </a:prstGeom>
          </p:spPr>
          <p:txBody>
            <a:bodyPr lIns="0" tIns="0" rIns="0" bIns="0" rtlCol="0" anchor="ctr"/>
            <a:lstStyle/>
            <a:p>
              <a:pPr algn="l">
                <a:lnSpc>
                  <a:spcPts val="2879"/>
                </a:lnSpc>
              </a:pPr>
              <a:r>
                <a:rPr lang="en-US" sz="2400" b="1">
                  <a:solidFill>
                    <a:srgbClr val="0B1B33"/>
                  </a:solidFill>
                  <a:latin typeface="Calibri (MS) Bold"/>
                  <a:ea typeface="Calibri (MS) Bold"/>
                  <a:cs typeface="Calibri (MS) Bold"/>
                  <a:sym typeface="Calibri (MS) Bold"/>
                </a:rPr>
                <a:t>Our approach:  </a:t>
              </a:r>
              <a:r>
                <a:rPr lang="en-US" sz="2400">
                  <a:solidFill>
                    <a:srgbClr val="0B1B33"/>
                  </a:solidFill>
                  <a:latin typeface="Calibri (MS)"/>
                  <a:ea typeface="Calibri (MS)"/>
                  <a:cs typeface="Calibri (MS)"/>
                  <a:sym typeface="Calibri (MS)"/>
                </a:rPr>
                <a:t>Model every orbiting object as a class, simulate their motion, measure separation, and classify the risk.</a:t>
              </a:r>
            </a:p>
          </p:txBody>
        </p:sp>
      </p:grpSp>
      <p:sp>
        <p:nvSpPr>
          <p:cNvPr id="35" name="TextBox 35"/>
          <p:cNvSpPr txBox="1"/>
          <p:nvPr/>
        </p:nvSpPr>
        <p:spPr>
          <a:xfrm>
            <a:off x="16824960" y="9608820"/>
            <a:ext cx="502920" cy="358140"/>
          </a:xfrm>
          <a:prstGeom prst="rect">
            <a:avLst/>
          </a:prstGeom>
        </p:spPr>
        <p:txBody>
          <a:bodyPr lIns="0" tIns="0" rIns="0" bIns="0" rtlCol="0" anchor="t">
            <a:spAutoFit/>
          </a:bodyPr>
          <a:lstStyle/>
          <a:p>
            <a:pPr algn="l">
              <a:lnSpc>
                <a:spcPts val="1800"/>
              </a:lnSpc>
            </a:pPr>
            <a:r>
              <a:rPr lang="en-US" sz="1500">
                <a:solidFill>
                  <a:srgbClr val="64748B"/>
                </a:solidFill>
                <a:latin typeface="Calibri (MS)"/>
                <a:ea typeface="Calibri (MS)"/>
                <a:cs typeface="Calibri (MS)"/>
                <a:sym typeface="Calibri (M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9601200"/>
            <a:ext cx="9601200" cy="411480"/>
            <a:chOff x="0" y="0"/>
            <a:chExt cx="12801600" cy="548640"/>
          </a:xfrm>
        </p:grpSpPr>
        <p:sp>
          <p:nvSpPr>
            <p:cNvPr id="3" name="Freeform 3"/>
            <p:cNvSpPr/>
            <p:nvPr/>
          </p:nvSpPr>
          <p:spPr>
            <a:xfrm>
              <a:off x="0" y="0"/>
              <a:ext cx="12801600" cy="548640"/>
            </a:xfrm>
            <a:custGeom>
              <a:avLst/>
              <a:gdLst/>
              <a:ahLst/>
              <a:cxnLst/>
              <a:rect l="l" t="t" r="r" b="b"/>
              <a:pathLst>
                <a:path w="12801600" h="548640">
                  <a:moveTo>
                    <a:pt x="0" y="0"/>
                  </a:moveTo>
                  <a:lnTo>
                    <a:pt x="12801600" y="0"/>
                  </a:lnTo>
                  <a:lnTo>
                    <a:pt x="12801600" y="548640"/>
                  </a:lnTo>
                  <a:lnTo>
                    <a:pt x="0" y="548640"/>
                  </a:lnTo>
                  <a:close/>
                </a:path>
              </a:pathLst>
            </a:custGeom>
            <a:blipFill>
              <a:blip r:embed="rId2">
                <a:alphaModFix amt="0"/>
              </a:blip>
              <a:stretch>
                <a:fillRect t="-404650" b="-404650"/>
              </a:stretch>
            </a:blipFill>
          </p:spPr>
        </p:sp>
        <p:sp>
          <p:nvSpPr>
            <p:cNvPr id="4" name="TextBox 4"/>
            <p:cNvSpPr txBox="1"/>
            <p:nvPr/>
          </p:nvSpPr>
          <p:spPr>
            <a:xfrm>
              <a:off x="0" y="-38100"/>
              <a:ext cx="12801600" cy="586740"/>
            </a:xfrm>
            <a:prstGeom prst="rect">
              <a:avLst/>
            </a:prstGeom>
          </p:spPr>
          <p:txBody>
            <a:bodyPr lIns="0" tIns="0" rIns="0" bIns="0" rtlCol="0" anchor="ctr"/>
            <a:lstStyle/>
            <a:p>
              <a:pPr algn="l">
                <a:lnSpc>
                  <a:spcPts val="1800"/>
                </a:lnSpc>
              </a:pPr>
              <a:r>
                <a:rPr lang="en-US" sz="1500">
                  <a:solidFill>
                    <a:srgbClr val="64748B"/>
                  </a:solidFill>
                  <a:latin typeface="Calibri (MS)"/>
                  <a:ea typeface="Calibri (MS)"/>
                  <a:cs typeface="Calibri (MS)"/>
                  <a:sym typeface="Calibri (MS)"/>
                </a:rPr>
                <a:t>SCOPE  |  204ES Object Oriented Programming</a:t>
              </a:r>
            </a:p>
          </p:txBody>
        </p:sp>
      </p:grpSp>
      <p:grpSp>
        <p:nvGrpSpPr>
          <p:cNvPr id="5" name="Group 5"/>
          <p:cNvGrpSpPr/>
          <p:nvPr/>
        </p:nvGrpSpPr>
        <p:grpSpPr>
          <a:xfrm>
            <a:off x="822960" y="548640"/>
            <a:ext cx="16596360" cy="1234440"/>
            <a:chOff x="0" y="0"/>
            <a:chExt cx="22128480" cy="1645920"/>
          </a:xfrm>
        </p:grpSpPr>
        <p:sp>
          <p:nvSpPr>
            <p:cNvPr id="6" name="Freeform 6"/>
            <p:cNvSpPr/>
            <p:nvPr/>
          </p:nvSpPr>
          <p:spPr>
            <a:xfrm>
              <a:off x="0" y="0"/>
              <a:ext cx="22128480" cy="1645920"/>
            </a:xfrm>
            <a:custGeom>
              <a:avLst/>
              <a:gdLst/>
              <a:ahLst/>
              <a:cxnLst/>
              <a:rect l="l" t="t" r="r" b="b"/>
              <a:pathLst>
                <a:path w="22128480" h="1645920">
                  <a:moveTo>
                    <a:pt x="0" y="0"/>
                  </a:moveTo>
                  <a:lnTo>
                    <a:pt x="22128480" y="0"/>
                  </a:lnTo>
                  <a:lnTo>
                    <a:pt x="22128480" y="1645920"/>
                  </a:lnTo>
                  <a:lnTo>
                    <a:pt x="0" y="1645920"/>
                  </a:lnTo>
                  <a:close/>
                </a:path>
              </a:pathLst>
            </a:custGeom>
            <a:blipFill>
              <a:blip r:embed="rId2">
                <a:alphaModFix amt="0"/>
              </a:blip>
              <a:stretch>
                <a:fillRect t="-211965" b="-211965"/>
              </a:stretch>
            </a:blipFill>
          </p:spPr>
        </p:sp>
        <p:sp>
          <p:nvSpPr>
            <p:cNvPr id="7" name="TextBox 7"/>
            <p:cNvSpPr txBox="1"/>
            <p:nvPr/>
          </p:nvSpPr>
          <p:spPr>
            <a:xfrm>
              <a:off x="0" y="-9525"/>
              <a:ext cx="22128480" cy="1655445"/>
            </a:xfrm>
            <a:prstGeom prst="rect">
              <a:avLst/>
            </a:prstGeom>
          </p:spPr>
          <p:txBody>
            <a:bodyPr lIns="0" tIns="0" rIns="0" bIns="0" rtlCol="0" anchor="ctr"/>
            <a:lstStyle/>
            <a:p>
              <a:pPr algn="l">
                <a:lnSpc>
                  <a:spcPts val="6120"/>
                </a:lnSpc>
              </a:pPr>
              <a:r>
                <a:rPr lang="en-US" sz="5100" b="1">
                  <a:solidFill>
                    <a:srgbClr val="0B1B33"/>
                  </a:solidFill>
                  <a:latin typeface="Cambria Bold"/>
                  <a:ea typeface="Cambria Bold"/>
                  <a:cs typeface="Cambria Bold"/>
                  <a:sym typeface="Cambria Bold"/>
                </a:rPr>
                <a:t>Objectives</a:t>
              </a:r>
            </a:p>
          </p:txBody>
        </p:sp>
      </p:grpSp>
      <p:grpSp>
        <p:nvGrpSpPr>
          <p:cNvPr id="8" name="Group 8"/>
          <p:cNvGrpSpPr/>
          <p:nvPr/>
        </p:nvGrpSpPr>
        <p:grpSpPr>
          <a:xfrm>
            <a:off x="813435" y="2185035"/>
            <a:ext cx="5368290" cy="3310890"/>
            <a:chOff x="0" y="0"/>
            <a:chExt cx="7157720" cy="4414520"/>
          </a:xfrm>
        </p:grpSpPr>
        <p:sp>
          <p:nvSpPr>
            <p:cNvPr id="9" name="Freeform 9"/>
            <p:cNvSpPr/>
            <p:nvPr/>
          </p:nvSpPr>
          <p:spPr>
            <a:xfrm>
              <a:off x="0" y="0"/>
              <a:ext cx="7157720" cy="4414520"/>
            </a:xfrm>
            <a:custGeom>
              <a:avLst/>
              <a:gdLst/>
              <a:ahLst/>
              <a:cxnLst/>
              <a:rect l="l" t="t" r="r" b="b"/>
              <a:pathLst>
                <a:path w="7157720" h="4414520">
                  <a:moveTo>
                    <a:pt x="0" y="220726"/>
                  </a:moveTo>
                  <a:cubicBezTo>
                    <a:pt x="0" y="98806"/>
                    <a:pt x="98806" y="0"/>
                    <a:pt x="220726" y="0"/>
                  </a:cubicBezTo>
                  <a:lnTo>
                    <a:pt x="6936994" y="0"/>
                  </a:lnTo>
                  <a:cubicBezTo>
                    <a:pt x="7058913" y="0"/>
                    <a:pt x="7157720" y="98806"/>
                    <a:pt x="7157720" y="220726"/>
                  </a:cubicBezTo>
                  <a:lnTo>
                    <a:pt x="7157720" y="4193794"/>
                  </a:lnTo>
                  <a:cubicBezTo>
                    <a:pt x="7157720" y="4315714"/>
                    <a:pt x="7058913" y="4414520"/>
                    <a:pt x="6936994" y="4414520"/>
                  </a:cubicBezTo>
                  <a:lnTo>
                    <a:pt x="220726" y="4414520"/>
                  </a:lnTo>
                  <a:cubicBezTo>
                    <a:pt x="98806" y="4414520"/>
                    <a:pt x="0" y="4315714"/>
                    <a:pt x="0" y="4193794"/>
                  </a:cubicBezTo>
                  <a:close/>
                </a:path>
              </a:pathLst>
            </a:custGeom>
            <a:solidFill>
              <a:srgbClr val="EEF3F9"/>
            </a:solidFill>
            <a:ln w="19050" cap="sq">
              <a:solidFill>
                <a:srgbClr val="EEF3F9"/>
              </a:solidFill>
              <a:prstDash val="solid"/>
              <a:miter/>
            </a:ln>
          </p:spPr>
        </p:sp>
      </p:grpSp>
      <p:grpSp>
        <p:nvGrpSpPr>
          <p:cNvPr id="10" name="Group 10"/>
          <p:cNvGrpSpPr/>
          <p:nvPr/>
        </p:nvGrpSpPr>
        <p:grpSpPr>
          <a:xfrm>
            <a:off x="1156335" y="2527935"/>
            <a:ext cx="842010" cy="842010"/>
            <a:chOff x="0" y="0"/>
            <a:chExt cx="1122680" cy="1122680"/>
          </a:xfrm>
        </p:grpSpPr>
        <p:sp>
          <p:nvSpPr>
            <p:cNvPr id="11" name="Freeform 11"/>
            <p:cNvSpPr/>
            <p:nvPr/>
          </p:nvSpPr>
          <p:spPr>
            <a:xfrm>
              <a:off x="0" y="0"/>
              <a:ext cx="1122680" cy="1122680"/>
            </a:xfrm>
            <a:custGeom>
              <a:avLst/>
              <a:gdLst/>
              <a:ahLst/>
              <a:cxnLst/>
              <a:rect l="l" t="t" r="r" b="b"/>
              <a:pathLst>
                <a:path w="1122680" h="1122680">
                  <a:moveTo>
                    <a:pt x="0" y="561340"/>
                  </a:moveTo>
                  <a:cubicBezTo>
                    <a:pt x="0" y="251333"/>
                    <a:pt x="251333" y="0"/>
                    <a:pt x="561340" y="0"/>
                  </a:cubicBezTo>
                  <a:cubicBezTo>
                    <a:pt x="871347" y="0"/>
                    <a:pt x="1122680" y="251333"/>
                    <a:pt x="1122680" y="561340"/>
                  </a:cubicBezTo>
                  <a:cubicBezTo>
                    <a:pt x="1122680" y="871347"/>
                    <a:pt x="871347" y="1122680"/>
                    <a:pt x="561340" y="1122680"/>
                  </a:cubicBezTo>
                  <a:cubicBezTo>
                    <a:pt x="251333" y="1122680"/>
                    <a:pt x="0" y="871347"/>
                    <a:pt x="0" y="561340"/>
                  </a:cubicBezTo>
                  <a:close/>
                </a:path>
              </a:pathLst>
            </a:custGeom>
            <a:solidFill>
              <a:srgbClr val="1E3A5F"/>
            </a:solidFill>
            <a:ln w="19050" cap="sq">
              <a:solidFill>
                <a:srgbClr val="1E3A5F"/>
              </a:solidFill>
              <a:prstDash val="solid"/>
              <a:miter/>
            </a:ln>
          </p:spPr>
        </p:sp>
      </p:grpSp>
      <p:grpSp>
        <p:nvGrpSpPr>
          <p:cNvPr id="12" name="Group 12"/>
          <p:cNvGrpSpPr/>
          <p:nvPr/>
        </p:nvGrpSpPr>
        <p:grpSpPr>
          <a:xfrm>
            <a:off x="1165860" y="2537460"/>
            <a:ext cx="822960" cy="822960"/>
            <a:chOff x="0" y="0"/>
            <a:chExt cx="1097280" cy="1097280"/>
          </a:xfrm>
        </p:grpSpPr>
        <p:sp>
          <p:nvSpPr>
            <p:cNvPr id="13" name="Freeform 13"/>
            <p:cNvSpPr/>
            <p:nvPr/>
          </p:nvSpPr>
          <p:spPr>
            <a:xfrm>
              <a:off x="0" y="0"/>
              <a:ext cx="1097280" cy="1097280"/>
            </a:xfrm>
            <a:custGeom>
              <a:avLst/>
              <a:gdLst/>
              <a:ahLst/>
              <a:cxnLst/>
              <a:rect l="l" t="t" r="r" b="b"/>
              <a:pathLst>
                <a:path w="1097280" h="1097280">
                  <a:moveTo>
                    <a:pt x="0" y="0"/>
                  </a:moveTo>
                  <a:lnTo>
                    <a:pt x="1097280" y="0"/>
                  </a:lnTo>
                  <a:lnTo>
                    <a:pt x="1097280" y="1097280"/>
                  </a:lnTo>
                  <a:lnTo>
                    <a:pt x="0" y="1097280"/>
                  </a:lnTo>
                  <a:close/>
                </a:path>
              </a:pathLst>
            </a:custGeom>
            <a:blipFill>
              <a:blip r:embed="rId2">
                <a:alphaModFix amt="0"/>
              </a:blip>
              <a:stretch>
                <a:fillRect l="-78303" r="-78303"/>
              </a:stretch>
            </a:blipFill>
          </p:spPr>
        </p:sp>
        <p:sp>
          <p:nvSpPr>
            <p:cNvPr id="14" name="TextBox 14"/>
            <p:cNvSpPr txBox="1"/>
            <p:nvPr/>
          </p:nvSpPr>
          <p:spPr>
            <a:xfrm>
              <a:off x="0" y="-57150"/>
              <a:ext cx="1097280" cy="1154430"/>
            </a:xfrm>
            <a:prstGeom prst="rect">
              <a:avLst/>
            </a:prstGeom>
          </p:spPr>
          <p:txBody>
            <a:bodyPr lIns="0" tIns="0" rIns="0" bIns="0" rtlCol="0" anchor="ctr"/>
            <a:lstStyle/>
            <a:p>
              <a:pPr algn="ctr">
                <a:lnSpc>
                  <a:spcPts val="3240"/>
                </a:lnSpc>
              </a:pPr>
              <a:r>
                <a:rPr lang="en-US" sz="2700" b="1">
                  <a:solidFill>
                    <a:srgbClr val="FFFFFF"/>
                  </a:solidFill>
                  <a:latin typeface="Calibri (MS) Bold"/>
                  <a:ea typeface="Calibri (MS) Bold"/>
                  <a:cs typeface="Calibri (MS) Bold"/>
                  <a:sym typeface="Calibri (MS) Bold"/>
                </a:rPr>
                <a:t>1</a:t>
              </a:r>
            </a:p>
          </p:txBody>
        </p:sp>
      </p:grpSp>
      <p:sp>
        <p:nvSpPr>
          <p:cNvPr id="15" name="TextBox 15"/>
          <p:cNvSpPr txBox="1"/>
          <p:nvPr/>
        </p:nvSpPr>
        <p:spPr>
          <a:xfrm>
            <a:off x="1165860" y="3509010"/>
            <a:ext cx="4663440" cy="605790"/>
          </a:xfrm>
          <a:prstGeom prst="rect">
            <a:avLst/>
          </a:prstGeom>
        </p:spPr>
        <p:txBody>
          <a:bodyPr lIns="0" tIns="0" rIns="0" bIns="0" rtlCol="0" anchor="t">
            <a:spAutoFit/>
          </a:bodyPr>
          <a:lstStyle/>
          <a:p>
            <a:pPr algn="l">
              <a:lnSpc>
                <a:spcPts val="3240"/>
              </a:lnSpc>
            </a:pPr>
            <a:r>
              <a:rPr lang="en-US" sz="2700" b="1">
                <a:solidFill>
                  <a:srgbClr val="0B1B33"/>
                </a:solidFill>
                <a:latin typeface="Calibri (MS) Bold"/>
                <a:ea typeface="Calibri (MS) Bold"/>
                <a:cs typeface="Calibri (MS) Bold"/>
                <a:sym typeface="Calibri (MS) Bold"/>
              </a:rPr>
              <a:t>Model objects with OOP</a:t>
            </a:r>
          </a:p>
        </p:txBody>
      </p:sp>
      <p:sp>
        <p:nvSpPr>
          <p:cNvPr id="16" name="TextBox 16"/>
          <p:cNvSpPr txBox="1"/>
          <p:nvPr/>
        </p:nvSpPr>
        <p:spPr>
          <a:xfrm>
            <a:off x="1165860" y="4067175"/>
            <a:ext cx="4663440" cy="128206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Abstract class, inheritance and polymorphism for satellites, debris and rocket bodies.</a:t>
            </a:r>
          </a:p>
        </p:txBody>
      </p:sp>
      <p:grpSp>
        <p:nvGrpSpPr>
          <p:cNvPr id="17" name="Group 17"/>
          <p:cNvGrpSpPr/>
          <p:nvPr/>
        </p:nvGrpSpPr>
        <p:grpSpPr>
          <a:xfrm>
            <a:off x="6436995" y="2185035"/>
            <a:ext cx="5368290" cy="3310890"/>
            <a:chOff x="0" y="0"/>
            <a:chExt cx="7157720" cy="4414520"/>
          </a:xfrm>
        </p:grpSpPr>
        <p:sp>
          <p:nvSpPr>
            <p:cNvPr id="18" name="Freeform 18"/>
            <p:cNvSpPr/>
            <p:nvPr/>
          </p:nvSpPr>
          <p:spPr>
            <a:xfrm>
              <a:off x="0" y="0"/>
              <a:ext cx="7157720" cy="4414520"/>
            </a:xfrm>
            <a:custGeom>
              <a:avLst/>
              <a:gdLst/>
              <a:ahLst/>
              <a:cxnLst/>
              <a:rect l="l" t="t" r="r" b="b"/>
              <a:pathLst>
                <a:path w="7157720" h="4414520">
                  <a:moveTo>
                    <a:pt x="0" y="220726"/>
                  </a:moveTo>
                  <a:cubicBezTo>
                    <a:pt x="0" y="98806"/>
                    <a:pt x="98806" y="0"/>
                    <a:pt x="220726" y="0"/>
                  </a:cubicBezTo>
                  <a:lnTo>
                    <a:pt x="6936994" y="0"/>
                  </a:lnTo>
                  <a:cubicBezTo>
                    <a:pt x="7058913" y="0"/>
                    <a:pt x="7157720" y="98806"/>
                    <a:pt x="7157720" y="220726"/>
                  </a:cubicBezTo>
                  <a:lnTo>
                    <a:pt x="7157720" y="4193794"/>
                  </a:lnTo>
                  <a:cubicBezTo>
                    <a:pt x="7157720" y="4315714"/>
                    <a:pt x="7058913" y="4414520"/>
                    <a:pt x="6936994" y="4414520"/>
                  </a:cubicBezTo>
                  <a:lnTo>
                    <a:pt x="220726" y="4414520"/>
                  </a:lnTo>
                  <a:cubicBezTo>
                    <a:pt x="98806" y="4414520"/>
                    <a:pt x="0" y="4315714"/>
                    <a:pt x="0" y="4193794"/>
                  </a:cubicBezTo>
                  <a:close/>
                </a:path>
              </a:pathLst>
            </a:custGeom>
            <a:solidFill>
              <a:srgbClr val="EEF3F9"/>
            </a:solidFill>
            <a:ln w="19050" cap="sq">
              <a:solidFill>
                <a:srgbClr val="EEF3F9"/>
              </a:solidFill>
              <a:prstDash val="solid"/>
              <a:miter/>
            </a:ln>
          </p:spPr>
        </p:sp>
      </p:grpSp>
      <p:grpSp>
        <p:nvGrpSpPr>
          <p:cNvPr id="19" name="Group 19"/>
          <p:cNvGrpSpPr/>
          <p:nvPr/>
        </p:nvGrpSpPr>
        <p:grpSpPr>
          <a:xfrm>
            <a:off x="6779895" y="2527935"/>
            <a:ext cx="842010" cy="842010"/>
            <a:chOff x="0" y="0"/>
            <a:chExt cx="1122680" cy="1122680"/>
          </a:xfrm>
        </p:grpSpPr>
        <p:sp>
          <p:nvSpPr>
            <p:cNvPr id="20" name="Freeform 20"/>
            <p:cNvSpPr/>
            <p:nvPr/>
          </p:nvSpPr>
          <p:spPr>
            <a:xfrm>
              <a:off x="0" y="0"/>
              <a:ext cx="1122680" cy="1122680"/>
            </a:xfrm>
            <a:custGeom>
              <a:avLst/>
              <a:gdLst/>
              <a:ahLst/>
              <a:cxnLst/>
              <a:rect l="l" t="t" r="r" b="b"/>
              <a:pathLst>
                <a:path w="1122680" h="1122680">
                  <a:moveTo>
                    <a:pt x="0" y="561340"/>
                  </a:moveTo>
                  <a:cubicBezTo>
                    <a:pt x="0" y="251333"/>
                    <a:pt x="251333" y="0"/>
                    <a:pt x="561340" y="0"/>
                  </a:cubicBezTo>
                  <a:cubicBezTo>
                    <a:pt x="871347" y="0"/>
                    <a:pt x="1122680" y="251333"/>
                    <a:pt x="1122680" y="561340"/>
                  </a:cubicBezTo>
                  <a:cubicBezTo>
                    <a:pt x="1122680" y="871347"/>
                    <a:pt x="871347" y="1122680"/>
                    <a:pt x="561340" y="1122680"/>
                  </a:cubicBezTo>
                  <a:cubicBezTo>
                    <a:pt x="251333" y="1122680"/>
                    <a:pt x="0" y="871347"/>
                    <a:pt x="0" y="561340"/>
                  </a:cubicBezTo>
                  <a:close/>
                </a:path>
              </a:pathLst>
            </a:custGeom>
            <a:solidFill>
              <a:srgbClr val="1E3A5F"/>
            </a:solidFill>
            <a:ln w="19050" cap="sq">
              <a:solidFill>
                <a:srgbClr val="1E3A5F"/>
              </a:solidFill>
              <a:prstDash val="solid"/>
              <a:miter/>
            </a:ln>
          </p:spPr>
        </p:sp>
      </p:grpSp>
      <p:grpSp>
        <p:nvGrpSpPr>
          <p:cNvPr id="21" name="Group 21"/>
          <p:cNvGrpSpPr/>
          <p:nvPr/>
        </p:nvGrpSpPr>
        <p:grpSpPr>
          <a:xfrm>
            <a:off x="6789420" y="2537460"/>
            <a:ext cx="822960" cy="822960"/>
            <a:chOff x="0" y="0"/>
            <a:chExt cx="1097280" cy="1097280"/>
          </a:xfrm>
        </p:grpSpPr>
        <p:sp>
          <p:nvSpPr>
            <p:cNvPr id="22" name="Freeform 22"/>
            <p:cNvSpPr/>
            <p:nvPr/>
          </p:nvSpPr>
          <p:spPr>
            <a:xfrm>
              <a:off x="0" y="0"/>
              <a:ext cx="1097280" cy="1097280"/>
            </a:xfrm>
            <a:custGeom>
              <a:avLst/>
              <a:gdLst/>
              <a:ahLst/>
              <a:cxnLst/>
              <a:rect l="l" t="t" r="r" b="b"/>
              <a:pathLst>
                <a:path w="1097280" h="1097280">
                  <a:moveTo>
                    <a:pt x="0" y="0"/>
                  </a:moveTo>
                  <a:lnTo>
                    <a:pt x="1097280" y="0"/>
                  </a:lnTo>
                  <a:lnTo>
                    <a:pt x="1097280" y="1097280"/>
                  </a:lnTo>
                  <a:lnTo>
                    <a:pt x="0" y="1097280"/>
                  </a:lnTo>
                  <a:close/>
                </a:path>
              </a:pathLst>
            </a:custGeom>
            <a:blipFill>
              <a:blip r:embed="rId2">
                <a:alphaModFix amt="0"/>
              </a:blip>
              <a:stretch>
                <a:fillRect l="-78303" r="-78303"/>
              </a:stretch>
            </a:blipFill>
          </p:spPr>
        </p:sp>
        <p:sp>
          <p:nvSpPr>
            <p:cNvPr id="23" name="TextBox 23"/>
            <p:cNvSpPr txBox="1"/>
            <p:nvPr/>
          </p:nvSpPr>
          <p:spPr>
            <a:xfrm>
              <a:off x="0" y="-57150"/>
              <a:ext cx="1097280" cy="1154430"/>
            </a:xfrm>
            <a:prstGeom prst="rect">
              <a:avLst/>
            </a:prstGeom>
          </p:spPr>
          <p:txBody>
            <a:bodyPr lIns="0" tIns="0" rIns="0" bIns="0" rtlCol="0" anchor="ctr"/>
            <a:lstStyle/>
            <a:p>
              <a:pPr algn="ctr">
                <a:lnSpc>
                  <a:spcPts val="3240"/>
                </a:lnSpc>
              </a:pPr>
              <a:r>
                <a:rPr lang="en-US" sz="2700" b="1">
                  <a:solidFill>
                    <a:srgbClr val="FFFFFF"/>
                  </a:solidFill>
                  <a:latin typeface="Calibri (MS) Bold"/>
                  <a:ea typeface="Calibri (MS) Bold"/>
                  <a:cs typeface="Calibri (MS) Bold"/>
                  <a:sym typeface="Calibri (MS) Bold"/>
                </a:rPr>
                <a:t>2</a:t>
              </a:r>
            </a:p>
          </p:txBody>
        </p:sp>
      </p:grpSp>
      <p:sp>
        <p:nvSpPr>
          <p:cNvPr id="24" name="TextBox 24"/>
          <p:cNvSpPr txBox="1"/>
          <p:nvPr/>
        </p:nvSpPr>
        <p:spPr>
          <a:xfrm>
            <a:off x="6789420" y="3509010"/>
            <a:ext cx="4663440" cy="605790"/>
          </a:xfrm>
          <a:prstGeom prst="rect">
            <a:avLst/>
          </a:prstGeom>
        </p:spPr>
        <p:txBody>
          <a:bodyPr lIns="0" tIns="0" rIns="0" bIns="0" rtlCol="0" anchor="t">
            <a:spAutoFit/>
          </a:bodyPr>
          <a:lstStyle/>
          <a:p>
            <a:pPr algn="l">
              <a:lnSpc>
                <a:spcPts val="3240"/>
              </a:lnSpc>
            </a:pPr>
            <a:r>
              <a:rPr lang="en-US" sz="2700" b="1">
                <a:solidFill>
                  <a:srgbClr val="0B1B33"/>
                </a:solidFill>
                <a:latin typeface="Calibri (MS) Bold"/>
                <a:ea typeface="Calibri (MS) Bold"/>
                <a:cs typeface="Calibri (MS) Bold"/>
                <a:sym typeface="Calibri (MS) Bold"/>
              </a:rPr>
              <a:t>Simulate orbits</a:t>
            </a:r>
          </a:p>
        </p:txBody>
      </p:sp>
      <p:sp>
        <p:nvSpPr>
          <p:cNvPr id="25" name="TextBox 25"/>
          <p:cNvSpPr txBox="1"/>
          <p:nvPr/>
        </p:nvSpPr>
        <p:spPr>
          <a:xfrm>
            <a:off x="6789420" y="4067175"/>
            <a:ext cx="4663440" cy="128206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Circular-orbit equations give each object’s position over time.</a:t>
            </a:r>
          </a:p>
        </p:txBody>
      </p:sp>
      <p:grpSp>
        <p:nvGrpSpPr>
          <p:cNvPr id="26" name="Group 26"/>
          <p:cNvGrpSpPr/>
          <p:nvPr/>
        </p:nvGrpSpPr>
        <p:grpSpPr>
          <a:xfrm>
            <a:off x="12060555" y="2185035"/>
            <a:ext cx="5368290" cy="3310890"/>
            <a:chOff x="0" y="0"/>
            <a:chExt cx="7157720" cy="4414520"/>
          </a:xfrm>
        </p:grpSpPr>
        <p:sp>
          <p:nvSpPr>
            <p:cNvPr id="27" name="Freeform 27"/>
            <p:cNvSpPr/>
            <p:nvPr/>
          </p:nvSpPr>
          <p:spPr>
            <a:xfrm>
              <a:off x="0" y="0"/>
              <a:ext cx="7157720" cy="4414520"/>
            </a:xfrm>
            <a:custGeom>
              <a:avLst/>
              <a:gdLst/>
              <a:ahLst/>
              <a:cxnLst/>
              <a:rect l="l" t="t" r="r" b="b"/>
              <a:pathLst>
                <a:path w="7157720" h="4414520">
                  <a:moveTo>
                    <a:pt x="0" y="220726"/>
                  </a:moveTo>
                  <a:cubicBezTo>
                    <a:pt x="0" y="98806"/>
                    <a:pt x="98806" y="0"/>
                    <a:pt x="220726" y="0"/>
                  </a:cubicBezTo>
                  <a:lnTo>
                    <a:pt x="6936994" y="0"/>
                  </a:lnTo>
                  <a:cubicBezTo>
                    <a:pt x="7058913" y="0"/>
                    <a:pt x="7157720" y="98806"/>
                    <a:pt x="7157720" y="220726"/>
                  </a:cubicBezTo>
                  <a:lnTo>
                    <a:pt x="7157720" y="4193794"/>
                  </a:lnTo>
                  <a:cubicBezTo>
                    <a:pt x="7157720" y="4315714"/>
                    <a:pt x="7058913" y="4414520"/>
                    <a:pt x="6936994" y="4414520"/>
                  </a:cubicBezTo>
                  <a:lnTo>
                    <a:pt x="220726" y="4414520"/>
                  </a:lnTo>
                  <a:cubicBezTo>
                    <a:pt x="98806" y="4414520"/>
                    <a:pt x="0" y="4315714"/>
                    <a:pt x="0" y="4193794"/>
                  </a:cubicBezTo>
                  <a:close/>
                </a:path>
              </a:pathLst>
            </a:custGeom>
            <a:solidFill>
              <a:srgbClr val="EEF3F9"/>
            </a:solidFill>
            <a:ln w="19050" cap="sq">
              <a:solidFill>
                <a:srgbClr val="EEF3F9"/>
              </a:solidFill>
              <a:prstDash val="solid"/>
              <a:miter/>
            </a:ln>
          </p:spPr>
        </p:sp>
      </p:grpSp>
      <p:grpSp>
        <p:nvGrpSpPr>
          <p:cNvPr id="28" name="Group 28"/>
          <p:cNvGrpSpPr/>
          <p:nvPr/>
        </p:nvGrpSpPr>
        <p:grpSpPr>
          <a:xfrm>
            <a:off x="12403455" y="2527935"/>
            <a:ext cx="842010" cy="842010"/>
            <a:chOff x="0" y="0"/>
            <a:chExt cx="1122680" cy="1122680"/>
          </a:xfrm>
        </p:grpSpPr>
        <p:sp>
          <p:nvSpPr>
            <p:cNvPr id="29" name="Freeform 29"/>
            <p:cNvSpPr/>
            <p:nvPr/>
          </p:nvSpPr>
          <p:spPr>
            <a:xfrm>
              <a:off x="0" y="0"/>
              <a:ext cx="1122680" cy="1122680"/>
            </a:xfrm>
            <a:custGeom>
              <a:avLst/>
              <a:gdLst/>
              <a:ahLst/>
              <a:cxnLst/>
              <a:rect l="l" t="t" r="r" b="b"/>
              <a:pathLst>
                <a:path w="1122680" h="1122680">
                  <a:moveTo>
                    <a:pt x="0" y="561340"/>
                  </a:moveTo>
                  <a:cubicBezTo>
                    <a:pt x="0" y="251333"/>
                    <a:pt x="251333" y="0"/>
                    <a:pt x="561340" y="0"/>
                  </a:cubicBezTo>
                  <a:cubicBezTo>
                    <a:pt x="871347" y="0"/>
                    <a:pt x="1122680" y="251333"/>
                    <a:pt x="1122680" y="561340"/>
                  </a:cubicBezTo>
                  <a:cubicBezTo>
                    <a:pt x="1122680" y="871347"/>
                    <a:pt x="871347" y="1122680"/>
                    <a:pt x="561340" y="1122680"/>
                  </a:cubicBezTo>
                  <a:cubicBezTo>
                    <a:pt x="251333" y="1122680"/>
                    <a:pt x="0" y="871347"/>
                    <a:pt x="0" y="561340"/>
                  </a:cubicBezTo>
                  <a:close/>
                </a:path>
              </a:pathLst>
            </a:custGeom>
            <a:solidFill>
              <a:srgbClr val="1E3A5F"/>
            </a:solidFill>
            <a:ln w="19050" cap="sq">
              <a:solidFill>
                <a:srgbClr val="1E3A5F"/>
              </a:solidFill>
              <a:prstDash val="solid"/>
              <a:miter/>
            </a:ln>
          </p:spPr>
        </p:sp>
      </p:grpSp>
      <p:grpSp>
        <p:nvGrpSpPr>
          <p:cNvPr id="30" name="Group 30"/>
          <p:cNvGrpSpPr/>
          <p:nvPr/>
        </p:nvGrpSpPr>
        <p:grpSpPr>
          <a:xfrm>
            <a:off x="12412980" y="2537460"/>
            <a:ext cx="822960" cy="822960"/>
            <a:chOff x="0" y="0"/>
            <a:chExt cx="1097280" cy="1097280"/>
          </a:xfrm>
        </p:grpSpPr>
        <p:sp>
          <p:nvSpPr>
            <p:cNvPr id="31" name="Freeform 31"/>
            <p:cNvSpPr/>
            <p:nvPr/>
          </p:nvSpPr>
          <p:spPr>
            <a:xfrm>
              <a:off x="0" y="0"/>
              <a:ext cx="1097280" cy="1097280"/>
            </a:xfrm>
            <a:custGeom>
              <a:avLst/>
              <a:gdLst/>
              <a:ahLst/>
              <a:cxnLst/>
              <a:rect l="l" t="t" r="r" b="b"/>
              <a:pathLst>
                <a:path w="1097280" h="1097280">
                  <a:moveTo>
                    <a:pt x="0" y="0"/>
                  </a:moveTo>
                  <a:lnTo>
                    <a:pt x="1097280" y="0"/>
                  </a:lnTo>
                  <a:lnTo>
                    <a:pt x="1097280" y="1097280"/>
                  </a:lnTo>
                  <a:lnTo>
                    <a:pt x="0" y="1097280"/>
                  </a:lnTo>
                  <a:close/>
                </a:path>
              </a:pathLst>
            </a:custGeom>
            <a:blipFill>
              <a:blip r:embed="rId2">
                <a:alphaModFix amt="0"/>
              </a:blip>
              <a:stretch>
                <a:fillRect l="-78303" r="-78303"/>
              </a:stretch>
            </a:blipFill>
          </p:spPr>
        </p:sp>
        <p:sp>
          <p:nvSpPr>
            <p:cNvPr id="32" name="TextBox 32"/>
            <p:cNvSpPr txBox="1"/>
            <p:nvPr/>
          </p:nvSpPr>
          <p:spPr>
            <a:xfrm>
              <a:off x="0" y="-57150"/>
              <a:ext cx="1097280" cy="1154430"/>
            </a:xfrm>
            <a:prstGeom prst="rect">
              <a:avLst/>
            </a:prstGeom>
          </p:spPr>
          <p:txBody>
            <a:bodyPr lIns="0" tIns="0" rIns="0" bIns="0" rtlCol="0" anchor="ctr"/>
            <a:lstStyle/>
            <a:p>
              <a:pPr algn="ctr">
                <a:lnSpc>
                  <a:spcPts val="3240"/>
                </a:lnSpc>
              </a:pPr>
              <a:r>
                <a:rPr lang="en-US" sz="2700" b="1">
                  <a:solidFill>
                    <a:srgbClr val="FFFFFF"/>
                  </a:solidFill>
                  <a:latin typeface="Calibri (MS) Bold"/>
                  <a:ea typeface="Calibri (MS) Bold"/>
                  <a:cs typeface="Calibri (MS) Bold"/>
                  <a:sym typeface="Calibri (MS) Bold"/>
                </a:rPr>
                <a:t>3</a:t>
              </a:r>
            </a:p>
          </p:txBody>
        </p:sp>
      </p:grpSp>
      <p:sp>
        <p:nvSpPr>
          <p:cNvPr id="33" name="TextBox 33"/>
          <p:cNvSpPr txBox="1"/>
          <p:nvPr/>
        </p:nvSpPr>
        <p:spPr>
          <a:xfrm>
            <a:off x="12412980" y="3509010"/>
            <a:ext cx="4663440" cy="605790"/>
          </a:xfrm>
          <a:prstGeom prst="rect">
            <a:avLst/>
          </a:prstGeom>
        </p:spPr>
        <p:txBody>
          <a:bodyPr lIns="0" tIns="0" rIns="0" bIns="0" rtlCol="0" anchor="t">
            <a:spAutoFit/>
          </a:bodyPr>
          <a:lstStyle/>
          <a:p>
            <a:pPr algn="l">
              <a:lnSpc>
                <a:spcPts val="3240"/>
              </a:lnSpc>
            </a:pPr>
            <a:r>
              <a:rPr lang="en-US" sz="2700" b="1">
                <a:solidFill>
                  <a:srgbClr val="0B1B33"/>
                </a:solidFill>
                <a:latin typeface="Calibri (MS) Bold"/>
                <a:ea typeface="Calibri (MS) Bold"/>
                <a:cs typeface="Calibri (MS) Bold"/>
                <a:sym typeface="Calibri (MS) Bold"/>
              </a:rPr>
              <a:t>Detect close approaches</a:t>
            </a:r>
          </a:p>
        </p:txBody>
      </p:sp>
      <p:sp>
        <p:nvSpPr>
          <p:cNvPr id="34" name="TextBox 34"/>
          <p:cNvSpPr txBox="1"/>
          <p:nvPr/>
        </p:nvSpPr>
        <p:spPr>
          <a:xfrm>
            <a:off x="12412980" y="4067175"/>
            <a:ext cx="4663440" cy="128206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Find minimum distance, time and relative velocity for every pair.</a:t>
            </a:r>
          </a:p>
        </p:txBody>
      </p:sp>
      <p:grpSp>
        <p:nvGrpSpPr>
          <p:cNvPr id="35" name="Group 35"/>
          <p:cNvGrpSpPr/>
          <p:nvPr/>
        </p:nvGrpSpPr>
        <p:grpSpPr>
          <a:xfrm>
            <a:off x="813435" y="5751195"/>
            <a:ext cx="5368290" cy="3310890"/>
            <a:chOff x="0" y="0"/>
            <a:chExt cx="7157720" cy="4414520"/>
          </a:xfrm>
        </p:grpSpPr>
        <p:sp>
          <p:nvSpPr>
            <p:cNvPr id="36" name="Freeform 36"/>
            <p:cNvSpPr/>
            <p:nvPr/>
          </p:nvSpPr>
          <p:spPr>
            <a:xfrm>
              <a:off x="0" y="0"/>
              <a:ext cx="7157720" cy="4414520"/>
            </a:xfrm>
            <a:custGeom>
              <a:avLst/>
              <a:gdLst/>
              <a:ahLst/>
              <a:cxnLst/>
              <a:rect l="l" t="t" r="r" b="b"/>
              <a:pathLst>
                <a:path w="7157720" h="4414520">
                  <a:moveTo>
                    <a:pt x="0" y="220726"/>
                  </a:moveTo>
                  <a:cubicBezTo>
                    <a:pt x="0" y="98806"/>
                    <a:pt x="98806" y="0"/>
                    <a:pt x="220726" y="0"/>
                  </a:cubicBezTo>
                  <a:lnTo>
                    <a:pt x="6936994" y="0"/>
                  </a:lnTo>
                  <a:cubicBezTo>
                    <a:pt x="7058913" y="0"/>
                    <a:pt x="7157720" y="98806"/>
                    <a:pt x="7157720" y="220726"/>
                  </a:cubicBezTo>
                  <a:lnTo>
                    <a:pt x="7157720" y="4193794"/>
                  </a:lnTo>
                  <a:cubicBezTo>
                    <a:pt x="7157720" y="4315714"/>
                    <a:pt x="7058913" y="4414520"/>
                    <a:pt x="6936994" y="4414520"/>
                  </a:cubicBezTo>
                  <a:lnTo>
                    <a:pt x="220726" y="4414520"/>
                  </a:lnTo>
                  <a:cubicBezTo>
                    <a:pt x="98806" y="4414520"/>
                    <a:pt x="0" y="4315714"/>
                    <a:pt x="0" y="4193794"/>
                  </a:cubicBezTo>
                  <a:close/>
                </a:path>
              </a:pathLst>
            </a:custGeom>
            <a:solidFill>
              <a:srgbClr val="EEF3F9"/>
            </a:solidFill>
            <a:ln w="19050" cap="sq">
              <a:solidFill>
                <a:srgbClr val="EEF3F9"/>
              </a:solidFill>
              <a:prstDash val="solid"/>
              <a:miter/>
            </a:ln>
          </p:spPr>
        </p:sp>
      </p:grpSp>
      <p:grpSp>
        <p:nvGrpSpPr>
          <p:cNvPr id="37" name="Group 37"/>
          <p:cNvGrpSpPr/>
          <p:nvPr/>
        </p:nvGrpSpPr>
        <p:grpSpPr>
          <a:xfrm>
            <a:off x="1156335" y="6094095"/>
            <a:ext cx="842010" cy="842010"/>
            <a:chOff x="0" y="0"/>
            <a:chExt cx="1122680" cy="1122680"/>
          </a:xfrm>
        </p:grpSpPr>
        <p:sp>
          <p:nvSpPr>
            <p:cNvPr id="38" name="Freeform 38"/>
            <p:cNvSpPr/>
            <p:nvPr/>
          </p:nvSpPr>
          <p:spPr>
            <a:xfrm>
              <a:off x="0" y="0"/>
              <a:ext cx="1122680" cy="1122680"/>
            </a:xfrm>
            <a:custGeom>
              <a:avLst/>
              <a:gdLst/>
              <a:ahLst/>
              <a:cxnLst/>
              <a:rect l="l" t="t" r="r" b="b"/>
              <a:pathLst>
                <a:path w="1122680" h="1122680">
                  <a:moveTo>
                    <a:pt x="0" y="561340"/>
                  </a:moveTo>
                  <a:cubicBezTo>
                    <a:pt x="0" y="251333"/>
                    <a:pt x="251333" y="0"/>
                    <a:pt x="561340" y="0"/>
                  </a:cubicBezTo>
                  <a:cubicBezTo>
                    <a:pt x="871347" y="0"/>
                    <a:pt x="1122680" y="251333"/>
                    <a:pt x="1122680" y="561340"/>
                  </a:cubicBezTo>
                  <a:cubicBezTo>
                    <a:pt x="1122680" y="871347"/>
                    <a:pt x="871347" y="1122680"/>
                    <a:pt x="561340" y="1122680"/>
                  </a:cubicBezTo>
                  <a:cubicBezTo>
                    <a:pt x="251333" y="1122680"/>
                    <a:pt x="0" y="871347"/>
                    <a:pt x="0" y="561340"/>
                  </a:cubicBezTo>
                  <a:close/>
                </a:path>
              </a:pathLst>
            </a:custGeom>
            <a:solidFill>
              <a:srgbClr val="1E3A5F"/>
            </a:solidFill>
            <a:ln w="19050" cap="sq">
              <a:solidFill>
                <a:srgbClr val="1E3A5F"/>
              </a:solidFill>
              <a:prstDash val="solid"/>
              <a:miter/>
            </a:ln>
          </p:spPr>
        </p:sp>
      </p:grpSp>
      <p:grpSp>
        <p:nvGrpSpPr>
          <p:cNvPr id="39" name="Group 39"/>
          <p:cNvGrpSpPr/>
          <p:nvPr/>
        </p:nvGrpSpPr>
        <p:grpSpPr>
          <a:xfrm>
            <a:off x="1165860" y="6103620"/>
            <a:ext cx="822960" cy="822960"/>
            <a:chOff x="0" y="0"/>
            <a:chExt cx="1097280" cy="1097280"/>
          </a:xfrm>
        </p:grpSpPr>
        <p:sp>
          <p:nvSpPr>
            <p:cNvPr id="40" name="Freeform 40"/>
            <p:cNvSpPr/>
            <p:nvPr/>
          </p:nvSpPr>
          <p:spPr>
            <a:xfrm>
              <a:off x="0" y="0"/>
              <a:ext cx="1097280" cy="1097280"/>
            </a:xfrm>
            <a:custGeom>
              <a:avLst/>
              <a:gdLst/>
              <a:ahLst/>
              <a:cxnLst/>
              <a:rect l="l" t="t" r="r" b="b"/>
              <a:pathLst>
                <a:path w="1097280" h="1097280">
                  <a:moveTo>
                    <a:pt x="0" y="0"/>
                  </a:moveTo>
                  <a:lnTo>
                    <a:pt x="1097280" y="0"/>
                  </a:lnTo>
                  <a:lnTo>
                    <a:pt x="1097280" y="1097280"/>
                  </a:lnTo>
                  <a:lnTo>
                    <a:pt x="0" y="1097280"/>
                  </a:lnTo>
                  <a:close/>
                </a:path>
              </a:pathLst>
            </a:custGeom>
            <a:blipFill>
              <a:blip r:embed="rId2">
                <a:alphaModFix amt="0"/>
              </a:blip>
              <a:stretch>
                <a:fillRect l="-78303" r="-78303"/>
              </a:stretch>
            </a:blipFill>
          </p:spPr>
        </p:sp>
        <p:sp>
          <p:nvSpPr>
            <p:cNvPr id="41" name="TextBox 41"/>
            <p:cNvSpPr txBox="1"/>
            <p:nvPr/>
          </p:nvSpPr>
          <p:spPr>
            <a:xfrm>
              <a:off x="0" y="-57150"/>
              <a:ext cx="1097280" cy="1154430"/>
            </a:xfrm>
            <a:prstGeom prst="rect">
              <a:avLst/>
            </a:prstGeom>
          </p:spPr>
          <p:txBody>
            <a:bodyPr lIns="0" tIns="0" rIns="0" bIns="0" rtlCol="0" anchor="ctr"/>
            <a:lstStyle/>
            <a:p>
              <a:pPr algn="ctr">
                <a:lnSpc>
                  <a:spcPts val="3240"/>
                </a:lnSpc>
              </a:pPr>
              <a:r>
                <a:rPr lang="en-US" sz="2700" b="1">
                  <a:solidFill>
                    <a:srgbClr val="FFFFFF"/>
                  </a:solidFill>
                  <a:latin typeface="Calibri (MS) Bold"/>
                  <a:ea typeface="Calibri (MS) Bold"/>
                  <a:cs typeface="Calibri (MS) Bold"/>
                  <a:sym typeface="Calibri (MS) Bold"/>
                </a:rPr>
                <a:t>4</a:t>
              </a:r>
            </a:p>
          </p:txBody>
        </p:sp>
      </p:grpSp>
      <p:sp>
        <p:nvSpPr>
          <p:cNvPr id="42" name="TextBox 42"/>
          <p:cNvSpPr txBox="1"/>
          <p:nvPr/>
        </p:nvSpPr>
        <p:spPr>
          <a:xfrm>
            <a:off x="1165860" y="7075170"/>
            <a:ext cx="4663440" cy="605790"/>
          </a:xfrm>
          <a:prstGeom prst="rect">
            <a:avLst/>
          </a:prstGeom>
        </p:spPr>
        <p:txBody>
          <a:bodyPr lIns="0" tIns="0" rIns="0" bIns="0" rtlCol="0" anchor="t">
            <a:spAutoFit/>
          </a:bodyPr>
          <a:lstStyle/>
          <a:p>
            <a:pPr algn="l">
              <a:lnSpc>
                <a:spcPts val="3240"/>
              </a:lnSpc>
            </a:pPr>
            <a:r>
              <a:rPr lang="en-US" sz="2700" b="1">
                <a:solidFill>
                  <a:srgbClr val="0B1B33"/>
                </a:solidFill>
                <a:latin typeface="Calibri (MS) Bold"/>
                <a:ea typeface="Calibri (MS) Bold"/>
                <a:cs typeface="Calibri (MS) Bold"/>
                <a:sym typeface="Calibri (MS) Bold"/>
              </a:rPr>
              <a:t>Classify risk</a:t>
            </a:r>
          </a:p>
        </p:txBody>
      </p:sp>
      <p:sp>
        <p:nvSpPr>
          <p:cNvPr id="43" name="TextBox 43"/>
          <p:cNvSpPr txBox="1"/>
          <p:nvPr/>
        </p:nvSpPr>
        <p:spPr>
          <a:xfrm>
            <a:off x="1165860" y="7633335"/>
            <a:ext cx="4663440" cy="128206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Transparent scoring into LOW, MODERATE, HIGH or CRITICAL.</a:t>
            </a:r>
          </a:p>
        </p:txBody>
      </p:sp>
      <p:grpSp>
        <p:nvGrpSpPr>
          <p:cNvPr id="44" name="Group 44"/>
          <p:cNvGrpSpPr/>
          <p:nvPr/>
        </p:nvGrpSpPr>
        <p:grpSpPr>
          <a:xfrm>
            <a:off x="6436995" y="5751195"/>
            <a:ext cx="5368290" cy="3310890"/>
            <a:chOff x="0" y="0"/>
            <a:chExt cx="7157720" cy="4414520"/>
          </a:xfrm>
        </p:grpSpPr>
        <p:sp>
          <p:nvSpPr>
            <p:cNvPr id="45" name="Freeform 45"/>
            <p:cNvSpPr/>
            <p:nvPr/>
          </p:nvSpPr>
          <p:spPr>
            <a:xfrm>
              <a:off x="0" y="0"/>
              <a:ext cx="7157720" cy="4414520"/>
            </a:xfrm>
            <a:custGeom>
              <a:avLst/>
              <a:gdLst/>
              <a:ahLst/>
              <a:cxnLst/>
              <a:rect l="l" t="t" r="r" b="b"/>
              <a:pathLst>
                <a:path w="7157720" h="4414520">
                  <a:moveTo>
                    <a:pt x="0" y="220726"/>
                  </a:moveTo>
                  <a:cubicBezTo>
                    <a:pt x="0" y="98806"/>
                    <a:pt x="98806" y="0"/>
                    <a:pt x="220726" y="0"/>
                  </a:cubicBezTo>
                  <a:lnTo>
                    <a:pt x="6936994" y="0"/>
                  </a:lnTo>
                  <a:cubicBezTo>
                    <a:pt x="7058913" y="0"/>
                    <a:pt x="7157720" y="98806"/>
                    <a:pt x="7157720" y="220726"/>
                  </a:cubicBezTo>
                  <a:lnTo>
                    <a:pt x="7157720" y="4193794"/>
                  </a:lnTo>
                  <a:cubicBezTo>
                    <a:pt x="7157720" y="4315714"/>
                    <a:pt x="7058913" y="4414520"/>
                    <a:pt x="6936994" y="4414520"/>
                  </a:cubicBezTo>
                  <a:lnTo>
                    <a:pt x="220726" y="4414520"/>
                  </a:lnTo>
                  <a:cubicBezTo>
                    <a:pt x="98806" y="4414520"/>
                    <a:pt x="0" y="4315714"/>
                    <a:pt x="0" y="4193794"/>
                  </a:cubicBezTo>
                  <a:close/>
                </a:path>
              </a:pathLst>
            </a:custGeom>
            <a:solidFill>
              <a:srgbClr val="EEF3F9"/>
            </a:solidFill>
            <a:ln w="19050" cap="sq">
              <a:solidFill>
                <a:srgbClr val="EEF3F9"/>
              </a:solidFill>
              <a:prstDash val="solid"/>
              <a:miter/>
            </a:ln>
          </p:spPr>
        </p:sp>
      </p:grpSp>
      <p:grpSp>
        <p:nvGrpSpPr>
          <p:cNvPr id="46" name="Group 46"/>
          <p:cNvGrpSpPr/>
          <p:nvPr/>
        </p:nvGrpSpPr>
        <p:grpSpPr>
          <a:xfrm>
            <a:off x="6779895" y="6094095"/>
            <a:ext cx="842010" cy="842010"/>
            <a:chOff x="0" y="0"/>
            <a:chExt cx="1122680" cy="1122680"/>
          </a:xfrm>
        </p:grpSpPr>
        <p:sp>
          <p:nvSpPr>
            <p:cNvPr id="47" name="Freeform 47"/>
            <p:cNvSpPr/>
            <p:nvPr/>
          </p:nvSpPr>
          <p:spPr>
            <a:xfrm>
              <a:off x="0" y="0"/>
              <a:ext cx="1122680" cy="1122680"/>
            </a:xfrm>
            <a:custGeom>
              <a:avLst/>
              <a:gdLst/>
              <a:ahLst/>
              <a:cxnLst/>
              <a:rect l="l" t="t" r="r" b="b"/>
              <a:pathLst>
                <a:path w="1122680" h="1122680">
                  <a:moveTo>
                    <a:pt x="0" y="561340"/>
                  </a:moveTo>
                  <a:cubicBezTo>
                    <a:pt x="0" y="251333"/>
                    <a:pt x="251333" y="0"/>
                    <a:pt x="561340" y="0"/>
                  </a:cubicBezTo>
                  <a:cubicBezTo>
                    <a:pt x="871347" y="0"/>
                    <a:pt x="1122680" y="251333"/>
                    <a:pt x="1122680" y="561340"/>
                  </a:cubicBezTo>
                  <a:cubicBezTo>
                    <a:pt x="1122680" y="871347"/>
                    <a:pt x="871347" y="1122680"/>
                    <a:pt x="561340" y="1122680"/>
                  </a:cubicBezTo>
                  <a:cubicBezTo>
                    <a:pt x="251333" y="1122680"/>
                    <a:pt x="0" y="871347"/>
                    <a:pt x="0" y="561340"/>
                  </a:cubicBezTo>
                  <a:close/>
                </a:path>
              </a:pathLst>
            </a:custGeom>
            <a:solidFill>
              <a:srgbClr val="1E3A5F"/>
            </a:solidFill>
            <a:ln w="19050" cap="sq">
              <a:solidFill>
                <a:srgbClr val="1E3A5F"/>
              </a:solidFill>
              <a:prstDash val="solid"/>
              <a:miter/>
            </a:ln>
          </p:spPr>
        </p:sp>
      </p:grpSp>
      <p:grpSp>
        <p:nvGrpSpPr>
          <p:cNvPr id="48" name="Group 48"/>
          <p:cNvGrpSpPr/>
          <p:nvPr/>
        </p:nvGrpSpPr>
        <p:grpSpPr>
          <a:xfrm>
            <a:off x="6789420" y="6103620"/>
            <a:ext cx="822960" cy="822960"/>
            <a:chOff x="0" y="0"/>
            <a:chExt cx="1097280" cy="1097280"/>
          </a:xfrm>
        </p:grpSpPr>
        <p:sp>
          <p:nvSpPr>
            <p:cNvPr id="49" name="Freeform 49"/>
            <p:cNvSpPr/>
            <p:nvPr/>
          </p:nvSpPr>
          <p:spPr>
            <a:xfrm>
              <a:off x="0" y="0"/>
              <a:ext cx="1097280" cy="1097280"/>
            </a:xfrm>
            <a:custGeom>
              <a:avLst/>
              <a:gdLst/>
              <a:ahLst/>
              <a:cxnLst/>
              <a:rect l="l" t="t" r="r" b="b"/>
              <a:pathLst>
                <a:path w="1097280" h="1097280">
                  <a:moveTo>
                    <a:pt x="0" y="0"/>
                  </a:moveTo>
                  <a:lnTo>
                    <a:pt x="1097280" y="0"/>
                  </a:lnTo>
                  <a:lnTo>
                    <a:pt x="1097280" y="1097280"/>
                  </a:lnTo>
                  <a:lnTo>
                    <a:pt x="0" y="1097280"/>
                  </a:lnTo>
                  <a:close/>
                </a:path>
              </a:pathLst>
            </a:custGeom>
            <a:blipFill>
              <a:blip r:embed="rId2">
                <a:alphaModFix amt="0"/>
              </a:blip>
              <a:stretch>
                <a:fillRect l="-78303" r="-78303"/>
              </a:stretch>
            </a:blipFill>
          </p:spPr>
        </p:sp>
        <p:sp>
          <p:nvSpPr>
            <p:cNvPr id="50" name="TextBox 50"/>
            <p:cNvSpPr txBox="1"/>
            <p:nvPr/>
          </p:nvSpPr>
          <p:spPr>
            <a:xfrm>
              <a:off x="0" y="-57150"/>
              <a:ext cx="1097280" cy="1154430"/>
            </a:xfrm>
            <a:prstGeom prst="rect">
              <a:avLst/>
            </a:prstGeom>
          </p:spPr>
          <p:txBody>
            <a:bodyPr lIns="0" tIns="0" rIns="0" bIns="0" rtlCol="0" anchor="ctr"/>
            <a:lstStyle/>
            <a:p>
              <a:pPr algn="ctr">
                <a:lnSpc>
                  <a:spcPts val="3240"/>
                </a:lnSpc>
              </a:pPr>
              <a:r>
                <a:rPr lang="en-US" sz="2700" b="1">
                  <a:solidFill>
                    <a:srgbClr val="FFFFFF"/>
                  </a:solidFill>
                  <a:latin typeface="Calibri (MS) Bold"/>
                  <a:ea typeface="Calibri (MS) Bold"/>
                  <a:cs typeface="Calibri (MS) Bold"/>
                  <a:sym typeface="Calibri (MS) Bold"/>
                </a:rPr>
                <a:t>5</a:t>
              </a:r>
            </a:p>
          </p:txBody>
        </p:sp>
      </p:grpSp>
      <p:sp>
        <p:nvSpPr>
          <p:cNvPr id="51" name="TextBox 51"/>
          <p:cNvSpPr txBox="1"/>
          <p:nvPr/>
        </p:nvSpPr>
        <p:spPr>
          <a:xfrm>
            <a:off x="6789420" y="7075170"/>
            <a:ext cx="4663440" cy="605790"/>
          </a:xfrm>
          <a:prstGeom prst="rect">
            <a:avLst/>
          </a:prstGeom>
        </p:spPr>
        <p:txBody>
          <a:bodyPr lIns="0" tIns="0" rIns="0" bIns="0" rtlCol="0" anchor="t">
            <a:spAutoFit/>
          </a:bodyPr>
          <a:lstStyle/>
          <a:p>
            <a:pPr algn="l">
              <a:lnSpc>
                <a:spcPts val="3240"/>
              </a:lnSpc>
            </a:pPr>
            <a:r>
              <a:rPr lang="en-US" sz="2700" b="1">
                <a:solidFill>
                  <a:srgbClr val="0B1B33"/>
                </a:solidFill>
                <a:latin typeface="Calibri (MS) Bold"/>
                <a:ea typeface="Calibri (MS) Bold"/>
                <a:cs typeface="Calibri (MS) Bold"/>
                <a:sym typeface="Calibri (MS) Bold"/>
              </a:rPr>
              <a:t>Store and report</a:t>
            </a:r>
          </a:p>
        </p:txBody>
      </p:sp>
      <p:sp>
        <p:nvSpPr>
          <p:cNvPr id="52" name="TextBox 52"/>
          <p:cNvSpPr txBox="1"/>
          <p:nvPr/>
        </p:nvSpPr>
        <p:spPr>
          <a:xfrm>
            <a:off x="6789420" y="7633335"/>
            <a:ext cx="4663440" cy="128206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Save and load data files and generate risk reports.</a:t>
            </a:r>
          </a:p>
        </p:txBody>
      </p:sp>
      <p:grpSp>
        <p:nvGrpSpPr>
          <p:cNvPr id="53" name="Group 53"/>
          <p:cNvGrpSpPr/>
          <p:nvPr/>
        </p:nvGrpSpPr>
        <p:grpSpPr>
          <a:xfrm>
            <a:off x="12060555" y="5751195"/>
            <a:ext cx="5368290" cy="3310890"/>
            <a:chOff x="0" y="0"/>
            <a:chExt cx="7157720" cy="4414520"/>
          </a:xfrm>
        </p:grpSpPr>
        <p:sp>
          <p:nvSpPr>
            <p:cNvPr id="54" name="Freeform 54"/>
            <p:cNvSpPr/>
            <p:nvPr/>
          </p:nvSpPr>
          <p:spPr>
            <a:xfrm>
              <a:off x="0" y="0"/>
              <a:ext cx="7157720" cy="4414520"/>
            </a:xfrm>
            <a:custGeom>
              <a:avLst/>
              <a:gdLst/>
              <a:ahLst/>
              <a:cxnLst/>
              <a:rect l="l" t="t" r="r" b="b"/>
              <a:pathLst>
                <a:path w="7157720" h="4414520">
                  <a:moveTo>
                    <a:pt x="0" y="220726"/>
                  </a:moveTo>
                  <a:cubicBezTo>
                    <a:pt x="0" y="98806"/>
                    <a:pt x="98806" y="0"/>
                    <a:pt x="220726" y="0"/>
                  </a:cubicBezTo>
                  <a:lnTo>
                    <a:pt x="6936994" y="0"/>
                  </a:lnTo>
                  <a:cubicBezTo>
                    <a:pt x="7058913" y="0"/>
                    <a:pt x="7157720" y="98806"/>
                    <a:pt x="7157720" y="220726"/>
                  </a:cubicBezTo>
                  <a:lnTo>
                    <a:pt x="7157720" y="4193794"/>
                  </a:lnTo>
                  <a:cubicBezTo>
                    <a:pt x="7157720" y="4315714"/>
                    <a:pt x="7058913" y="4414520"/>
                    <a:pt x="6936994" y="4414520"/>
                  </a:cubicBezTo>
                  <a:lnTo>
                    <a:pt x="220726" y="4414520"/>
                  </a:lnTo>
                  <a:cubicBezTo>
                    <a:pt x="98806" y="4414520"/>
                    <a:pt x="0" y="4315714"/>
                    <a:pt x="0" y="4193794"/>
                  </a:cubicBezTo>
                  <a:close/>
                </a:path>
              </a:pathLst>
            </a:custGeom>
            <a:solidFill>
              <a:srgbClr val="EEF3F9"/>
            </a:solidFill>
            <a:ln w="19050" cap="sq">
              <a:solidFill>
                <a:srgbClr val="EEF3F9"/>
              </a:solidFill>
              <a:prstDash val="solid"/>
              <a:miter/>
            </a:ln>
          </p:spPr>
        </p:sp>
      </p:grpSp>
      <p:grpSp>
        <p:nvGrpSpPr>
          <p:cNvPr id="55" name="Group 55"/>
          <p:cNvGrpSpPr/>
          <p:nvPr/>
        </p:nvGrpSpPr>
        <p:grpSpPr>
          <a:xfrm>
            <a:off x="12403455" y="6094095"/>
            <a:ext cx="842010" cy="842010"/>
            <a:chOff x="0" y="0"/>
            <a:chExt cx="1122680" cy="1122680"/>
          </a:xfrm>
        </p:grpSpPr>
        <p:sp>
          <p:nvSpPr>
            <p:cNvPr id="56" name="Freeform 56"/>
            <p:cNvSpPr/>
            <p:nvPr/>
          </p:nvSpPr>
          <p:spPr>
            <a:xfrm>
              <a:off x="0" y="0"/>
              <a:ext cx="1122680" cy="1122680"/>
            </a:xfrm>
            <a:custGeom>
              <a:avLst/>
              <a:gdLst/>
              <a:ahLst/>
              <a:cxnLst/>
              <a:rect l="l" t="t" r="r" b="b"/>
              <a:pathLst>
                <a:path w="1122680" h="1122680">
                  <a:moveTo>
                    <a:pt x="0" y="561340"/>
                  </a:moveTo>
                  <a:cubicBezTo>
                    <a:pt x="0" y="251333"/>
                    <a:pt x="251333" y="0"/>
                    <a:pt x="561340" y="0"/>
                  </a:cubicBezTo>
                  <a:cubicBezTo>
                    <a:pt x="871347" y="0"/>
                    <a:pt x="1122680" y="251333"/>
                    <a:pt x="1122680" y="561340"/>
                  </a:cubicBezTo>
                  <a:cubicBezTo>
                    <a:pt x="1122680" y="871347"/>
                    <a:pt x="871347" y="1122680"/>
                    <a:pt x="561340" y="1122680"/>
                  </a:cubicBezTo>
                  <a:cubicBezTo>
                    <a:pt x="251333" y="1122680"/>
                    <a:pt x="0" y="871347"/>
                    <a:pt x="0" y="561340"/>
                  </a:cubicBezTo>
                  <a:close/>
                </a:path>
              </a:pathLst>
            </a:custGeom>
            <a:solidFill>
              <a:srgbClr val="1E3A5F"/>
            </a:solidFill>
            <a:ln w="19050" cap="sq">
              <a:solidFill>
                <a:srgbClr val="1E3A5F"/>
              </a:solidFill>
              <a:prstDash val="solid"/>
              <a:miter/>
            </a:ln>
          </p:spPr>
        </p:sp>
      </p:grpSp>
      <p:grpSp>
        <p:nvGrpSpPr>
          <p:cNvPr id="57" name="Group 57"/>
          <p:cNvGrpSpPr/>
          <p:nvPr/>
        </p:nvGrpSpPr>
        <p:grpSpPr>
          <a:xfrm>
            <a:off x="12412980" y="6103620"/>
            <a:ext cx="822960" cy="822960"/>
            <a:chOff x="0" y="0"/>
            <a:chExt cx="1097280" cy="1097280"/>
          </a:xfrm>
        </p:grpSpPr>
        <p:sp>
          <p:nvSpPr>
            <p:cNvPr id="58" name="Freeform 58"/>
            <p:cNvSpPr/>
            <p:nvPr/>
          </p:nvSpPr>
          <p:spPr>
            <a:xfrm>
              <a:off x="0" y="0"/>
              <a:ext cx="1097280" cy="1097280"/>
            </a:xfrm>
            <a:custGeom>
              <a:avLst/>
              <a:gdLst/>
              <a:ahLst/>
              <a:cxnLst/>
              <a:rect l="l" t="t" r="r" b="b"/>
              <a:pathLst>
                <a:path w="1097280" h="1097280">
                  <a:moveTo>
                    <a:pt x="0" y="0"/>
                  </a:moveTo>
                  <a:lnTo>
                    <a:pt x="1097280" y="0"/>
                  </a:lnTo>
                  <a:lnTo>
                    <a:pt x="1097280" y="1097280"/>
                  </a:lnTo>
                  <a:lnTo>
                    <a:pt x="0" y="1097280"/>
                  </a:lnTo>
                  <a:close/>
                </a:path>
              </a:pathLst>
            </a:custGeom>
            <a:blipFill>
              <a:blip r:embed="rId2">
                <a:alphaModFix amt="0"/>
              </a:blip>
              <a:stretch>
                <a:fillRect l="-78303" r="-78303"/>
              </a:stretch>
            </a:blipFill>
          </p:spPr>
        </p:sp>
        <p:sp>
          <p:nvSpPr>
            <p:cNvPr id="59" name="TextBox 59"/>
            <p:cNvSpPr txBox="1"/>
            <p:nvPr/>
          </p:nvSpPr>
          <p:spPr>
            <a:xfrm>
              <a:off x="0" y="-57150"/>
              <a:ext cx="1097280" cy="1154430"/>
            </a:xfrm>
            <a:prstGeom prst="rect">
              <a:avLst/>
            </a:prstGeom>
          </p:spPr>
          <p:txBody>
            <a:bodyPr lIns="0" tIns="0" rIns="0" bIns="0" rtlCol="0" anchor="ctr"/>
            <a:lstStyle/>
            <a:p>
              <a:pPr algn="ctr">
                <a:lnSpc>
                  <a:spcPts val="3240"/>
                </a:lnSpc>
              </a:pPr>
              <a:r>
                <a:rPr lang="en-US" sz="2700" b="1">
                  <a:solidFill>
                    <a:srgbClr val="FFFFFF"/>
                  </a:solidFill>
                  <a:latin typeface="Calibri (MS) Bold"/>
                  <a:ea typeface="Calibri (MS) Bold"/>
                  <a:cs typeface="Calibri (MS) Bold"/>
                  <a:sym typeface="Calibri (MS) Bold"/>
                </a:rPr>
                <a:t>6</a:t>
              </a:r>
            </a:p>
          </p:txBody>
        </p:sp>
      </p:grpSp>
      <p:sp>
        <p:nvSpPr>
          <p:cNvPr id="60" name="TextBox 60"/>
          <p:cNvSpPr txBox="1"/>
          <p:nvPr/>
        </p:nvSpPr>
        <p:spPr>
          <a:xfrm>
            <a:off x="12412980" y="7075170"/>
            <a:ext cx="4663440" cy="605790"/>
          </a:xfrm>
          <a:prstGeom prst="rect">
            <a:avLst/>
          </a:prstGeom>
        </p:spPr>
        <p:txBody>
          <a:bodyPr lIns="0" tIns="0" rIns="0" bIns="0" rtlCol="0" anchor="t">
            <a:spAutoFit/>
          </a:bodyPr>
          <a:lstStyle/>
          <a:p>
            <a:pPr algn="l">
              <a:lnSpc>
                <a:spcPts val="3240"/>
              </a:lnSpc>
            </a:pPr>
            <a:r>
              <a:rPr lang="en-US" sz="2700" b="1">
                <a:solidFill>
                  <a:srgbClr val="0B1B33"/>
                </a:solidFill>
                <a:latin typeface="Calibri (MS) Bold"/>
                <a:ea typeface="Calibri (MS) Bold"/>
                <a:cs typeface="Calibri (MS) Bold"/>
                <a:sym typeface="Calibri (MS) Bold"/>
              </a:rPr>
              <a:t>Handle errors safely</a:t>
            </a:r>
          </a:p>
        </p:txBody>
      </p:sp>
      <p:sp>
        <p:nvSpPr>
          <p:cNvPr id="61" name="TextBox 61"/>
          <p:cNvSpPr txBox="1"/>
          <p:nvPr/>
        </p:nvSpPr>
        <p:spPr>
          <a:xfrm>
            <a:off x="12412980" y="7633335"/>
            <a:ext cx="4663440" cy="128206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Exceptions and input checks so the program never crashes.</a:t>
            </a:r>
          </a:p>
        </p:txBody>
      </p:sp>
      <p:sp>
        <p:nvSpPr>
          <p:cNvPr id="62" name="TextBox 62"/>
          <p:cNvSpPr txBox="1"/>
          <p:nvPr/>
        </p:nvSpPr>
        <p:spPr>
          <a:xfrm>
            <a:off x="16824960" y="9608820"/>
            <a:ext cx="502920" cy="358140"/>
          </a:xfrm>
          <a:prstGeom prst="rect">
            <a:avLst/>
          </a:prstGeom>
        </p:spPr>
        <p:txBody>
          <a:bodyPr lIns="0" tIns="0" rIns="0" bIns="0" rtlCol="0" anchor="t">
            <a:spAutoFit/>
          </a:bodyPr>
          <a:lstStyle/>
          <a:p>
            <a:pPr algn="l">
              <a:lnSpc>
                <a:spcPts val="1800"/>
              </a:lnSpc>
            </a:pPr>
            <a:r>
              <a:rPr lang="en-US" sz="1500">
                <a:solidFill>
                  <a:srgbClr val="64748B"/>
                </a:solidFill>
                <a:latin typeface="Calibri (MS)"/>
                <a:ea typeface="Calibri (MS)"/>
                <a:cs typeface="Calibri (MS)"/>
                <a:sym typeface="Calibri (M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9601200"/>
            <a:ext cx="9601200" cy="411480"/>
            <a:chOff x="0" y="0"/>
            <a:chExt cx="12801600" cy="548640"/>
          </a:xfrm>
        </p:grpSpPr>
        <p:sp>
          <p:nvSpPr>
            <p:cNvPr id="3" name="Freeform 3"/>
            <p:cNvSpPr/>
            <p:nvPr/>
          </p:nvSpPr>
          <p:spPr>
            <a:xfrm>
              <a:off x="0" y="0"/>
              <a:ext cx="12801600" cy="548640"/>
            </a:xfrm>
            <a:custGeom>
              <a:avLst/>
              <a:gdLst/>
              <a:ahLst/>
              <a:cxnLst/>
              <a:rect l="l" t="t" r="r" b="b"/>
              <a:pathLst>
                <a:path w="12801600" h="548640">
                  <a:moveTo>
                    <a:pt x="0" y="0"/>
                  </a:moveTo>
                  <a:lnTo>
                    <a:pt x="12801600" y="0"/>
                  </a:lnTo>
                  <a:lnTo>
                    <a:pt x="12801600" y="548640"/>
                  </a:lnTo>
                  <a:lnTo>
                    <a:pt x="0" y="548640"/>
                  </a:lnTo>
                  <a:close/>
                </a:path>
              </a:pathLst>
            </a:custGeom>
            <a:blipFill>
              <a:blip r:embed="rId2">
                <a:alphaModFix amt="0"/>
              </a:blip>
              <a:stretch>
                <a:fillRect t="-404650" b="-404650"/>
              </a:stretch>
            </a:blipFill>
          </p:spPr>
        </p:sp>
        <p:sp>
          <p:nvSpPr>
            <p:cNvPr id="4" name="TextBox 4"/>
            <p:cNvSpPr txBox="1"/>
            <p:nvPr/>
          </p:nvSpPr>
          <p:spPr>
            <a:xfrm>
              <a:off x="0" y="-38100"/>
              <a:ext cx="12801600" cy="586740"/>
            </a:xfrm>
            <a:prstGeom prst="rect">
              <a:avLst/>
            </a:prstGeom>
          </p:spPr>
          <p:txBody>
            <a:bodyPr lIns="0" tIns="0" rIns="0" bIns="0" rtlCol="0" anchor="ctr"/>
            <a:lstStyle/>
            <a:p>
              <a:pPr algn="l">
                <a:lnSpc>
                  <a:spcPts val="1800"/>
                </a:lnSpc>
              </a:pPr>
              <a:r>
                <a:rPr lang="en-US" sz="1500">
                  <a:solidFill>
                    <a:srgbClr val="64748B"/>
                  </a:solidFill>
                  <a:latin typeface="Calibri (MS)"/>
                  <a:ea typeface="Calibri (MS)"/>
                  <a:cs typeface="Calibri (MS)"/>
                  <a:sym typeface="Calibri (MS)"/>
                </a:rPr>
                <a:t>SCOPE  |  204ES Object Oriented Programming</a:t>
              </a:r>
            </a:p>
          </p:txBody>
        </p:sp>
      </p:grpSp>
      <p:grpSp>
        <p:nvGrpSpPr>
          <p:cNvPr id="5" name="Group 5"/>
          <p:cNvGrpSpPr/>
          <p:nvPr/>
        </p:nvGrpSpPr>
        <p:grpSpPr>
          <a:xfrm>
            <a:off x="822960" y="548640"/>
            <a:ext cx="16596360" cy="1234440"/>
            <a:chOff x="0" y="0"/>
            <a:chExt cx="22128480" cy="1645920"/>
          </a:xfrm>
        </p:grpSpPr>
        <p:sp>
          <p:nvSpPr>
            <p:cNvPr id="6" name="Freeform 6"/>
            <p:cNvSpPr/>
            <p:nvPr/>
          </p:nvSpPr>
          <p:spPr>
            <a:xfrm>
              <a:off x="0" y="0"/>
              <a:ext cx="22128480" cy="1645920"/>
            </a:xfrm>
            <a:custGeom>
              <a:avLst/>
              <a:gdLst/>
              <a:ahLst/>
              <a:cxnLst/>
              <a:rect l="l" t="t" r="r" b="b"/>
              <a:pathLst>
                <a:path w="22128480" h="1645920">
                  <a:moveTo>
                    <a:pt x="0" y="0"/>
                  </a:moveTo>
                  <a:lnTo>
                    <a:pt x="22128480" y="0"/>
                  </a:lnTo>
                  <a:lnTo>
                    <a:pt x="22128480" y="1645920"/>
                  </a:lnTo>
                  <a:lnTo>
                    <a:pt x="0" y="1645920"/>
                  </a:lnTo>
                  <a:close/>
                </a:path>
              </a:pathLst>
            </a:custGeom>
            <a:blipFill>
              <a:blip r:embed="rId2">
                <a:alphaModFix amt="0"/>
              </a:blip>
              <a:stretch>
                <a:fillRect t="-211965" b="-211965"/>
              </a:stretch>
            </a:blipFill>
          </p:spPr>
        </p:sp>
        <p:sp>
          <p:nvSpPr>
            <p:cNvPr id="7" name="TextBox 7"/>
            <p:cNvSpPr txBox="1"/>
            <p:nvPr/>
          </p:nvSpPr>
          <p:spPr>
            <a:xfrm>
              <a:off x="0" y="-9525"/>
              <a:ext cx="22128480" cy="1655445"/>
            </a:xfrm>
            <a:prstGeom prst="rect">
              <a:avLst/>
            </a:prstGeom>
          </p:spPr>
          <p:txBody>
            <a:bodyPr lIns="0" tIns="0" rIns="0" bIns="0" rtlCol="0" anchor="ctr"/>
            <a:lstStyle/>
            <a:p>
              <a:pPr algn="l">
                <a:lnSpc>
                  <a:spcPts val="6120"/>
                </a:lnSpc>
              </a:pPr>
              <a:r>
                <a:rPr lang="en-US" sz="5100" b="1">
                  <a:solidFill>
                    <a:srgbClr val="0B1B33"/>
                  </a:solidFill>
                  <a:latin typeface="Cambria Bold"/>
                  <a:ea typeface="Cambria Bold"/>
                  <a:cs typeface="Cambria Bold"/>
                  <a:sym typeface="Cambria Bold"/>
                </a:rPr>
                <a:t>Main Features of the Application</a:t>
              </a:r>
            </a:p>
          </p:txBody>
        </p:sp>
      </p:grpSp>
      <p:grpSp>
        <p:nvGrpSpPr>
          <p:cNvPr id="8" name="Group 8"/>
          <p:cNvGrpSpPr/>
          <p:nvPr/>
        </p:nvGrpSpPr>
        <p:grpSpPr>
          <a:xfrm>
            <a:off x="813435" y="2185035"/>
            <a:ext cx="3996690" cy="3379470"/>
            <a:chOff x="0" y="0"/>
            <a:chExt cx="5328920" cy="4505960"/>
          </a:xfrm>
        </p:grpSpPr>
        <p:sp>
          <p:nvSpPr>
            <p:cNvPr id="9" name="Freeform 9"/>
            <p:cNvSpPr/>
            <p:nvPr/>
          </p:nvSpPr>
          <p:spPr>
            <a:xfrm>
              <a:off x="0" y="0"/>
              <a:ext cx="5328920" cy="4505960"/>
            </a:xfrm>
            <a:custGeom>
              <a:avLst/>
              <a:gdLst/>
              <a:ahLst/>
              <a:cxnLst/>
              <a:rect l="l" t="t" r="r" b="b"/>
              <a:pathLst>
                <a:path w="5328920" h="4505960">
                  <a:moveTo>
                    <a:pt x="0" y="220726"/>
                  </a:moveTo>
                  <a:cubicBezTo>
                    <a:pt x="0" y="98806"/>
                    <a:pt x="98806" y="0"/>
                    <a:pt x="220726" y="0"/>
                  </a:cubicBezTo>
                  <a:lnTo>
                    <a:pt x="5108194" y="0"/>
                  </a:lnTo>
                  <a:cubicBezTo>
                    <a:pt x="5230114" y="0"/>
                    <a:pt x="5328920" y="98806"/>
                    <a:pt x="5328920" y="220726"/>
                  </a:cubicBezTo>
                  <a:lnTo>
                    <a:pt x="5328920" y="4285234"/>
                  </a:lnTo>
                  <a:cubicBezTo>
                    <a:pt x="5328920" y="4407154"/>
                    <a:pt x="5230114" y="4505960"/>
                    <a:pt x="5108194" y="4505960"/>
                  </a:cubicBezTo>
                  <a:lnTo>
                    <a:pt x="220726" y="4505960"/>
                  </a:lnTo>
                  <a:cubicBezTo>
                    <a:pt x="98806" y="4505960"/>
                    <a:pt x="0" y="4407154"/>
                    <a:pt x="0" y="4285234"/>
                  </a:cubicBezTo>
                  <a:close/>
                </a:path>
              </a:pathLst>
            </a:custGeom>
            <a:solidFill>
              <a:srgbClr val="EEF3F9"/>
            </a:solidFill>
            <a:ln w="19050" cap="sq">
              <a:solidFill>
                <a:srgbClr val="EEF3F9"/>
              </a:solidFill>
              <a:prstDash val="solid"/>
              <a:miter/>
            </a:ln>
          </p:spPr>
        </p:sp>
      </p:grpSp>
      <p:grpSp>
        <p:nvGrpSpPr>
          <p:cNvPr id="10" name="Group 10"/>
          <p:cNvGrpSpPr/>
          <p:nvPr/>
        </p:nvGrpSpPr>
        <p:grpSpPr>
          <a:xfrm>
            <a:off x="1156335" y="2527935"/>
            <a:ext cx="1047750" cy="1047750"/>
            <a:chOff x="0" y="0"/>
            <a:chExt cx="1397000" cy="1397000"/>
          </a:xfrm>
        </p:grpSpPr>
        <p:sp>
          <p:nvSpPr>
            <p:cNvPr id="11" name="Freeform 11"/>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1E3A5F"/>
            </a:solidFill>
            <a:ln w="19050" cap="sq">
              <a:solidFill>
                <a:srgbClr val="1E3A5F"/>
              </a:solidFill>
              <a:prstDash val="solid"/>
              <a:miter/>
            </a:ln>
          </p:spPr>
        </p:sp>
      </p:grpSp>
      <p:grpSp>
        <p:nvGrpSpPr>
          <p:cNvPr id="12" name="Group 12"/>
          <p:cNvGrpSpPr/>
          <p:nvPr/>
        </p:nvGrpSpPr>
        <p:grpSpPr>
          <a:xfrm>
            <a:off x="1423035" y="2794635"/>
            <a:ext cx="514350" cy="514350"/>
            <a:chOff x="0" y="0"/>
            <a:chExt cx="685800" cy="685800"/>
          </a:xfrm>
        </p:grpSpPr>
        <p:sp>
          <p:nvSpPr>
            <p:cNvPr id="13" name="Freeform 13" descr="Add objects"/>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3"/>
              <a:stretch>
                <a:fillRect/>
              </a:stretch>
            </a:blipFill>
          </p:spPr>
        </p:sp>
      </p:grpSp>
      <p:sp>
        <p:nvSpPr>
          <p:cNvPr id="14" name="TextBox 14"/>
          <p:cNvSpPr txBox="1"/>
          <p:nvPr/>
        </p:nvSpPr>
        <p:spPr>
          <a:xfrm>
            <a:off x="1165860" y="3802380"/>
            <a:ext cx="3360420" cy="586740"/>
          </a:xfrm>
          <a:prstGeom prst="rect">
            <a:avLst/>
          </a:prstGeom>
        </p:spPr>
        <p:txBody>
          <a:bodyPr lIns="0" tIns="0" rIns="0" bIns="0" rtlCol="0" anchor="t">
            <a:spAutoFit/>
          </a:bodyPr>
          <a:lstStyle/>
          <a:p>
            <a:pPr algn="l">
              <a:lnSpc>
                <a:spcPts val="2879"/>
              </a:lnSpc>
            </a:pPr>
            <a:r>
              <a:rPr lang="en-US" sz="2400" b="1">
                <a:solidFill>
                  <a:srgbClr val="0B1B33"/>
                </a:solidFill>
                <a:latin typeface="Calibri (MS) Bold"/>
                <a:ea typeface="Calibri (MS) Bold"/>
                <a:cs typeface="Calibri (MS) Bold"/>
                <a:sym typeface="Calibri (MS) Bold"/>
              </a:rPr>
              <a:t>Add objects</a:t>
            </a:r>
          </a:p>
        </p:txBody>
      </p:sp>
      <p:sp>
        <p:nvSpPr>
          <p:cNvPr id="15" name="TextBox 15"/>
          <p:cNvSpPr txBox="1"/>
          <p:nvPr/>
        </p:nvSpPr>
        <p:spPr>
          <a:xfrm>
            <a:off x="1165860" y="4368927"/>
            <a:ext cx="3360420" cy="107632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Satellites, debris and rocket bodies</a:t>
            </a:r>
          </a:p>
        </p:txBody>
      </p:sp>
      <p:grpSp>
        <p:nvGrpSpPr>
          <p:cNvPr id="16" name="Group 16"/>
          <p:cNvGrpSpPr/>
          <p:nvPr/>
        </p:nvGrpSpPr>
        <p:grpSpPr>
          <a:xfrm>
            <a:off x="5024247" y="2185035"/>
            <a:ext cx="3996690" cy="3379470"/>
            <a:chOff x="0" y="0"/>
            <a:chExt cx="5328920" cy="4505960"/>
          </a:xfrm>
        </p:grpSpPr>
        <p:sp>
          <p:nvSpPr>
            <p:cNvPr id="17" name="Freeform 17"/>
            <p:cNvSpPr/>
            <p:nvPr/>
          </p:nvSpPr>
          <p:spPr>
            <a:xfrm>
              <a:off x="0" y="0"/>
              <a:ext cx="5328920" cy="4505960"/>
            </a:xfrm>
            <a:custGeom>
              <a:avLst/>
              <a:gdLst/>
              <a:ahLst/>
              <a:cxnLst/>
              <a:rect l="l" t="t" r="r" b="b"/>
              <a:pathLst>
                <a:path w="5328920" h="4505960">
                  <a:moveTo>
                    <a:pt x="0" y="220726"/>
                  </a:moveTo>
                  <a:cubicBezTo>
                    <a:pt x="0" y="98806"/>
                    <a:pt x="98806" y="0"/>
                    <a:pt x="220726" y="0"/>
                  </a:cubicBezTo>
                  <a:lnTo>
                    <a:pt x="5108194" y="0"/>
                  </a:lnTo>
                  <a:cubicBezTo>
                    <a:pt x="5230114" y="0"/>
                    <a:pt x="5328920" y="98806"/>
                    <a:pt x="5328920" y="220726"/>
                  </a:cubicBezTo>
                  <a:lnTo>
                    <a:pt x="5328920" y="4285234"/>
                  </a:lnTo>
                  <a:cubicBezTo>
                    <a:pt x="5328920" y="4407154"/>
                    <a:pt x="5230114" y="4505960"/>
                    <a:pt x="5108194" y="4505960"/>
                  </a:cubicBezTo>
                  <a:lnTo>
                    <a:pt x="220726" y="4505960"/>
                  </a:lnTo>
                  <a:cubicBezTo>
                    <a:pt x="98806" y="4505960"/>
                    <a:pt x="0" y="4407154"/>
                    <a:pt x="0" y="4285234"/>
                  </a:cubicBezTo>
                  <a:close/>
                </a:path>
              </a:pathLst>
            </a:custGeom>
            <a:solidFill>
              <a:srgbClr val="EEF3F9"/>
            </a:solidFill>
            <a:ln w="19050" cap="sq">
              <a:solidFill>
                <a:srgbClr val="EEF3F9"/>
              </a:solidFill>
              <a:prstDash val="solid"/>
              <a:miter/>
            </a:ln>
          </p:spPr>
        </p:sp>
      </p:grpSp>
      <p:grpSp>
        <p:nvGrpSpPr>
          <p:cNvPr id="18" name="Group 18"/>
          <p:cNvGrpSpPr/>
          <p:nvPr/>
        </p:nvGrpSpPr>
        <p:grpSpPr>
          <a:xfrm>
            <a:off x="5367147" y="2527935"/>
            <a:ext cx="1047750" cy="1047750"/>
            <a:chOff x="0" y="0"/>
            <a:chExt cx="1397000" cy="1397000"/>
          </a:xfrm>
        </p:grpSpPr>
        <p:sp>
          <p:nvSpPr>
            <p:cNvPr id="19" name="Freeform 19"/>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1E3A5F"/>
            </a:solidFill>
            <a:ln w="19050" cap="sq">
              <a:solidFill>
                <a:srgbClr val="1E3A5F"/>
              </a:solidFill>
              <a:prstDash val="solid"/>
              <a:miter/>
            </a:ln>
          </p:spPr>
        </p:sp>
      </p:grpSp>
      <p:grpSp>
        <p:nvGrpSpPr>
          <p:cNvPr id="20" name="Group 20"/>
          <p:cNvGrpSpPr/>
          <p:nvPr/>
        </p:nvGrpSpPr>
        <p:grpSpPr>
          <a:xfrm>
            <a:off x="5633847" y="2794635"/>
            <a:ext cx="514350" cy="514350"/>
            <a:chOff x="0" y="0"/>
            <a:chExt cx="685800" cy="685800"/>
          </a:xfrm>
        </p:grpSpPr>
        <p:sp>
          <p:nvSpPr>
            <p:cNvPr id="21" name="Freeform 21" descr="View details"/>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4"/>
              <a:stretch>
                <a:fillRect/>
              </a:stretch>
            </a:blipFill>
          </p:spPr>
        </p:sp>
      </p:grpSp>
      <p:sp>
        <p:nvSpPr>
          <p:cNvPr id="22" name="TextBox 22"/>
          <p:cNvSpPr txBox="1"/>
          <p:nvPr/>
        </p:nvSpPr>
        <p:spPr>
          <a:xfrm>
            <a:off x="5376672" y="3802380"/>
            <a:ext cx="3360420" cy="586740"/>
          </a:xfrm>
          <a:prstGeom prst="rect">
            <a:avLst/>
          </a:prstGeom>
        </p:spPr>
        <p:txBody>
          <a:bodyPr lIns="0" tIns="0" rIns="0" bIns="0" rtlCol="0" anchor="t">
            <a:spAutoFit/>
          </a:bodyPr>
          <a:lstStyle/>
          <a:p>
            <a:pPr algn="l">
              <a:lnSpc>
                <a:spcPts val="2879"/>
              </a:lnSpc>
            </a:pPr>
            <a:r>
              <a:rPr lang="en-US" sz="2400" b="1">
                <a:solidFill>
                  <a:srgbClr val="0B1B33"/>
                </a:solidFill>
                <a:latin typeface="Calibri (MS) Bold"/>
                <a:ea typeface="Calibri (MS) Bold"/>
                <a:cs typeface="Calibri (MS) Bold"/>
                <a:sym typeface="Calibri (MS) Bold"/>
              </a:rPr>
              <a:t>View details</a:t>
            </a:r>
          </a:p>
        </p:txBody>
      </p:sp>
      <p:sp>
        <p:nvSpPr>
          <p:cNvPr id="23" name="TextBox 23"/>
          <p:cNvSpPr txBox="1"/>
          <p:nvPr/>
        </p:nvSpPr>
        <p:spPr>
          <a:xfrm>
            <a:off x="5376672" y="4368927"/>
            <a:ext cx="3360420" cy="107632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Orbit, speed, period and mass</a:t>
            </a:r>
          </a:p>
        </p:txBody>
      </p:sp>
      <p:grpSp>
        <p:nvGrpSpPr>
          <p:cNvPr id="24" name="Group 24"/>
          <p:cNvGrpSpPr/>
          <p:nvPr/>
        </p:nvGrpSpPr>
        <p:grpSpPr>
          <a:xfrm>
            <a:off x="9235059" y="2185035"/>
            <a:ext cx="3996690" cy="3379470"/>
            <a:chOff x="0" y="0"/>
            <a:chExt cx="5328920" cy="4505960"/>
          </a:xfrm>
        </p:grpSpPr>
        <p:sp>
          <p:nvSpPr>
            <p:cNvPr id="25" name="Freeform 25"/>
            <p:cNvSpPr/>
            <p:nvPr/>
          </p:nvSpPr>
          <p:spPr>
            <a:xfrm>
              <a:off x="0" y="0"/>
              <a:ext cx="5328920" cy="4505960"/>
            </a:xfrm>
            <a:custGeom>
              <a:avLst/>
              <a:gdLst/>
              <a:ahLst/>
              <a:cxnLst/>
              <a:rect l="l" t="t" r="r" b="b"/>
              <a:pathLst>
                <a:path w="5328920" h="4505960">
                  <a:moveTo>
                    <a:pt x="0" y="220726"/>
                  </a:moveTo>
                  <a:cubicBezTo>
                    <a:pt x="0" y="98806"/>
                    <a:pt x="98806" y="0"/>
                    <a:pt x="220726" y="0"/>
                  </a:cubicBezTo>
                  <a:lnTo>
                    <a:pt x="5108194" y="0"/>
                  </a:lnTo>
                  <a:cubicBezTo>
                    <a:pt x="5230114" y="0"/>
                    <a:pt x="5328920" y="98806"/>
                    <a:pt x="5328920" y="220726"/>
                  </a:cubicBezTo>
                  <a:lnTo>
                    <a:pt x="5328920" y="4285234"/>
                  </a:lnTo>
                  <a:cubicBezTo>
                    <a:pt x="5328920" y="4407154"/>
                    <a:pt x="5230114" y="4505960"/>
                    <a:pt x="5108194" y="4505960"/>
                  </a:cubicBezTo>
                  <a:lnTo>
                    <a:pt x="220726" y="4505960"/>
                  </a:lnTo>
                  <a:cubicBezTo>
                    <a:pt x="98806" y="4505960"/>
                    <a:pt x="0" y="4407154"/>
                    <a:pt x="0" y="4285234"/>
                  </a:cubicBezTo>
                  <a:close/>
                </a:path>
              </a:pathLst>
            </a:custGeom>
            <a:solidFill>
              <a:srgbClr val="EEF3F9"/>
            </a:solidFill>
            <a:ln w="19050" cap="sq">
              <a:solidFill>
                <a:srgbClr val="EEF3F9"/>
              </a:solidFill>
              <a:prstDash val="solid"/>
              <a:miter/>
            </a:ln>
          </p:spPr>
        </p:sp>
      </p:grpSp>
      <p:grpSp>
        <p:nvGrpSpPr>
          <p:cNvPr id="26" name="Group 26"/>
          <p:cNvGrpSpPr/>
          <p:nvPr/>
        </p:nvGrpSpPr>
        <p:grpSpPr>
          <a:xfrm>
            <a:off x="9577959" y="2527935"/>
            <a:ext cx="1047750" cy="1047750"/>
            <a:chOff x="0" y="0"/>
            <a:chExt cx="1397000" cy="1397000"/>
          </a:xfrm>
        </p:grpSpPr>
        <p:sp>
          <p:nvSpPr>
            <p:cNvPr id="27" name="Freeform 27"/>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1E3A5F"/>
            </a:solidFill>
            <a:ln w="19050" cap="sq">
              <a:solidFill>
                <a:srgbClr val="1E3A5F"/>
              </a:solidFill>
              <a:prstDash val="solid"/>
              <a:miter/>
            </a:ln>
          </p:spPr>
        </p:sp>
      </p:grpSp>
      <p:grpSp>
        <p:nvGrpSpPr>
          <p:cNvPr id="28" name="Group 28"/>
          <p:cNvGrpSpPr/>
          <p:nvPr/>
        </p:nvGrpSpPr>
        <p:grpSpPr>
          <a:xfrm>
            <a:off x="9844659" y="2794635"/>
            <a:ext cx="514350" cy="514350"/>
            <a:chOff x="0" y="0"/>
            <a:chExt cx="685800" cy="685800"/>
          </a:xfrm>
        </p:grpSpPr>
        <p:sp>
          <p:nvSpPr>
            <p:cNvPr id="29" name="Freeform 29" descr="Simulate orbits"/>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5"/>
              <a:stretch>
                <a:fillRect/>
              </a:stretch>
            </a:blipFill>
          </p:spPr>
        </p:sp>
      </p:grpSp>
      <p:sp>
        <p:nvSpPr>
          <p:cNvPr id="30" name="TextBox 30"/>
          <p:cNvSpPr txBox="1"/>
          <p:nvPr/>
        </p:nvSpPr>
        <p:spPr>
          <a:xfrm>
            <a:off x="9587484" y="3802380"/>
            <a:ext cx="3360420" cy="586740"/>
          </a:xfrm>
          <a:prstGeom prst="rect">
            <a:avLst/>
          </a:prstGeom>
        </p:spPr>
        <p:txBody>
          <a:bodyPr lIns="0" tIns="0" rIns="0" bIns="0" rtlCol="0" anchor="t">
            <a:spAutoFit/>
          </a:bodyPr>
          <a:lstStyle/>
          <a:p>
            <a:pPr algn="l">
              <a:lnSpc>
                <a:spcPts val="2879"/>
              </a:lnSpc>
            </a:pPr>
            <a:r>
              <a:rPr lang="en-US" sz="2400" b="1">
                <a:solidFill>
                  <a:srgbClr val="0B1B33"/>
                </a:solidFill>
                <a:latin typeface="Calibri (MS) Bold"/>
                <a:ea typeface="Calibri (MS) Bold"/>
                <a:cs typeface="Calibri (MS) Bold"/>
                <a:sym typeface="Calibri (MS) Bold"/>
              </a:rPr>
              <a:t>Simulate orbits</a:t>
            </a:r>
          </a:p>
        </p:txBody>
      </p:sp>
      <p:sp>
        <p:nvSpPr>
          <p:cNvPr id="31" name="TextBox 31"/>
          <p:cNvSpPr txBox="1"/>
          <p:nvPr/>
        </p:nvSpPr>
        <p:spPr>
          <a:xfrm>
            <a:off x="9587484" y="4368927"/>
            <a:ext cx="3360420" cy="107632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Positions at chosen times</a:t>
            </a:r>
          </a:p>
        </p:txBody>
      </p:sp>
      <p:grpSp>
        <p:nvGrpSpPr>
          <p:cNvPr id="32" name="Group 32"/>
          <p:cNvGrpSpPr/>
          <p:nvPr/>
        </p:nvGrpSpPr>
        <p:grpSpPr>
          <a:xfrm>
            <a:off x="13445871" y="2185035"/>
            <a:ext cx="3996690" cy="3379470"/>
            <a:chOff x="0" y="0"/>
            <a:chExt cx="5328920" cy="4505960"/>
          </a:xfrm>
        </p:grpSpPr>
        <p:sp>
          <p:nvSpPr>
            <p:cNvPr id="33" name="Freeform 33"/>
            <p:cNvSpPr/>
            <p:nvPr/>
          </p:nvSpPr>
          <p:spPr>
            <a:xfrm>
              <a:off x="0" y="0"/>
              <a:ext cx="5328920" cy="4505960"/>
            </a:xfrm>
            <a:custGeom>
              <a:avLst/>
              <a:gdLst/>
              <a:ahLst/>
              <a:cxnLst/>
              <a:rect l="l" t="t" r="r" b="b"/>
              <a:pathLst>
                <a:path w="5328920" h="4505960">
                  <a:moveTo>
                    <a:pt x="0" y="220726"/>
                  </a:moveTo>
                  <a:cubicBezTo>
                    <a:pt x="0" y="98806"/>
                    <a:pt x="98806" y="0"/>
                    <a:pt x="220726" y="0"/>
                  </a:cubicBezTo>
                  <a:lnTo>
                    <a:pt x="5108194" y="0"/>
                  </a:lnTo>
                  <a:cubicBezTo>
                    <a:pt x="5230114" y="0"/>
                    <a:pt x="5328920" y="98806"/>
                    <a:pt x="5328920" y="220726"/>
                  </a:cubicBezTo>
                  <a:lnTo>
                    <a:pt x="5328920" y="4285234"/>
                  </a:lnTo>
                  <a:cubicBezTo>
                    <a:pt x="5328920" y="4407154"/>
                    <a:pt x="5230114" y="4505960"/>
                    <a:pt x="5108194" y="4505960"/>
                  </a:cubicBezTo>
                  <a:lnTo>
                    <a:pt x="220726" y="4505960"/>
                  </a:lnTo>
                  <a:cubicBezTo>
                    <a:pt x="98806" y="4505960"/>
                    <a:pt x="0" y="4407154"/>
                    <a:pt x="0" y="4285234"/>
                  </a:cubicBezTo>
                  <a:close/>
                </a:path>
              </a:pathLst>
            </a:custGeom>
            <a:solidFill>
              <a:srgbClr val="EEF3F9"/>
            </a:solidFill>
            <a:ln w="19050" cap="sq">
              <a:solidFill>
                <a:srgbClr val="EEF3F9"/>
              </a:solidFill>
              <a:prstDash val="solid"/>
              <a:miter/>
            </a:ln>
          </p:spPr>
        </p:sp>
      </p:grpSp>
      <p:grpSp>
        <p:nvGrpSpPr>
          <p:cNvPr id="34" name="Group 34"/>
          <p:cNvGrpSpPr/>
          <p:nvPr/>
        </p:nvGrpSpPr>
        <p:grpSpPr>
          <a:xfrm>
            <a:off x="13788771" y="2527935"/>
            <a:ext cx="1047750" cy="1047750"/>
            <a:chOff x="0" y="0"/>
            <a:chExt cx="1397000" cy="1397000"/>
          </a:xfrm>
        </p:grpSpPr>
        <p:sp>
          <p:nvSpPr>
            <p:cNvPr id="35" name="Freeform 35"/>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1E3A5F"/>
            </a:solidFill>
            <a:ln w="19050" cap="sq">
              <a:solidFill>
                <a:srgbClr val="1E3A5F"/>
              </a:solidFill>
              <a:prstDash val="solid"/>
              <a:miter/>
            </a:ln>
          </p:spPr>
        </p:sp>
      </p:grpSp>
      <p:grpSp>
        <p:nvGrpSpPr>
          <p:cNvPr id="36" name="Group 36"/>
          <p:cNvGrpSpPr/>
          <p:nvPr/>
        </p:nvGrpSpPr>
        <p:grpSpPr>
          <a:xfrm>
            <a:off x="14055471" y="2794635"/>
            <a:ext cx="514350" cy="514350"/>
            <a:chOff x="0" y="0"/>
            <a:chExt cx="685800" cy="685800"/>
          </a:xfrm>
        </p:grpSpPr>
        <p:sp>
          <p:nvSpPr>
            <p:cNvPr id="37" name="Freeform 37" descr="Close approaches"/>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6"/>
              <a:stretch>
                <a:fillRect/>
              </a:stretch>
            </a:blipFill>
          </p:spPr>
        </p:sp>
      </p:grpSp>
      <p:sp>
        <p:nvSpPr>
          <p:cNvPr id="38" name="TextBox 38"/>
          <p:cNvSpPr txBox="1"/>
          <p:nvPr/>
        </p:nvSpPr>
        <p:spPr>
          <a:xfrm>
            <a:off x="13798296" y="3802380"/>
            <a:ext cx="3360420" cy="586740"/>
          </a:xfrm>
          <a:prstGeom prst="rect">
            <a:avLst/>
          </a:prstGeom>
        </p:spPr>
        <p:txBody>
          <a:bodyPr lIns="0" tIns="0" rIns="0" bIns="0" rtlCol="0" anchor="t">
            <a:spAutoFit/>
          </a:bodyPr>
          <a:lstStyle/>
          <a:p>
            <a:pPr algn="l">
              <a:lnSpc>
                <a:spcPts val="2879"/>
              </a:lnSpc>
            </a:pPr>
            <a:r>
              <a:rPr lang="en-US" sz="2400" b="1">
                <a:solidFill>
                  <a:srgbClr val="0B1B33"/>
                </a:solidFill>
                <a:latin typeface="Calibri (MS) Bold"/>
                <a:ea typeface="Calibri (MS) Bold"/>
                <a:cs typeface="Calibri (MS) Bold"/>
                <a:sym typeface="Calibri (MS) Bold"/>
              </a:rPr>
              <a:t>Close approaches</a:t>
            </a:r>
          </a:p>
        </p:txBody>
      </p:sp>
      <p:sp>
        <p:nvSpPr>
          <p:cNvPr id="39" name="TextBox 39"/>
          <p:cNvSpPr txBox="1"/>
          <p:nvPr/>
        </p:nvSpPr>
        <p:spPr>
          <a:xfrm>
            <a:off x="13798296" y="4368927"/>
            <a:ext cx="3360420" cy="107632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Minimum distance, time and relative velocity</a:t>
            </a:r>
          </a:p>
        </p:txBody>
      </p:sp>
      <p:grpSp>
        <p:nvGrpSpPr>
          <p:cNvPr id="40" name="Group 40"/>
          <p:cNvGrpSpPr/>
          <p:nvPr/>
        </p:nvGrpSpPr>
        <p:grpSpPr>
          <a:xfrm>
            <a:off x="813435" y="5819775"/>
            <a:ext cx="3996690" cy="3379470"/>
            <a:chOff x="0" y="0"/>
            <a:chExt cx="5328920" cy="4505960"/>
          </a:xfrm>
        </p:grpSpPr>
        <p:sp>
          <p:nvSpPr>
            <p:cNvPr id="41" name="Freeform 41"/>
            <p:cNvSpPr/>
            <p:nvPr/>
          </p:nvSpPr>
          <p:spPr>
            <a:xfrm>
              <a:off x="0" y="0"/>
              <a:ext cx="5328920" cy="4505960"/>
            </a:xfrm>
            <a:custGeom>
              <a:avLst/>
              <a:gdLst/>
              <a:ahLst/>
              <a:cxnLst/>
              <a:rect l="l" t="t" r="r" b="b"/>
              <a:pathLst>
                <a:path w="5328920" h="4505960">
                  <a:moveTo>
                    <a:pt x="0" y="220726"/>
                  </a:moveTo>
                  <a:cubicBezTo>
                    <a:pt x="0" y="98806"/>
                    <a:pt x="98806" y="0"/>
                    <a:pt x="220726" y="0"/>
                  </a:cubicBezTo>
                  <a:lnTo>
                    <a:pt x="5108194" y="0"/>
                  </a:lnTo>
                  <a:cubicBezTo>
                    <a:pt x="5230114" y="0"/>
                    <a:pt x="5328920" y="98806"/>
                    <a:pt x="5328920" y="220726"/>
                  </a:cubicBezTo>
                  <a:lnTo>
                    <a:pt x="5328920" y="4285234"/>
                  </a:lnTo>
                  <a:cubicBezTo>
                    <a:pt x="5328920" y="4407154"/>
                    <a:pt x="5230114" y="4505960"/>
                    <a:pt x="5108194" y="4505960"/>
                  </a:cubicBezTo>
                  <a:lnTo>
                    <a:pt x="220726" y="4505960"/>
                  </a:lnTo>
                  <a:cubicBezTo>
                    <a:pt x="98806" y="4505960"/>
                    <a:pt x="0" y="4407154"/>
                    <a:pt x="0" y="4285234"/>
                  </a:cubicBezTo>
                  <a:close/>
                </a:path>
              </a:pathLst>
            </a:custGeom>
            <a:solidFill>
              <a:srgbClr val="EEF3F9"/>
            </a:solidFill>
            <a:ln w="19050" cap="sq">
              <a:solidFill>
                <a:srgbClr val="EEF3F9"/>
              </a:solidFill>
              <a:prstDash val="solid"/>
              <a:miter/>
            </a:ln>
          </p:spPr>
        </p:sp>
      </p:grpSp>
      <p:grpSp>
        <p:nvGrpSpPr>
          <p:cNvPr id="42" name="Group 42"/>
          <p:cNvGrpSpPr/>
          <p:nvPr/>
        </p:nvGrpSpPr>
        <p:grpSpPr>
          <a:xfrm>
            <a:off x="1156335" y="6162675"/>
            <a:ext cx="1047750" cy="1047750"/>
            <a:chOff x="0" y="0"/>
            <a:chExt cx="1397000" cy="1397000"/>
          </a:xfrm>
        </p:grpSpPr>
        <p:sp>
          <p:nvSpPr>
            <p:cNvPr id="43" name="Freeform 43"/>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1E3A5F"/>
            </a:solidFill>
            <a:ln w="19050" cap="sq">
              <a:solidFill>
                <a:srgbClr val="1E3A5F"/>
              </a:solidFill>
              <a:prstDash val="solid"/>
              <a:miter/>
            </a:ln>
          </p:spPr>
        </p:sp>
      </p:grpSp>
      <p:grpSp>
        <p:nvGrpSpPr>
          <p:cNvPr id="44" name="Group 44"/>
          <p:cNvGrpSpPr/>
          <p:nvPr/>
        </p:nvGrpSpPr>
        <p:grpSpPr>
          <a:xfrm>
            <a:off x="1423035" y="6429375"/>
            <a:ext cx="514350" cy="514350"/>
            <a:chOff x="0" y="0"/>
            <a:chExt cx="685800" cy="685800"/>
          </a:xfrm>
        </p:grpSpPr>
        <p:sp>
          <p:nvSpPr>
            <p:cNvPr id="45" name="Freeform 45" descr="Risk levels"/>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7"/>
              <a:stretch>
                <a:fillRect/>
              </a:stretch>
            </a:blipFill>
          </p:spPr>
        </p:sp>
      </p:grpSp>
      <p:sp>
        <p:nvSpPr>
          <p:cNvPr id="46" name="TextBox 46"/>
          <p:cNvSpPr txBox="1"/>
          <p:nvPr/>
        </p:nvSpPr>
        <p:spPr>
          <a:xfrm>
            <a:off x="1165860" y="7437120"/>
            <a:ext cx="3360420" cy="586740"/>
          </a:xfrm>
          <a:prstGeom prst="rect">
            <a:avLst/>
          </a:prstGeom>
        </p:spPr>
        <p:txBody>
          <a:bodyPr lIns="0" tIns="0" rIns="0" bIns="0" rtlCol="0" anchor="t">
            <a:spAutoFit/>
          </a:bodyPr>
          <a:lstStyle/>
          <a:p>
            <a:pPr algn="l">
              <a:lnSpc>
                <a:spcPts val="2879"/>
              </a:lnSpc>
            </a:pPr>
            <a:r>
              <a:rPr lang="en-US" sz="2400" b="1">
                <a:solidFill>
                  <a:srgbClr val="0B1B33"/>
                </a:solidFill>
                <a:latin typeface="Calibri (MS) Bold"/>
                <a:ea typeface="Calibri (MS) Bold"/>
                <a:cs typeface="Calibri (MS) Bold"/>
                <a:sym typeface="Calibri (MS) Bold"/>
              </a:rPr>
              <a:t>Risk levels</a:t>
            </a:r>
          </a:p>
        </p:txBody>
      </p:sp>
      <p:sp>
        <p:nvSpPr>
          <p:cNvPr id="47" name="TextBox 47"/>
          <p:cNvSpPr txBox="1"/>
          <p:nvPr/>
        </p:nvSpPr>
        <p:spPr>
          <a:xfrm>
            <a:off x="1165860" y="8003667"/>
            <a:ext cx="3360420" cy="107632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LOW, MODERATE, HIGH or CRITICAL</a:t>
            </a:r>
          </a:p>
        </p:txBody>
      </p:sp>
      <p:grpSp>
        <p:nvGrpSpPr>
          <p:cNvPr id="48" name="Group 48"/>
          <p:cNvGrpSpPr/>
          <p:nvPr/>
        </p:nvGrpSpPr>
        <p:grpSpPr>
          <a:xfrm>
            <a:off x="5024247" y="5819775"/>
            <a:ext cx="3996690" cy="3379470"/>
            <a:chOff x="0" y="0"/>
            <a:chExt cx="5328920" cy="4505960"/>
          </a:xfrm>
        </p:grpSpPr>
        <p:sp>
          <p:nvSpPr>
            <p:cNvPr id="49" name="Freeform 49"/>
            <p:cNvSpPr/>
            <p:nvPr/>
          </p:nvSpPr>
          <p:spPr>
            <a:xfrm>
              <a:off x="0" y="0"/>
              <a:ext cx="5328920" cy="4505960"/>
            </a:xfrm>
            <a:custGeom>
              <a:avLst/>
              <a:gdLst/>
              <a:ahLst/>
              <a:cxnLst/>
              <a:rect l="l" t="t" r="r" b="b"/>
              <a:pathLst>
                <a:path w="5328920" h="4505960">
                  <a:moveTo>
                    <a:pt x="0" y="220726"/>
                  </a:moveTo>
                  <a:cubicBezTo>
                    <a:pt x="0" y="98806"/>
                    <a:pt x="98806" y="0"/>
                    <a:pt x="220726" y="0"/>
                  </a:cubicBezTo>
                  <a:lnTo>
                    <a:pt x="5108194" y="0"/>
                  </a:lnTo>
                  <a:cubicBezTo>
                    <a:pt x="5230114" y="0"/>
                    <a:pt x="5328920" y="98806"/>
                    <a:pt x="5328920" y="220726"/>
                  </a:cubicBezTo>
                  <a:lnTo>
                    <a:pt x="5328920" y="4285234"/>
                  </a:lnTo>
                  <a:cubicBezTo>
                    <a:pt x="5328920" y="4407154"/>
                    <a:pt x="5230114" y="4505960"/>
                    <a:pt x="5108194" y="4505960"/>
                  </a:cubicBezTo>
                  <a:lnTo>
                    <a:pt x="220726" y="4505960"/>
                  </a:lnTo>
                  <a:cubicBezTo>
                    <a:pt x="98806" y="4505960"/>
                    <a:pt x="0" y="4407154"/>
                    <a:pt x="0" y="4285234"/>
                  </a:cubicBezTo>
                  <a:close/>
                </a:path>
              </a:pathLst>
            </a:custGeom>
            <a:solidFill>
              <a:srgbClr val="EEF3F9"/>
            </a:solidFill>
            <a:ln w="19050" cap="sq">
              <a:solidFill>
                <a:srgbClr val="EEF3F9"/>
              </a:solidFill>
              <a:prstDash val="solid"/>
              <a:miter/>
            </a:ln>
          </p:spPr>
        </p:sp>
      </p:grpSp>
      <p:grpSp>
        <p:nvGrpSpPr>
          <p:cNvPr id="50" name="Group 50"/>
          <p:cNvGrpSpPr/>
          <p:nvPr/>
        </p:nvGrpSpPr>
        <p:grpSpPr>
          <a:xfrm>
            <a:off x="5367147" y="6162675"/>
            <a:ext cx="1047750" cy="1047750"/>
            <a:chOff x="0" y="0"/>
            <a:chExt cx="1397000" cy="1397000"/>
          </a:xfrm>
        </p:grpSpPr>
        <p:sp>
          <p:nvSpPr>
            <p:cNvPr id="51" name="Freeform 51"/>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1E3A5F"/>
            </a:solidFill>
            <a:ln w="19050" cap="sq">
              <a:solidFill>
                <a:srgbClr val="1E3A5F"/>
              </a:solidFill>
              <a:prstDash val="solid"/>
              <a:miter/>
            </a:ln>
          </p:spPr>
        </p:sp>
      </p:grpSp>
      <p:grpSp>
        <p:nvGrpSpPr>
          <p:cNvPr id="52" name="Group 52"/>
          <p:cNvGrpSpPr/>
          <p:nvPr/>
        </p:nvGrpSpPr>
        <p:grpSpPr>
          <a:xfrm>
            <a:off x="5633847" y="6429375"/>
            <a:ext cx="514350" cy="514350"/>
            <a:chOff x="0" y="0"/>
            <a:chExt cx="685800" cy="685800"/>
          </a:xfrm>
        </p:grpSpPr>
        <p:sp>
          <p:nvSpPr>
            <p:cNvPr id="53" name="Freeform 53" descr="Risk reports"/>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8"/>
              <a:stretch>
                <a:fillRect/>
              </a:stretch>
            </a:blipFill>
          </p:spPr>
        </p:sp>
      </p:grpSp>
      <p:sp>
        <p:nvSpPr>
          <p:cNvPr id="54" name="TextBox 54"/>
          <p:cNvSpPr txBox="1"/>
          <p:nvPr/>
        </p:nvSpPr>
        <p:spPr>
          <a:xfrm>
            <a:off x="5376672" y="7437120"/>
            <a:ext cx="3360420" cy="586740"/>
          </a:xfrm>
          <a:prstGeom prst="rect">
            <a:avLst/>
          </a:prstGeom>
        </p:spPr>
        <p:txBody>
          <a:bodyPr lIns="0" tIns="0" rIns="0" bIns="0" rtlCol="0" anchor="t">
            <a:spAutoFit/>
          </a:bodyPr>
          <a:lstStyle/>
          <a:p>
            <a:pPr algn="l">
              <a:lnSpc>
                <a:spcPts val="2879"/>
              </a:lnSpc>
            </a:pPr>
            <a:r>
              <a:rPr lang="en-US" sz="2400" b="1">
                <a:solidFill>
                  <a:srgbClr val="0B1B33"/>
                </a:solidFill>
                <a:latin typeface="Calibri (MS) Bold"/>
                <a:ea typeface="Calibri (MS) Bold"/>
                <a:cs typeface="Calibri (MS) Bold"/>
                <a:sym typeface="Calibri (MS) Bold"/>
              </a:rPr>
              <a:t>Risk reports</a:t>
            </a:r>
          </a:p>
        </p:txBody>
      </p:sp>
      <p:sp>
        <p:nvSpPr>
          <p:cNvPr id="55" name="TextBox 55"/>
          <p:cNvSpPr txBox="1"/>
          <p:nvPr/>
        </p:nvSpPr>
        <p:spPr>
          <a:xfrm>
            <a:off x="5376672" y="8003667"/>
            <a:ext cx="3360420" cy="107632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Detailed report saved to a file</a:t>
            </a:r>
          </a:p>
        </p:txBody>
      </p:sp>
      <p:grpSp>
        <p:nvGrpSpPr>
          <p:cNvPr id="56" name="Group 56"/>
          <p:cNvGrpSpPr/>
          <p:nvPr/>
        </p:nvGrpSpPr>
        <p:grpSpPr>
          <a:xfrm>
            <a:off x="9235059" y="5819775"/>
            <a:ext cx="3996690" cy="3379470"/>
            <a:chOff x="0" y="0"/>
            <a:chExt cx="5328920" cy="4505960"/>
          </a:xfrm>
        </p:grpSpPr>
        <p:sp>
          <p:nvSpPr>
            <p:cNvPr id="57" name="Freeform 57"/>
            <p:cNvSpPr/>
            <p:nvPr/>
          </p:nvSpPr>
          <p:spPr>
            <a:xfrm>
              <a:off x="0" y="0"/>
              <a:ext cx="5328920" cy="4505960"/>
            </a:xfrm>
            <a:custGeom>
              <a:avLst/>
              <a:gdLst/>
              <a:ahLst/>
              <a:cxnLst/>
              <a:rect l="l" t="t" r="r" b="b"/>
              <a:pathLst>
                <a:path w="5328920" h="4505960">
                  <a:moveTo>
                    <a:pt x="0" y="220726"/>
                  </a:moveTo>
                  <a:cubicBezTo>
                    <a:pt x="0" y="98806"/>
                    <a:pt x="98806" y="0"/>
                    <a:pt x="220726" y="0"/>
                  </a:cubicBezTo>
                  <a:lnTo>
                    <a:pt x="5108194" y="0"/>
                  </a:lnTo>
                  <a:cubicBezTo>
                    <a:pt x="5230114" y="0"/>
                    <a:pt x="5328920" y="98806"/>
                    <a:pt x="5328920" y="220726"/>
                  </a:cubicBezTo>
                  <a:lnTo>
                    <a:pt x="5328920" y="4285234"/>
                  </a:lnTo>
                  <a:cubicBezTo>
                    <a:pt x="5328920" y="4407154"/>
                    <a:pt x="5230114" y="4505960"/>
                    <a:pt x="5108194" y="4505960"/>
                  </a:cubicBezTo>
                  <a:lnTo>
                    <a:pt x="220726" y="4505960"/>
                  </a:lnTo>
                  <a:cubicBezTo>
                    <a:pt x="98806" y="4505960"/>
                    <a:pt x="0" y="4407154"/>
                    <a:pt x="0" y="4285234"/>
                  </a:cubicBezTo>
                  <a:close/>
                </a:path>
              </a:pathLst>
            </a:custGeom>
            <a:solidFill>
              <a:srgbClr val="EEF3F9"/>
            </a:solidFill>
            <a:ln w="19050" cap="sq">
              <a:solidFill>
                <a:srgbClr val="EEF3F9"/>
              </a:solidFill>
              <a:prstDash val="solid"/>
              <a:miter/>
            </a:ln>
          </p:spPr>
        </p:sp>
      </p:grpSp>
      <p:grpSp>
        <p:nvGrpSpPr>
          <p:cNvPr id="58" name="Group 58"/>
          <p:cNvGrpSpPr/>
          <p:nvPr/>
        </p:nvGrpSpPr>
        <p:grpSpPr>
          <a:xfrm>
            <a:off x="9577959" y="6162675"/>
            <a:ext cx="1047750" cy="1047750"/>
            <a:chOff x="0" y="0"/>
            <a:chExt cx="1397000" cy="1397000"/>
          </a:xfrm>
        </p:grpSpPr>
        <p:sp>
          <p:nvSpPr>
            <p:cNvPr id="59" name="Freeform 59"/>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1E3A5F"/>
            </a:solidFill>
            <a:ln w="19050" cap="sq">
              <a:solidFill>
                <a:srgbClr val="1E3A5F"/>
              </a:solidFill>
              <a:prstDash val="solid"/>
              <a:miter/>
            </a:ln>
          </p:spPr>
        </p:sp>
      </p:grpSp>
      <p:grpSp>
        <p:nvGrpSpPr>
          <p:cNvPr id="60" name="Group 60"/>
          <p:cNvGrpSpPr/>
          <p:nvPr/>
        </p:nvGrpSpPr>
        <p:grpSpPr>
          <a:xfrm>
            <a:off x="9844659" y="6429375"/>
            <a:ext cx="514350" cy="514350"/>
            <a:chOff x="0" y="0"/>
            <a:chExt cx="685800" cy="685800"/>
          </a:xfrm>
        </p:grpSpPr>
        <p:sp>
          <p:nvSpPr>
            <p:cNvPr id="61" name="Freeform 61" descr="Save and load"/>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9"/>
              <a:stretch>
                <a:fillRect/>
              </a:stretch>
            </a:blipFill>
          </p:spPr>
        </p:sp>
      </p:grpSp>
      <p:sp>
        <p:nvSpPr>
          <p:cNvPr id="62" name="TextBox 62"/>
          <p:cNvSpPr txBox="1"/>
          <p:nvPr/>
        </p:nvSpPr>
        <p:spPr>
          <a:xfrm>
            <a:off x="9587484" y="7437120"/>
            <a:ext cx="3360420" cy="586740"/>
          </a:xfrm>
          <a:prstGeom prst="rect">
            <a:avLst/>
          </a:prstGeom>
        </p:spPr>
        <p:txBody>
          <a:bodyPr lIns="0" tIns="0" rIns="0" bIns="0" rtlCol="0" anchor="t">
            <a:spAutoFit/>
          </a:bodyPr>
          <a:lstStyle/>
          <a:p>
            <a:pPr algn="l">
              <a:lnSpc>
                <a:spcPts val="2879"/>
              </a:lnSpc>
            </a:pPr>
            <a:r>
              <a:rPr lang="en-US" sz="2400" b="1">
                <a:solidFill>
                  <a:srgbClr val="0B1B33"/>
                </a:solidFill>
                <a:latin typeface="Calibri (MS) Bold"/>
                <a:ea typeface="Calibri (MS) Bold"/>
                <a:cs typeface="Calibri (MS) Bold"/>
                <a:sym typeface="Calibri (MS) Bold"/>
              </a:rPr>
              <a:t>Save and load</a:t>
            </a:r>
          </a:p>
        </p:txBody>
      </p:sp>
      <p:sp>
        <p:nvSpPr>
          <p:cNvPr id="63" name="TextBox 63"/>
          <p:cNvSpPr txBox="1"/>
          <p:nvPr/>
        </p:nvSpPr>
        <p:spPr>
          <a:xfrm>
            <a:off x="9587484" y="8003667"/>
            <a:ext cx="3360420" cy="107632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Text files keep data between runs</a:t>
            </a:r>
          </a:p>
        </p:txBody>
      </p:sp>
      <p:grpSp>
        <p:nvGrpSpPr>
          <p:cNvPr id="64" name="Group 64"/>
          <p:cNvGrpSpPr/>
          <p:nvPr/>
        </p:nvGrpSpPr>
        <p:grpSpPr>
          <a:xfrm>
            <a:off x="13445871" y="5819775"/>
            <a:ext cx="3996690" cy="3379470"/>
            <a:chOff x="0" y="0"/>
            <a:chExt cx="5328920" cy="4505960"/>
          </a:xfrm>
        </p:grpSpPr>
        <p:sp>
          <p:nvSpPr>
            <p:cNvPr id="65" name="Freeform 65"/>
            <p:cNvSpPr/>
            <p:nvPr/>
          </p:nvSpPr>
          <p:spPr>
            <a:xfrm>
              <a:off x="0" y="0"/>
              <a:ext cx="5328920" cy="4505960"/>
            </a:xfrm>
            <a:custGeom>
              <a:avLst/>
              <a:gdLst/>
              <a:ahLst/>
              <a:cxnLst/>
              <a:rect l="l" t="t" r="r" b="b"/>
              <a:pathLst>
                <a:path w="5328920" h="4505960">
                  <a:moveTo>
                    <a:pt x="0" y="220726"/>
                  </a:moveTo>
                  <a:cubicBezTo>
                    <a:pt x="0" y="98806"/>
                    <a:pt x="98806" y="0"/>
                    <a:pt x="220726" y="0"/>
                  </a:cubicBezTo>
                  <a:lnTo>
                    <a:pt x="5108194" y="0"/>
                  </a:lnTo>
                  <a:cubicBezTo>
                    <a:pt x="5230114" y="0"/>
                    <a:pt x="5328920" y="98806"/>
                    <a:pt x="5328920" y="220726"/>
                  </a:cubicBezTo>
                  <a:lnTo>
                    <a:pt x="5328920" y="4285234"/>
                  </a:lnTo>
                  <a:cubicBezTo>
                    <a:pt x="5328920" y="4407154"/>
                    <a:pt x="5230114" y="4505960"/>
                    <a:pt x="5108194" y="4505960"/>
                  </a:cubicBezTo>
                  <a:lnTo>
                    <a:pt x="220726" y="4505960"/>
                  </a:lnTo>
                  <a:cubicBezTo>
                    <a:pt x="98806" y="4505960"/>
                    <a:pt x="0" y="4407154"/>
                    <a:pt x="0" y="4285234"/>
                  </a:cubicBezTo>
                  <a:close/>
                </a:path>
              </a:pathLst>
            </a:custGeom>
            <a:solidFill>
              <a:srgbClr val="EEF3F9"/>
            </a:solidFill>
            <a:ln w="19050" cap="sq">
              <a:solidFill>
                <a:srgbClr val="EEF3F9"/>
              </a:solidFill>
              <a:prstDash val="solid"/>
              <a:miter/>
            </a:ln>
          </p:spPr>
        </p:sp>
      </p:grpSp>
      <p:grpSp>
        <p:nvGrpSpPr>
          <p:cNvPr id="66" name="Group 66"/>
          <p:cNvGrpSpPr/>
          <p:nvPr/>
        </p:nvGrpSpPr>
        <p:grpSpPr>
          <a:xfrm>
            <a:off x="13788771" y="6162675"/>
            <a:ext cx="1047750" cy="1047750"/>
            <a:chOff x="0" y="0"/>
            <a:chExt cx="1397000" cy="1397000"/>
          </a:xfrm>
        </p:grpSpPr>
        <p:sp>
          <p:nvSpPr>
            <p:cNvPr id="67" name="Freeform 67"/>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1E3A5F"/>
            </a:solidFill>
            <a:ln w="19050" cap="sq">
              <a:solidFill>
                <a:srgbClr val="1E3A5F"/>
              </a:solidFill>
              <a:prstDash val="solid"/>
              <a:miter/>
            </a:ln>
          </p:spPr>
        </p:sp>
      </p:grpSp>
      <p:grpSp>
        <p:nvGrpSpPr>
          <p:cNvPr id="68" name="Group 68"/>
          <p:cNvGrpSpPr/>
          <p:nvPr/>
        </p:nvGrpSpPr>
        <p:grpSpPr>
          <a:xfrm>
            <a:off x="14055471" y="6429375"/>
            <a:ext cx="514350" cy="514350"/>
            <a:chOff x="0" y="0"/>
            <a:chExt cx="685800" cy="685800"/>
          </a:xfrm>
        </p:grpSpPr>
        <p:sp>
          <p:nvSpPr>
            <p:cNvPr id="69" name="Freeform 69" descr="Safe input"/>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10"/>
              <a:stretch>
                <a:fillRect/>
              </a:stretch>
            </a:blipFill>
          </p:spPr>
        </p:sp>
      </p:grpSp>
      <p:sp>
        <p:nvSpPr>
          <p:cNvPr id="70" name="TextBox 70"/>
          <p:cNvSpPr txBox="1"/>
          <p:nvPr/>
        </p:nvSpPr>
        <p:spPr>
          <a:xfrm>
            <a:off x="13798296" y="7437120"/>
            <a:ext cx="3360420" cy="586740"/>
          </a:xfrm>
          <a:prstGeom prst="rect">
            <a:avLst/>
          </a:prstGeom>
        </p:spPr>
        <p:txBody>
          <a:bodyPr lIns="0" tIns="0" rIns="0" bIns="0" rtlCol="0" anchor="t">
            <a:spAutoFit/>
          </a:bodyPr>
          <a:lstStyle/>
          <a:p>
            <a:pPr algn="l">
              <a:lnSpc>
                <a:spcPts val="2879"/>
              </a:lnSpc>
            </a:pPr>
            <a:r>
              <a:rPr lang="en-US" sz="2400" b="1">
                <a:solidFill>
                  <a:srgbClr val="0B1B33"/>
                </a:solidFill>
                <a:latin typeface="Calibri (MS) Bold"/>
                <a:ea typeface="Calibri (MS) Bold"/>
                <a:cs typeface="Calibri (MS) Bold"/>
                <a:sym typeface="Calibri (MS) Bold"/>
              </a:rPr>
              <a:t>Safe input</a:t>
            </a:r>
          </a:p>
        </p:txBody>
      </p:sp>
      <p:sp>
        <p:nvSpPr>
          <p:cNvPr id="71" name="TextBox 71"/>
          <p:cNvSpPr txBox="1"/>
          <p:nvPr/>
        </p:nvSpPr>
        <p:spPr>
          <a:xfrm>
            <a:off x="13798296" y="8003667"/>
            <a:ext cx="3360420" cy="107632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Errors are handled without crashing</a:t>
            </a:r>
          </a:p>
        </p:txBody>
      </p:sp>
      <p:sp>
        <p:nvSpPr>
          <p:cNvPr id="72" name="TextBox 72"/>
          <p:cNvSpPr txBox="1"/>
          <p:nvPr/>
        </p:nvSpPr>
        <p:spPr>
          <a:xfrm>
            <a:off x="16824960" y="9608820"/>
            <a:ext cx="502920" cy="358140"/>
          </a:xfrm>
          <a:prstGeom prst="rect">
            <a:avLst/>
          </a:prstGeom>
        </p:spPr>
        <p:txBody>
          <a:bodyPr lIns="0" tIns="0" rIns="0" bIns="0" rtlCol="0" anchor="t">
            <a:spAutoFit/>
          </a:bodyPr>
          <a:lstStyle/>
          <a:p>
            <a:pPr algn="l">
              <a:lnSpc>
                <a:spcPts val="1800"/>
              </a:lnSpc>
            </a:pPr>
            <a:r>
              <a:rPr lang="en-US" sz="1500">
                <a:solidFill>
                  <a:srgbClr val="64748B"/>
                </a:solidFill>
                <a:latin typeface="Calibri (MS)"/>
                <a:ea typeface="Calibri (MS)"/>
                <a:cs typeface="Calibri (MS)"/>
                <a:sym typeface="Calibri (MS)"/>
              </a:rP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9601200"/>
            <a:ext cx="9601200" cy="411480"/>
            <a:chOff x="0" y="0"/>
            <a:chExt cx="12801600" cy="548640"/>
          </a:xfrm>
        </p:grpSpPr>
        <p:sp>
          <p:nvSpPr>
            <p:cNvPr id="3" name="Freeform 3"/>
            <p:cNvSpPr/>
            <p:nvPr/>
          </p:nvSpPr>
          <p:spPr>
            <a:xfrm>
              <a:off x="0" y="0"/>
              <a:ext cx="12801600" cy="548640"/>
            </a:xfrm>
            <a:custGeom>
              <a:avLst/>
              <a:gdLst/>
              <a:ahLst/>
              <a:cxnLst/>
              <a:rect l="l" t="t" r="r" b="b"/>
              <a:pathLst>
                <a:path w="12801600" h="548640">
                  <a:moveTo>
                    <a:pt x="0" y="0"/>
                  </a:moveTo>
                  <a:lnTo>
                    <a:pt x="12801600" y="0"/>
                  </a:lnTo>
                  <a:lnTo>
                    <a:pt x="12801600" y="548640"/>
                  </a:lnTo>
                  <a:lnTo>
                    <a:pt x="0" y="548640"/>
                  </a:lnTo>
                  <a:close/>
                </a:path>
              </a:pathLst>
            </a:custGeom>
            <a:blipFill>
              <a:blip r:embed="rId2">
                <a:alphaModFix amt="0"/>
              </a:blip>
              <a:stretch>
                <a:fillRect t="-404650" b="-404650"/>
              </a:stretch>
            </a:blipFill>
          </p:spPr>
        </p:sp>
        <p:sp>
          <p:nvSpPr>
            <p:cNvPr id="4" name="TextBox 4"/>
            <p:cNvSpPr txBox="1"/>
            <p:nvPr/>
          </p:nvSpPr>
          <p:spPr>
            <a:xfrm>
              <a:off x="0" y="-38100"/>
              <a:ext cx="12801600" cy="586740"/>
            </a:xfrm>
            <a:prstGeom prst="rect">
              <a:avLst/>
            </a:prstGeom>
          </p:spPr>
          <p:txBody>
            <a:bodyPr lIns="0" tIns="0" rIns="0" bIns="0" rtlCol="0" anchor="ctr"/>
            <a:lstStyle/>
            <a:p>
              <a:pPr algn="l">
                <a:lnSpc>
                  <a:spcPts val="1800"/>
                </a:lnSpc>
              </a:pPr>
              <a:r>
                <a:rPr lang="en-US" sz="1500">
                  <a:solidFill>
                    <a:srgbClr val="64748B"/>
                  </a:solidFill>
                  <a:latin typeface="Calibri (MS)"/>
                  <a:ea typeface="Calibri (MS)"/>
                  <a:cs typeface="Calibri (MS)"/>
                  <a:sym typeface="Calibri (MS)"/>
                </a:rPr>
                <a:t>SCOPE  |  204ES Object Oriented Programming</a:t>
              </a:r>
            </a:p>
          </p:txBody>
        </p:sp>
      </p:grpSp>
      <p:grpSp>
        <p:nvGrpSpPr>
          <p:cNvPr id="5" name="Group 5"/>
          <p:cNvGrpSpPr/>
          <p:nvPr/>
        </p:nvGrpSpPr>
        <p:grpSpPr>
          <a:xfrm>
            <a:off x="822960" y="548640"/>
            <a:ext cx="16596360" cy="1234440"/>
            <a:chOff x="0" y="0"/>
            <a:chExt cx="22128480" cy="1645920"/>
          </a:xfrm>
        </p:grpSpPr>
        <p:sp>
          <p:nvSpPr>
            <p:cNvPr id="6" name="Freeform 6"/>
            <p:cNvSpPr/>
            <p:nvPr/>
          </p:nvSpPr>
          <p:spPr>
            <a:xfrm>
              <a:off x="0" y="0"/>
              <a:ext cx="22128480" cy="1645920"/>
            </a:xfrm>
            <a:custGeom>
              <a:avLst/>
              <a:gdLst/>
              <a:ahLst/>
              <a:cxnLst/>
              <a:rect l="l" t="t" r="r" b="b"/>
              <a:pathLst>
                <a:path w="22128480" h="1645920">
                  <a:moveTo>
                    <a:pt x="0" y="0"/>
                  </a:moveTo>
                  <a:lnTo>
                    <a:pt x="22128480" y="0"/>
                  </a:lnTo>
                  <a:lnTo>
                    <a:pt x="22128480" y="1645920"/>
                  </a:lnTo>
                  <a:lnTo>
                    <a:pt x="0" y="1645920"/>
                  </a:lnTo>
                  <a:close/>
                </a:path>
              </a:pathLst>
            </a:custGeom>
            <a:blipFill>
              <a:blip r:embed="rId2">
                <a:alphaModFix amt="0"/>
              </a:blip>
              <a:stretch>
                <a:fillRect t="-211965" b="-211965"/>
              </a:stretch>
            </a:blipFill>
          </p:spPr>
        </p:sp>
        <p:sp>
          <p:nvSpPr>
            <p:cNvPr id="7" name="TextBox 7"/>
            <p:cNvSpPr txBox="1"/>
            <p:nvPr/>
          </p:nvSpPr>
          <p:spPr>
            <a:xfrm>
              <a:off x="0" y="-9525"/>
              <a:ext cx="22128480" cy="1655445"/>
            </a:xfrm>
            <a:prstGeom prst="rect">
              <a:avLst/>
            </a:prstGeom>
          </p:spPr>
          <p:txBody>
            <a:bodyPr lIns="0" tIns="0" rIns="0" bIns="0" rtlCol="0" anchor="ctr"/>
            <a:lstStyle/>
            <a:p>
              <a:pPr algn="l">
                <a:lnSpc>
                  <a:spcPts val="6120"/>
                </a:lnSpc>
              </a:pPr>
              <a:r>
                <a:rPr lang="en-US" sz="5100" b="1">
                  <a:solidFill>
                    <a:srgbClr val="0B1B33"/>
                  </a:solidFill>
                  <a:latin typeface="Cambria Bold"/>
                  <a:ea typeface="Cambria Bold"/>
                  <a:cs typeface="Cambria Bold"/>
                  <a:sym typeface="Cambria Bold"/>
                </a:rPr>
                <a:t>Modules Used: System Architecture</a:t>
              </a:r>
            </a:p>
          </p:txBody>
        </p:sp>
      </p:grpSp>
      <p:grpSp>
        <p:nvGrpSpPr>
          <p:cNvPr id="8" name="Group 8"/>
          <p:cNvGrpSpPr/>
          <p:nvPr/>
        </p:nvGrpSpPr>
        <p:grpSpPr>
          <a:xfrm>
            <a:off x="6711315" y="2116455"/>
            <a:ext cx="4819650" cy="1047750"/>
            <a:chOff x="0" y="0"/>
            <a:chExt cx="6426200" cy="1397000"/>
          </a:xfrm>
        </p:grpSpPr>
        <p:sp>
          <p:nvSpPr>
            <p:cNvPr id="9" name="Freeform 9"/>
            <p:cNvSpPr/>
            <p:nvPr/>
          </p:nvSpPr>
          <p:spPr>
            <a:xfrm>
              <a:off x="0" y="0"/>
              <a:ext cx="6426200" cy="1397000"/>
            </a:xfrm>
            <a:custGeom>
              <a:avLst/>
              <a:gdLst/>
              <a:ahLst/>
              <a:cxnLst/>
              <a:rect l="l" t="t" r="r" b="b"/>
              <a:pathLst>
                <a:path w="6426200" h="1397000">
                  <a:moveTo>
                    <a:pt x="0" y="186309"/>
                  </a:moveTo>
                  <a:cubicBezTo>
                    <a:pt x="0" y="83439"/>
                    <a:pt x="83439" y="0"/>
                    <a:pt x="186309" y="0"/>
                  </a:cubicBezTo>
                  <a:lnTo>
                    <a:pt x="6239891" y="0"/>
                  </a:lnTo>
                  <a:cubicBezTo>
                    <a:pt x="6342761" y="0"/>
                    <a:pt x="6426200" y="83439"/>
                    <a:pt x="6426200" y="186309"/>
                  </a:cubicBezTo>
                  <a:lnTo>
                    <a:pt x="6426200" y="1210691"/>
                  </a:lnTo>
                  <a:cubicBezTo>
                    <a:pt x="6426200" y="1313561"/>
                    <a:pt x="6342761" y="1397000"/>
                    <a:pt x="6239891" y="1397000"/>
                  </a:cubicBezTo>
                  <a:lnTo>
                    <a:pt x="186309" y="1397000"/>
                  </a:lnTo>
                  <a:cubicBezTo>
                    <a:pt x="83439" y="1397000"/>
                    <a:pt x="0" y="1313561"/>
                    <a:pt x="0" y="1210691"/>
                  </a:cubicBezTo>
                  <a:close/>
                </a:path>
              </a:pathLst>
            </a:custGeom>
            <a:solidFill>
              <a:srgbClr val="0B1B33"/>
            </a:solidFill>
            <a:ln w="19050" cap="sq">
              <a:solidFill>
                <a:srgbClr val="0B1B33"/>
              </a:solidFill>
              <a:prstDash val="solid"/>
              <a:miter/>
            </a:ln>
          </p:spPr>
        </p:sp>
      </p:grpSp>
      <p:grpSp>
        <p:nvGrpSpPr>
          <p:cNvPr id="10" name="Group 10"/>
          <p:cNvGrpSpPr/>
          <p:nvPr/>
        </p:nvGrpSpPr>
        <p:grpSpPr>
          <a:xfrm>
            <a:off x="6720840" y="2125980"/>
            <a:ext cx="4800600" cy="1028700"/>
            <a:chOff x="0" y="0"/>
            <a:chExt cx="6400800" cy="1371600"/>
          </a:xfrm>
        </p:grpSpPr>
        <p:sp>
          <p:nvSpPr>
            <p:cNvPr id="11" name="Freeform 11"/>
            <p:cNvSpPr/>
            <p:nvPr/>
          </p:nvSpPr>
          <p:spPr>
            <a:xfrm>
              <a:off x="0" y="0"/>
              <a:ext cx="6400800" cy="1371600"/>
            </a:xfrm>
            <a:custGeom>
              <a:avLst/>
              <a:gdLst/>
              <a:ahLst/>
              <a:cxnLst/>
              <a:rect l="l" t="t" r="r" b="b"/>
              <a:pathLst>
                <a:path w="6400800" h="1371600">
                  <a:moveTo>
                    <a:pt x="0" y="0"/>
                  </a:moveTo>
                  <a:lnTo>
                    <a:pt x="6400800" y="0"/>
                  </a:lnTo>
                  <a:lnTo>
                    <a:pt x="6400800" y="1371600"/>
                  </a:lnTo>
                  <a:lnTo>
                    <a:pt x="0" y="1371600"/>
                  </a:lnTo>
                  <a:close/>
                </a:path>
              </a:pathLst>
            </a:custGeom>
            <a:blipFill>
              <a:blip r:embed="rId2">
                <a:alphaModFix amt="0"/>
              </a:blip>
              <a:stretch>
                <a:fillRect t="-40930" b="-40930"/>
              </a:stretch>
            </a:blipFill>
          </p:spPr>
        </p:sp>
        <p:sp>
          <p:nvSpPr>
            <p:cNvPr id="12" name="TextBox 12"/>
            <p:cNvSpPr txBox="1"/>
            <p:nvPr/>
          </p:nvSpPr>
          <p:spPr>
            <a:xfrm>
              <a:off x="0" y="-38100"/>
              <a:ext cx="6400800" cy="1409700"/>
            </a:xfrm>
            <a:prstGeom prst="rect">
              <a:avLst/>
            </a:prstGeom>
          </p:spPr>
          <p:txBody>
            <a:bodyPr lIns="0" tIns="0" rIns="0" bIns="0" rtlCol="0" anchor="ctr"/>
            <a:lstStyle/>
            <a:p>
              <a:pPr algn="ctr">
                <a:lnSpc>
                  <a:spcPts val="2879"/>
                </a:lnSpc>
              </a:pPr>
              <a:r>
                <a:rPr lang="en-US" sz="2400" b="1">
                  <a:solidFill>
                    <a:srgbClr val="FFFFFF"/>
                  </a:solidFill>
                  <a:latin typeface="Calibri (MS) Bold"/>
                  <a:ea typeface="Calibri (MS) Bold"/>
                  <a:cs typeface="Calibri (MS) Bold"/>
                  <a:sym typeface="Calibri (MS) Bold"/>
                </a:rPr>
                <a:t>ConsoleUI</a:t>
              </a:r>
            </a:p>
            <a:p>
              <a:pPr algn="ctr">
                <a:lnSpc>
                  <a:spcPts val="2160"/>
                </a:lnSpc>
              </a:pPr>
              <a:r>
                <a:rPr lang="en-US" sz="1800">
                  <a:solidFill>
                    <a:srgbClr val="FFFFFF"/>
                  </a:solidFill>
                  <a:latin typeface="Calibri (MS)"/>
                  <a:ea typeface="Calibri (MS)"/>
                  <a:cs typeface="Calibri (MS)"/>
                  <a:sym typeface="Calibri (MS)"/>
                </a:rPr>
                <a:t>menu and user input</a:t>
              </a:r>
            </a:p>
          </p:txBody>
        </p:sp>
      </p:grpSp>
      <p:sp>
        <p:nvSpPr>
          <p:cNvPr id="13" name="AutoShape 13"/>
          <p:cNvSpPr/>
          <p:nvPr/>
        </p:nvSpPr>
        <p:spPr>
          <a:xfrm rot="5136060">
            <a:off x="8934850" y="3316605"/>
            <a:ext cx="372570" cy="0"/>
          </a:xfrm>
          <a:prstGeom prst="line">
            <a:avLst/>
          </a:prstGeom>
          <a:ln w="19050" cap="rnd">
            <a:solidFill>
              <a:srgbClr val="64748B"/>
            </a:solidFill>
            <a:prstDash val="solid"/>
            <a:headEnd type="none" w="sm" len="sm"/>
            <a:tailEnd type="none" w="sm" len="sm"/>
          </a:ln>
        </p:spPr>
      </p:sp>
      <p:sp>
        <p:nvSpPr>
          <p:cNvPr id="14" name="AutoShape 14"/>
          <p:cNvSpPr/>
          <p:nvPr/>
        </p:nvSpPr>
        <p:spPr>
          <a:xfrm rot="7920">
            <a:off x="2934633" y="3488055"/>
            <a:ext cx="12373004" cy="0"/>
          </a:xfrm>
          <a:prstGeom prst="line">
            <a:avLst/>
          </a:prstGeom>
          <a:ln w="19050" cap="rnd">
            <a:solidFill>
              <a:srgbClr val="64748B"/>
            </a:solidFill>
            <a:prstDash val="solid"/>
            <a:headEnd type="none" w="sm" len="sm"/>
            <a:tailEnd type="none" w="sm" len="sm"/>
          </a:ln>
        </p:spPr>
      </p:sp>
      <p:sp>
        <p:nvSpPr>
          <p:cNvPr id="15" name="AutoShape 15"/>
          <p:cNvSpPr/>
          <p:nvPr/>
        </p:nvSpPr>
        <p:spPr>
          <a:xfrm rot="5136060">
            <a:off x="2762650" y="3659505"/>
            <a:ext cx="372570" cy="0"/>
          </a:xfrm>
          <a:prstGeom prst="line">
            <a:avLst/>
          </a:prstGeom>
          <a:ln w="19050" cap="rnd">
            <a:solidFill>
              <a:srgbClr val="64748B"/>
            </a:solidFill>
            <a:prstDash val="solid"/>
            <a:headEnd type="none" w="sm" len="sm"/>
            <a:tailEnd type="none" w="sm" len="sm"/>
          </a:ln>
        </p:spPr>
      </p:sp>
      <p:sp>
        <p:nvSpPr>
          <p:cNvPr id="16" name="AutoShape 16"/>
          <p:cNvSpPr/>
          <p:nvPr/>
        </p:nvSpPr>
        <p:spPr>
          <a:xfrm rot="5136060">
            <a:off x="6877450" y="3659505"/>
            <a:ext cx="372570" cy="0"/>
          </a:xfrm>
          <a:prstGeom prst="line">
            <a:avLst/>
          </a:prstGeom>
          <a:ln w="19050" cap="rnd">
            <a:solidFill>
              <a:srgbClr val="64748B"/>
            </a:solidFill>
            <a:prstDash val="solid"/>
            <a:headEnd type="none" w="sm" len="sm"/>
            <a:tailEnd type="none" w="sm" len="sm"/>
          </a:ln>
        </p:spPr>
      </p:sp>
      <p:sp>
        <p:nvSpPr>
          <p:cNvPr id="17" name="AutoShape 17"/>
          <p:cNvSpPr/>
          <p:nvPr/>
        </p:nvSpPr>
        <p:spPr>
          <a:xfrm rot="5136060">
            <a:off x="10992250" y="3659505"/>
            <a:ext cx="372570" cy="0"/>
          </a:xfrm>
          <a:prstGeom prst="line">
            <a:avLst/>
          </a:prstGeom>
          <a:ln w="19050" cap="rnd">
            <a:solidFill>
              <a:srgbClr val="64748B"/>
            </a:solidFill>
            <a:prstDash val="solid"/>
            <a:headEnd type="none" w="sm" len="sm"/>
            <a:tailEnd type="none" w="sm" len="sm"/>
          </a:ln>
        </p:spPr>
      </p:sp>
      <p:sp>
        <p:nvSpPr>
          <p:cNvPr id="18" name="AutoShape 18"/>
          <p:cNvSpPr/>
          <p:nvPr/>
        </p:nvSpPr>
        <p:spPr>
          <a:xfrm rot="5136060">
            <a:off x="15107050" y="3659505"/>
            <a:ext cx="372570" cy="0"/>
          </a:xfrm>
          <a:prstGeom prst="line">
            <a:avLst/>
          </a:prstGeom>
          <a:ln w="19050" cap="rnd">
            <a:solidFill>
              <a:srgbClr val="64748B"/>
            </a:solidFill>
            <a:prstDash val="solid"/>
            <a:headEnd type="none" w="sm" len="sm"/>
            <a:tailEnd type="none" w="sm" len="sm"/>
          </a:ln>
        </p:spPr>
      </p:sp>
      <p:grpSp>
        <p:nvGrpSpPr>
          <p:cNvPr id="19" name="Group 19"/>
          <p:cNvGrpSpPr/>
          <p:nvPr/>
        </p:nvGrpSpPr>
        <p:grpSpPr>
          <a:xfrm>
            <a:off x="1087755" y="3830955"/>
            <a:ext cx="3722370" cy="1322070"/>
            <a:chOff x="0" y="0"/>
            <a:chExt cx="4963160" cy="1762760"/>
          </a:xfrm>
        </p:grpSpPr>
        <p:sp>
          <p:nvSpPr>
            <p:cNvPr id="20" name="Freeform 20"/>
            <p:cNvSpPr/>
            <p:nvPr/>
          </p:nvSpPr>
          <p:spPr>
            <a:xfrm>
              <a:off x="0" y="0"/>
              <a:ext cx="4963160" cy="1762760"/>
            </a:xfrm>
            <a:custGeom>
              <a:avLst/>
              <a:gdLst/>
              <a:ahLst/>
              <a:cxnLst/>
              <a:rect l="l" t="t" r="r" b="b"/>
              <a:pathLst>
                <a:path w="4963160" h="1762760">
                  <a:moveTo>
                    <a:pt x="0" y="185547"/>
                  </a:moveTo>
                  <a:cubicBezTo>
                    <a:pt x="0" y="83058"/>
                    <a:pt x="83058" y="0"/>
                    <a:pt x="185547" y="0"/>
                  </a:cubicBezTo>
                  <a:lnTo>
                    <a:pt x="4777613" y="0"/>
                  </a:lnTo>
                  <a:cubicBezTo>
                    <a:pt x="4880102" y="0"/>
                    <a:pt x="4963160" y="83058"/>
                    <a:pt x="4963160" y="185547"/>
                  </a:cubicBezTo>
                  <a:lnTo>
                    <a:pt x="4963160" y="1577213"/>
                  </a:lnTo>
                  <a:cubicBezTo>
                    <a:pt x="4963160" y="1679702"/>
                    <a:pt x="4880102" y="1762760"/>
                    <a:pt x="4777613" y="1762760"/>
                  </a:cubicBezTo>
                  <a:lnTo>
                    <a:pt x="185547" y="1762760"/>
                  </a:lnTo>
                  <a:cubicBezTo>
                    <a:pt x="83058" y="1762760"/>
                    <a:pt x="0" y="1679702"/>
                    <a:pt x="0" y="1577213"/>
                  </a:cubicBezTo>
                  <a:close/>
                </a:path>
              </a:pathLst>
            </a:custGeom>
            <a:solidFill>
              <a:srgbClr val="1E3A5F"/>
            </a:solidFill>
            <a:ln w="19050" cap="sq">
              <a:solidFill>
                <a:srgbClr val="1E3A5F"/>
              </a:solidFill>
              <a:prstDash val="solid"/>
              <a:miter/>
            </a:ln>
          </p:spPr>
        </p:sp>
      </p:grpSp>
      <p:grpSp>
        <p:nvGrpSpPr>
          <p:cNvPr id="21" name="Group 21"/>
          <p:cNvGrpSpPr/>
          <p:nvPr/>
        </p:nvGrpSpPr>
        <p:grpSpPr>
          <a:xfrm>
            <a:off x="1097280" y="3840480"/>
            <a:ext cx="3703320" cy="1303020"/>
            <a:chOff x="0" y="0"/>
            <a:chExt cx="4937760" cy="1737360"/>
          </a:xfrm>
        </p:grpSpPr>
        <p:sp>
          <p:nvSpPr>
            <p:cNvPr id="22" name="Freeform 22"/>
            <p:cNvSpPr/>
            <p:nvPr/>
          </p:nvSpPr>
          <p:spPr>
            <a:xfrm>
              <a:off x="0" y="0"/>
              <a:ext cx="4937760" cy="1737360"/>
            </a:xfrm>
            <a:custGeom>
              <a:avLst/>
              <a:gdLst/>
              <a:ahLst/>
              <a:cxnLst/>
              <a:rect l="l" t="t" r="r" b="b"/>
              <a:pathLst>
                <a:path w="4937760" h="1737360">
                  <a:moveTo>
                    <a:pt x="0" y="0"/>
                  </a:moveTo>
                  <a:lnTo>
                    <a:pt x="4937760" y="0"/>
                  </a:lnTo>
                  <a:lnTo>
                    <a:pt x="4937760" y="1737360"/>
                  </a:lnTo>
                  <a:lnTo>
                    <a:pt x="0" y="1737360"/>
                  </a:lnTo>
                  <a:close/>
                </a:path>
              </a:pathLst>
            </a:custGeom>
            <a:blipFill>
              <a:blip r:embed="rId2">
                <a:alphaModFix amt="0"/>
              </a:blip>
              <a:stretch>
                <a:fillRect t="-5378" b="-5378"/>
              </a:stretch>
            </a:blipFill>
          </p:spPr>
        </p:sp>
        <p:sp>
          <p:nvSpPr>
            <p:cNvPr id="23" name="TextBox 23"/>
            <p:cNvSpPr txBox="1"/>
            <p:nvPr/>
          </p:nvSpPr>
          <p:spPr>
            <a:xfrm>
              <a:off x="0" y="-38100"/>
              <a:ext cx="4937760" cy="1775460"/>
            </a:xfrm>
            <a:prstGeom prst="rect">
              <a:avLst/>
            </a:prstGeom>
          </p:spPr>
          <p:txBody>
            <a:bodyPr lIns="0" tIns="0" rIns="0" bIns="0" rtlCol="0" anchor="ctr"/>
            <a:lstStyle/>
            <a:p>
              <a:pPr algn="ctr">
                <a:lnSpc>
                  <a:spcPts val="2879"/>
                </a:lnSpc>
              </a:pPr>
              <a:r>
                <a:rPr lang="en-US" sz="2400" b="1">
                  <a:solidFill>
                    <a:srgbClr val="FFFFFF"/>
                  </a:solidFill>
                  <a:latin typeface="Calibri (MS) Bold"/>
                  <a:ea typeface="Calibri (MS) Bold"/>
                  <a:cs typeface="Calibri (MS) Bold"/>
                  <a:sym typeface="Calibri (MS) Bold"/>
                </a:rPr>
                <a:t>Simulation</a:t>
              </a:r>
            </a:p>
            <a:p>
              <a:pPr algn="ctr">
                <a:lnSpc>
                  <a:spcPts val="2160"/>
                </a:lnSpc>
              </a:pPr>
              <a:r>
                <a:rPr lang="en-US" sz="1800">
                  <a:solidFill>
                    <a:srgbClr val="FFFFFF"/>
                  </a:solidFill>
                  <a:latin typeface="Calibri (MS)"/>
                  <a:ea typeface="Calibri (MS)"/>
                  <a:cs typeface="Calibri (MS)"/>
                  <a:sym typeface="Calibri (MS)"/>
                </a:rPr>
                <a:t>owns objects, finds approaches</a:t>
              </a:r>
            </a:p>
          </p:txBody>
        </p:sp>
      </p:grpSp>
      <p:grpSp>
        <p:nvGrpSpPr>
          <p:cNvPr id="24" name="Group 24"/>
          <p:cNvGrpSpPr/>
          <p:nvPr/>
        </p:nvGrpSpPr>
        <p:grpSpPr>
          <a:xfrm>
            <a:off x="5202555" y="3830955"/>
            <a:ext cx="3722370" cy="1322070"/>
            <a:chOff x="0" y="0"/>
            <a:chExt cx="4963160" cy="1762760"/>
          </a:xfrm>
        </p:grpSpPr>
        <p:sp>
          <p:nvSpPr>
            <p:cNvPr id="25" name="Freeform 25"/>
            <p:cNvSpPr/>
            <p:nvPr/>
          </p:nvSpPr>
          <p:spPr>
            <a:xfrm>
              <a:off x="0" y="0"/>
              <a:ext cx="4963160" cy="1762760"/>
            </a:xfrm>
            <a:custGeom>
              <a:avLst/>
              <a:gdLst/>
              <a:ahLst/>
              <a:cxnLst/>
              <a:rect l="l" t="t" r="r" b="b"/>
              <a:pathLst>
                <a:path w="4963160" h="1762760">
                  <a:moveTo>
                    <a:pt x="0" y="185547"/>
                  </a:moveTo>
                  <a:cubicBezTo>
                    <a:pt x="0" y="83058"/>
                    <a:pt x="83058" y="0"/>
                    <a:pt x="185547" y="0"/>
                  </a:cubicBezTo>
                  <a:lnTo>
                    <a:pt x="4777613" y="0"/>
                  </a:lnTo>
                  <a:cubicBezTo>
                    <a:pt x="4880102" y="0"/>
                    <a:pt x="4963160" y="83058"/>
                    <a:pt x="4963160" y="185547"/>
                  </a:cubicBezTo>
                  <a:lnTo>
                    <a:pt x="4963160" y="1577213"/>
                  </a:lnTo>
                  <a:cubicBezTo>
                    <a:pt x="4963160" y="1679702"/>
                    <a:pt x="4880102" y="1762760"/>
                    <a:pt x="4777613" y="1762760"/>
                  </a:cubicBezTo>
                  <a:lnTo>
                    <a:pt x="185547" y="1762760"/>
                  </a:lnTo>
                  <a:cubicBezTo>
                    <a:pt x="83058" y="1762760"/>
                    <a:pt x="0" y="1679702"/>
                    <a:pt x="0" y="1577213"/>
                  </a:cubicBezTo>
                  <a:close/>
                </a:path>
              </a:pathLst>
            </a:custGeom>
            <a:solidFill>
              <a:srgbClr val="1E3A5F"/>
            </a:solidFill>
            <a:ln w="19050" cap="sq">
              <a:solidFill>
                <a:srgbClr val="1E3A5F"/>
              </a:solidFill>
              <a:prstDash val="solid"/>
              <a:miter/>
            </a:ln>
          </p:spPr>
        </p:sp>
      </p:grpSp>
      <p:grpSp>
        <p:nvGrpSpPr>
          <p:cNvPr id="26" name="Group 26"/>
          <p:cNvGrpSpPr/>
          <p:nvPr/>
        </p:nvGrpSpPr>
        <p:grpSpPr>
          <a:xfrm>
            <a:off x="5212080" y="3840480"/>
            <a:ext cx="3703320" cy="1303020"/>
            <a:chOff x="0" y="0"/>
            <a:chExt cx="4937760" cy="1737360"/>
          </a:xfrm>
        </p:grpSpPr>
        <p:sp>
          <p:nvSpPr>
            <p:cNvPr id="27" name="Freeform 27"/>
            <p:cNvSpPr/>
            <p:nvPr/>
          </p:nvSpPr>
          <p:spPr>
            <a:xfrm>
              <a:off x="0" y="0"/>
              <a:ext cx="4937760" cy="1737360"/>
            </a:xfrm>
            <a:custGeom>
              <a:avLst/>
              <a:gdLst/>
              <a:ahLst/>
              <a:cxnLst/>
              <a:rect l="l" t="t" r="r" b="b"/>
              <a:pathLst>
                <a:path w="4937760" h="1737360">
                  <a:moveTo>
                    <a:pt x="0" y="0"/>
                  </a:moveTo>
                  <a:lnTo>
                    <a:pt x="4937760" y="0"/>
                  </a:lnTo>
                  <a:lnTo>
                    <a:pt x="4937760" y="1737360"/>
                  </a:lnTo>
                  <a:lnTo>
                    <a:pt x="0" y="1737360"/>
                  </a:lnTo>
                  <a:close/>
                </a:path>
              </a:pathLst>
            </a:custGeom>
            <a:blipFill>
              <a:blip r:embed="rId2">
                <a:alphaModFix amt="0"/>
              </a:blip>
              <a:stretch>
                <a:fillRect t="-5378" b="-5378"/>
              </a:stretch>
            </a:blipFill>
          </p:spPr>
        </p:sp>
        <p:sp>
          <p:nvSpPr>
            <p:cNvPr id="28" name="TextBox 28"/>
            <p:cNvSpPr txBox="1"/>
            <p:nvPr/>
          </p:nvSpPr>
          <p:spPr>
            <a:xfrm>
              <a:off x="0" y="-38100"/>
              <a:ext cx="4937760" cy="1775460"/>
            </a:xfrm>
            <a:prstGeom prst="rect">
              <a:avLst/>
            </a:prstGeom>
          </p:spPr>
          <p:txBody>
            <a:bodyPr lIns="0" tIns="0" rIns="0" bIns="0" rtlCol="0" anchor="ctr"/>
            <a:lstStyle/>
            <a:p>
              <a:pPr algn="ctr">
                <a:lnSpc>
                  <a:spcPts val="2879"/>
                </a:lnSpc>
              </a:pPr>
              <a:r>
                <a:rPr lang="en-US" sz="2400" b="1">
                  <a:solidFill>
                    <a:srgbClr val="FFFFFF"/>
                  </a:solidFill>
                  <a:latin typeface="Calibri (MS) Bold"/>
                  <a:ea typeface="Calibri (MS) Bold"/>
                  <a:cs typeface="Calibri (MS) Bold"/>
                  <a:sym typeface="Calibri (MS) Bold"/>
                </a:rPr>
                <a:t>RiskAnalyzer</a:t>
              </a:r>
            </a:p>
            <a:p>
              <a:pPr algn="ctr">
                <a:lnSpc>
                  <a:spcPts val="2160"/>
                </a:lnSpc>
              </a:pPr>
              <a:r>
                <a:rPr lang="en-US" sz="1800">
                  <a:solidFill>
                    <a:srgbClr val="FFFFFF"/>
                  </a:solidFill>
                  <a:latin typeface="Calibri (MS)"/>
                  <a:ea typeface="Calibri (MS)"/>
                  <a:cs typeface="Calibri (MS)"/>
                  <a:sym typeface="Calibri (MS)"/>
                </a:rPr>
                <a:t>scores and classifies</a:t>
              </a:r>
            </a:p>
          </p:txBody>
        </p:sp>
      </p:grpSp>
      <p:grpSp>
        <p:nvGrpSpPr>
          <p:cNvPr id="29" name="Group 29"/>
          <p:cNvGrpSpPr/>
          <p:nvPr/>
        </p:nvGrpSpPr>
        <p:grpSpPr>
          <a:xfrm>
            <a:off x="9317355" y="3830955"/>
            <a:ext cx="3722370" cy="1322070"/>
            <a:chOff x="0" y="0"/>
            <a:chExt cx="4963160" cy="1762760"/>
          </a:xfrm>
        </p:grpSpPr>
        <p:sp>
          <p:nvSpPr>
            <p:cNvPr id="30" name="Freeform 30"/>
            <p:cNvSpPr/>
            <p:nvPr/>
          </p:nvSpPr>
          <p:spPr>
            <a:xfrm>
              <a:off x="0" y="0"/>
              <a:ext cx="4963160" cy="1762760"/>
            </a:xfrm>
            <a:custGeom>
              <a:avLst/>
              <a:gdLst/>
              <a:ahLst/>
              <a:cxnLst/>
              <a:rect l="l" t="t" r="r" b="b"/>
              <a:pathLst>
                <a:path w="4963160" h="1762760">
                  <a:moveTo>
                    <a:pt x="0" y="185547"/>
                  </a:moveTo>
                  <a:cubicBezTo>
                    <a:pt x="0" y="83058"/>
                    <a:pt x="83058" y="0"/>
                    <a:pt x="185547" y="0"/>
                  </a:cubicBezTo>
                  <a:lnTo>
                    <a:pt x="4777613" y="0"/>
                  </a:lnTo>
                  <a:cubicBezTo>
                    <a:pt x="4880102" y="0"/>
                    <a:pt x="4963160" y="83058"/>
                    <a:pt x="4963160" y="185547"/>
                  </a:cubicBezTo>
                  <a:lnTo>
                    <a:pt x="4963160" y="1577213"/>
                  </a:lnTo>
                  <a:cubicBezTo>
                    <a:pt x="4963160" y="1679702"/>
                    <a:pt x="4880102" y="1762760"/>
                    <a:pt x="4777613" y="1762760"/>
                  </a:cubicBezTo>
                  <a:lnTo>
                    <a:pt x="185547" y="1762760"/>
                  </a:lnTo>
                  <a:cubicBezTo>
                    <a:pt x="83058" y="1762760"/>
                    <a:pt x="0" y="1679702"/>
                    <a:pt x="0" y="1577213"/>
                  </a:cubicBezTo>
                  <a:close/>
                </a:path>
              </a:pathLst>
            </a:custGeom>
            <a:solidFill>
              <a:srgbClr val="1E3A5F"/>
            </a:solidFill>
            <a:ln w="19050" cap="sq">
              <a:solidFill>
                <a:srgbClr val="1E3A5F"/>
              </a:solidFill>
              <a:prstDash val="solid"/>
              <a:miter/>
            </a:ln>
          </p:spPr>
        </p:sp>
      </p:grpSp>
      <p:grpSp>
        <p:nvGrpSpPr>
          <p:cNvPr id="31" name="Group 31"/>
          <p:cNvGrpSpPr/>
          <p:nvPr/>
        </p:nvGrpSpPr>
        <p:grpSpPr>
          <a:xfrm>
            <a:off x="9326880" y="3840480"/>
            <a:ext cx="3703320" cy="1303020"/>
            <a:chOff x="0" y="0"/>
            <a:chExt cx="4937760" cy="1737360"/>
          </a:xfrm>
        </p:grpSpPr>
        <p:sp>
          <p:nvSpPr>
            <p:cNvPr id="32" name="Freeform 32"/>
            <p:cNvSpPr/>
            <p:nvPr/>
          </p:nvSpPr>
          <p:spPr>
            <a:xfrm>
              <a:off x="0" y="0"/>
              <a:ext cx="4937760" cy="1737360"/>
            </a:xfrm>
            <a:custGeom>
              <a:avLst/>
              <a:gdLst/>
              <a:ahLst/>
              <a:cxnLst/>
              <a:rect l="l" t="t" r="r" b="b"/>
              <a:pathLst>
                <a:path w="4937760" h="1737360">
                  <a:moveTo>
                    <a:pt x="0" y="0"/>
                  </a:moveTo>
                  <a:lnTo>
                    <a:pt x="4937760" y="0"/>
                  </a:lnTo>
                  <a:lnTo>
                    <a:pt x="4937760" y="1737360"/>
                  </a:lnTo>
                  <a:lnTo>
                    <a:pt x="0" y="1737360"/>
                  </a:lnTo>
                  <a:close/>
                </a:path>
              </a:pathLst>
            </a:custGeom>
            <a:blipFill>
              <a:blip r:embed="rId2">
                <a:alphaModFix amt="0"/>
              </a:blip>
              <a:stretch>
                <a:fillRect t="-5378" b="-5378"/>
              </a:stretch>
            </a:blipFill>
          </p:spPr>
        </p:sp>
        <p:sp>
          <p:nvSpPr>
            <p:cNvPr id="33" name="TextBox 33"/>
            <p:cNvSpPr txBox="1"/>
            <p:nvPr/>
          </p:nvSpPr>
          <p:spPr>
            <a:xfrm>
              <a:off x="0" y="-38100"/>
              <a:ext cx="4937760" cy="1775460"/>
            </a:xfrm>
            <a:prstGeom prst="rect">
              <a:avLst/>
            </a:prstGeom>
          </p:spPr>
          <p:txBody>
            <a:bodyPr lIns="0" tIns="0" rIns="0" bIns="0" rtlCol="0" anchor="ctr"/>
            <a:lstStyle/>
            <a:p>
              <a:pPr algn="ctr">
                <a:lnSpc>
                  <a:spcPts val="2879"/>
                </a:lnSpc>
              </a:pPr>
              <a:r>
                <a:rPr lang="en-US" sz="2400" b="1">
                  <a:solidFill>
                    <a:srgbClr val="FFFFFF"/>
                  </a:solidFill>
                  <a:latin typeface="Calibri (MS) Bold"/>
                  <a:ea typeface="Calibri (MS) Bold"/>
                  <a:cs typeface="Calibri (MS) Bold"/>
                  <a:sym typeface="Calibri (MS) Bold"/>
                </a:rPr>
                <a:t>DataManager</a:t>
              </a:r>
            </a:p>
            <a:p>
              <a:pPr algn="ctr">
                <a:lnSpc>
                  <a:spcPts val="2160"/>
                </a:lnSpc>
              </a:pPr>
              <a:r>
                <a:rPr lang="en-US" sz="1800">
                  <a:solidFill>
                    <a:srgbClr val="FFFFFF"/>
                  </a:solidFill>
                  <a:latin typeface="Calibri (MS)"/>
                  <a:ea typeface="Calibri (MS)"/>
                  <a:cs typeface="Calibri (MS)"/>
                  <a:sym typeface="Calibri (MS)"/>
                </a:rPr>
                <a:t>save and load files</a:t>
              </a:r>
            </a:p>
          </p:txBody>
        </p:sp>
      </p:grpSp>
      <p:grpSp>
        <p:nvGrpSpPr>
          <p:cNvPr id="34" name="Group 34"/>
          <p:cNvGrpSpPr/>
          <p:nvPr/>
        </p:nvGrpSpPr>
        <p:grpSpPr>
          <a:xfrm>
            <a:off x="13432155" y="3830955"/>
            <a:ext cx="3722370" cy="1322070"/>
            <a:chOff x="0" y="0"/>
            <a:chExt cx="4963160" cy="1762760"/>
          </a:xfrm>
        </p:grpSpPr>
        <p:sp>
          <p:nvSpPr>
            <p:cNvPr id="35" name="Freeform 35"/>
            <p:cNvSpPr/>
            <p:nvPr/>
          </p:nvSpPr>
          <p:spPr>
            <a:xfrm>
              <a:off x="0" y="0"/>
              <a:ext cx="4963160" cy="1762760"/>
            </a:xfrm>
            <a:custGeom>
              <a:avLst/>
              <a:gdLst/>
              <a:ahLst/>
              <a:cxnLst/>
              <a:rect l="l" t="t" r="r" b="b"/>
              <a:pathLst>
                <a:path w="4963160" h="1762760">
                  <a:moveTo>
                    <a:pt x="0" y="185547"/>
                  </a:moveTo>
                  <a:cubicBezTo>
                    <a:pt x="0" y="83058"/>
                    <a:pt x="83058" y="0"/>
                    <a:pt x="185547" y="0"/>
                  </a:cubicBezTo>
                  <a:lnTo>
                    <a:pt x="4777613" y="0"/>
                  </a:lnTo>
                  <a:cubicBezTo>
                    <a:pt x="4880102" y="0"/>
                    <a:pt x="4963160" y="83058"/>
                    <a:pt x="4963160" y="185547"/>
                  </a:cubicBezTo>
                  <a:lnTo>
                    <a:pt x="4963160" y="1577213"/>
                  </a:lnTo>
                  <a:cubicBezTo>
                    <a:pt x="4963160" y="1679702"/>
                    <a:pt x="4880102" y="1762760"/>
                    <a:pt x="4777613" y="1762760"/>
                  </a:cubicBezTo>
                  <a:lnTo>
                    <a:pt x="185547" y="1762760"/>
                  </a:lnTo>
                  <a:cubicBezTo>
                    <a:pt x="83058" y="1762760"/>
                    <a:pt x="0" y="1679702"/>
                    <a:pt x="0" y="1577213"/>
                  </a:cubicBezTo>
                  <a:close/>
                </a:path>
              </a:pathLst>
            </a:custGeom>
            <a:solidFill>
              <a:srgbClr val="1E3A5F"/>
            </a:solidFill>
            <a:ln w="19050" cap="sq">
              <a:solidFill>
                <a:srgbClr val="1E3A5F"/>
              </a:solidFill>
              <a:prstDash val="solid"/>
              <a:miter/>
            </a:ln>
          </p:spPr>
        </p:sp>
      </p:grpSp>
      <p:grpSp>
        <p:nvGrpSpPr>
          <p:cNvPr id="36" name="Group 36"/>
          <p:cNvGrpSpPr/>
          <p:nvPr/>
        </p:nvGrpSpPr>
        <p:grpSpPr>
          <a:xfrm>
            <a:off x="13441680" y="3840480"/>
            <a:ext cx="3703320" cy="1303020"/>
            <a:chOff x="0" y="0"/>
            <a:chExt cx="4937760" cy="1737360"/>
          </a:xfrm>
        </p:grpSpPr>
        <p:sp>
          <p:nvSpPr>
            <p:cNvPr id="37" name="Freeform 37"/>
            <p:cNvSpPr/>
            <p:nvPr/>
          </p:nvSpPr>
          <p:spPr>
            <a:xfrm>
              <a:off x="0" y="0"/>
              <a:ext cx="4937760" cy="1737360"/>
            </a:xfrm>
            <a:custGeom>
              <a:avLst/>
              <a:gdLst/>
              <a:ahLst/>
              <a:cxnLst/>
              <a:rect l="l" t="t" r="r" b="b"/>
              <a:pathLst>
                <a:path w="4937760" h="1737360">
                  <a:moveTo>
                    <a:pt x="0" y="0"/>
                  </a:moveTo>
                  <a:lnTo>
                    <a:pt x="4937760" y="0"/>
                  </a:lnTo>
                  <a:lnTo>
                    <a:pt x="4937760" y="1737360"/>
                  </a:lnTo>
                  <a:lnTo>
                    <a:pt x="0" y="1737360"/>
                  </a:lnTo>
                  <a:close/>
                </a:path>
              </a:pathLst>
            </a:custGeom>
            <a:blipFill>
              <a:blip r:embed="rId2">
                <a:alphaModFix amt="0"/>
              </a:blip>
              <a:stretch>
                <a:fillRect t="-5378" b="-5378"/>
              </a:stretch>
            </a:blipFill>
          </p:spPr>
        </p:sp>
        <p:sp>
          <p:nvSpPr>
            <p:cNvPr id="38" name="TextBox 38"/>
            <p:cNvSpPr txBox="1"/>
            <p:nvPr/>
          </p:nvSpPr>
          <p:spPr>
            <a:xfrm>
              <a:off x="0" y="-38100"/>
              <a:ext cx="4937760" cy="1775460"/>
            </a:xfrm>
            <a:prstGeom prst="rect">
              <a:avLst/>
            </a:prstGeom>
          </p:spPr>
          <p:txBody>
            <a:bodyPr lIns="0" tIns="0" rIns="0" bIns="0" rtlCol="0" anchor="ctr"/>
            <a:lstStyle/>
            <a:p>
              <a:pPr algn="ctr">
                <a:lnSpc>
                  <a:spcPts val="2879"/>
                </a:lnSpc>
              </a:pPr>
              <a:r>
                <a:rPr lang="en-US" sz="2400" b="1">
                  <a:solidFill>
                    <a:srgbClr val="FFFFFF"/>
                  </a:solidFill>
                  <a:latin typeface="Calibri (MS) Bold"/>
                  <a:ea typeface="Calibri (MS) Bold"/>
                  <a:cs typeface="Calibri (MS) Bold"/>
                  <a:sym typeface="Calibri (MS) Bold"/>
                </a:rPr>
                <a:t>ReportGenerator</a:t>
              </a:r>
            </a:p>
            <a:p>
              <a:pPr algn="ctr">
                <a:lnSpc>
                  <a:spcPts val="2160"/>
                </a:lnSpc>
              </a:pPr>
              <a:r>
                <a:rPr lang="en-US" sz="1800">
                  <a:solidFill>
                    <a:srgbClr val="FFFFFF"/>
                  </a:solidFill>
                  <a:latin typeface="Calibri (MS)"/>
                  <a:ea typeface="Calibri (MS)"/>
                  <a:cs typeface="Calibri (MS)"/>
                  <a:sym typeface="Calibri (MS)"/>
                </a:rPr>
                <a:t>builds the report</a:t>
              </a:r>
            </a:p>
          </p:txBody>
        </p:sp>
      </p:grpSp>
      <p:sp>
        <p:nvSpPr>
          <p:cNvPr id="39" name="TextBox 39"/>
          <p:cNvSpPr txBox="1"/>
          <p:nvPr/>
        </p:nvSpPr>
        <p:spPr>
          <a:xfrm>
            <a:off x="3015128" y="5591592"/>
            <a:ext cx="2476395" cy="298543"/>
          </a:xfrm>
          <a:prstGeom prst="rect">
            <a:avLst/>
          </a:prstGeom>
        </p:spPr>
        <p:txBody>
          <a:bodyPr wrap="square" lIns="0" tIns="0" rIns="0" bIns="0" rtlCol="0" anchor="t">
            <a:spAutoFit/>
          </a:bodyPr>
          <a:lstStyle/>
          <a:p>
            <a:pPr algn="l">
              <a:lnSpc>
                <a:spcPts val="2399"/>
              </a:lnSpc>
            </a:pPr>
            <a:r>
              <a:rPr lang="en-US" sz="1999" b="1">
                <a:solidFill>
                  <a:srgbClr val="1E3A5F"/>
                </a:solidFill>
                <a:latin typeface="Calibri (MS) Bold"/>
                <a:ea typeface="Calibri (MS) Bold"/>
                <a:cs typeface="Calibri (MS) Bold"/>
                <a:sym typeface="Calibri (MS) Bold"/>
              </a:rPr>
              <a:t>OBJECT HIERARCHY</a:t>
            </a:r>
          </a:p>
        </p:txBody>
      </p:sp>
      <p:grpSp>
        <p:nvGrpSpPr>
          <p:cNvPr id="40" name="Group 40"/>
          <p:cNvGrpSpPr/>
          <p:nvPr/>
        </p:nvGrpSpPr>
        <p:grpSpPr>
          <a:xfrm>
            <a:off x="2733675" y="6094095"/>
            <a:ext cx="3036570" cy="1116330"/>
            <a:chOff x="0" y="0"/>
            <a:chExt cx="4048760" cy="1488440"/>
          </a:xfrm>
        </p:grpSpPr>
        <p:sp>
          <p:nvSpPr>
            <p:cNvPr id="41" name="Freeform 41"/>
            <p:cNvSpPr/>
            <p:nvPr/>
          </p:nvSpPr>
          <p:spPr>
            <a:xfrm>
              <a:off x="0" y="0"/>
              <a:ext cx="4048760" cy="1488440"/>
            </a:xfrm>
            <a:custGeom>
              <a:avLst/>
              <a:gdLst/>
              <a:ahLst/>
              <a:cxnLst/>
              <a:rect l="l" t="t" r="r" b="b"/>
              <a:pathLst>
                <a:path w="4048760" h="1488440">
                  <a:moveTo>
                    <a:pt x="0" y="186055"/>
                  </a:moveTo>
                  <a:cubicBezTo>
                    <a:pt x="0" y="83312"/>
                    <a:pt x="83312" y="0"/>
                    <a:pt x="186055" y="0"/>
                  </a:cubicBezTo>
                  <a:lnTo>
                    <a:pt x="3862705" y="0"/>
                  </a:lnTo>
                  <a:cubicBezTo>
                    <a:pt x="3965448" y="0"/>
                    <a:pt x="4048760" y="83312"/>
                    <a:pt x="4048760" y="186055"/>
                  </a:cubicBezTo>
                  <a:lnTo>
                    <a:pt x="4048760" y="1302385"/>
                  </a:lnTo>
                  <a:cubicBezTo>
                    <a:pt x="4048760" y="1405128"/>
                    <a:pt x="3965448" y="1488440"/>
                    <a:pt x="3862705" y="1488440"/>
                  </a:cubicBezTo>
                  <a:lnTo>
                    <a:pt x="186055" y="1488440"/>
                  </a:lnTo>
                  <a:cubicBezTo>
                    <a:pt x="83312" y="1488440"/>
                    <a:pt x="0" y="1405128"/>
                    <a:pt x="0" y="1302385"/>
                  </a:cubicBezTo>
                  <a:close/>
                </a:path>
              </a:pathLst>
            </a:custGeom>
            <a:solidFill>
              <a:srgbClr val="F59E0B"/>
            </a:solidFill>
            <a:ln w="19050" cap="sq">
              <a:solidFill>
                <a:srgbClr val="F59E0B"/>
              </a:solidFill>
              <a:prstDash val="solid"/>
              <a:miter/>
            </a:ln>
          </p:spPr>
        </p:sp>
      </p:grpSp>
      <p:grpSp>
        <p:nvGrpSpPr>
          <p:cNvPr id="42" name="Group 42"/>
          <p:cNvGrpSpPr/>
          <p:nvPr/>
        </p:nvGrpSpPr>
        <p:grpSpPr>
          <a:xfrm>
            <a:off x="2743200" y="6103620"/>
            <a:ext cx="3017520" cy="1097280"/>
            <a:chOff x="0" y="0"/>
            <a:chExt cx="4023360" cy="1463040"/>
          </a:xfrm>
        </p:grpSpPr>
        <p:sp>
          <p:nvSpPr>
            <p:cNvPr id="43" name="Freeform 43"/>
            <p:cNvSpPr/>
            <p:nvPr/>
          </p:nvSpPr>
          <p:spPr>
            <a:xfrm>
              <a:off x="0" y="0"/>
              <a:ext cx="4023360" cy="1463040"/>
            </a:xfrm>
            <a:custGeom>
              <a:avLst/>
              <a:gdLst/>
              <a:ahLst/>
              <a:cxnLst/>
              <a:rect l="l" t="t" r="r" b="b"/>
              <a:pathLst>
                <a:path w="4023360" h="1463040">
                  <a:moveTo>
                    <a:pt x="0" y="0"/>
                  </a:moveTo>
                  <a:lnTo>
                    <a:pt x="4023360" y="0"/>
                  </a:lnTo>
                  <a:lnTo>
                    <a:pt x="4023360" y="1463040"/>
                  </a:lnTo>
                  <a:lnTo>
                    <a:pt x="0" y="1463040"/>
                  </a:lnTo>
                  <a:close/>
                </a:path>
              </a:pathLst>
            </a:custGeom>
            <a:blipFill>
              <a:blip r:embed="rId2">
                <a:alphaModFix amt="0"/>
              </a:blip>
              <a:stretch>
                <a:fillRect t="-3583" b="-3583"/>
              </a:stretch>
            </a:blipFill>
          </p:spPr>
        </p:sp>
        <p:sp>
          <p:nvSpPr>
            <p:cNvPr id="44" name="TextBox 44"/>
            <p:cNvSpPr txBox="1"/>
            <p:nvPr/>
          </p:nvSpPr>
          <p:spPr>
            <a:xfrm>
              <a:off x="0" y="-38100"/>
              <a:ext cx="4023360" cy="1501140"/>
            </a:xfrm>
            <a:prstGeom prst="rect">
              <a:avLst/>
            </a:prstGeom>
          </p:spPr>
          <p:txBody>
            <a:bodyPr lIns="0" tIns="0" rIns="0" bIns="0" rtlCol="0" anchor="ctr"/>
            <a:lstStyle/>
            <a:p>
              <a:pPr algn="ctr">
                <a:lnSpc>
                  <a:spcPts val="2879"/>
                </a:lnSpc>
              </a:pPr>
              <a:r>
                <a:rPr lang="en-US" sz="2400" b="1">
                  <a:solidFill>
                    <a:srgbClr val="0B1B33"/>
                  </a:solidFill>
                  <a:latin typeface="Calibri (MS) Bold"/>
                  <a:ea typeface="Calibri (MS) Bold"/>
                  <a:cs typeface="Calibri (MS) Bold"/>
                  <a:sym typeface="Calibri (MS) Bold"/>
                </a:rPr>
                <a:t>OrbitalObject</a:t>
              </a:r>
            </a:p>
            <a:p>
              <a:pPr algn="ctr">
                <a:lnSpc>
                  <a:spcPts val="2160"/>
                </a:lnSpc>
              </a:pPr>
              <a:r>
                <a:rPr lang="en-US" sz="1800">
                  <a:solidFill>
                    <a:srgbClr val="0B1B33"/>
                  </a:solidFill>
                  <a:latin typeface="Calibri (MS)"/>
                  <a:ea typeface="Calibri (MS)"/>
                  <a:cs typeface="Calibri (MS)"/>
                  <a:sym typeface="Calibri (MS)"/>
                </a:rPr>
                <a:t>abstract base class</a:t>
              </a:r>
            </a:p>
          </p:txBody>
        </p:sp>
      </p:grpSp>
      <p:sp>
        <p:nvSpPr>
          <p:cNvPr id="45" name="AutoShape 45"/>
          <p:cNvSpPr/>
          <p:nvPr/>
        </p:nvSpPr>
        <p:spPr>
          <a:xfrm rot="5136060">
            <a:off x="4065670" y="7362825"/>
            <a:ext cx="372570" cy="0"/>
          </a:xfrm>
          <a:prstGeom prst="line">
            <a:avLst/>
          </a:prstGeom>
          <a:ln w="19050" cap="rnd">
            <a:solidFill>
              <a:srgbClr val="64748B"/>
            </a:solidFill>
            <a:prstDash val="solid"/>
            <a:headEnd type="none" w="sm" len="sm"/>
            <a:tailEnd type="none" w="sm" len="sm"/>
          </a:ln>
        </p:spPr>
      </p:sp>
      <p:sp>
        <p:nvSpPr>
          <p:cNvPr id="46" name="AutoShape 46"/>
          <p:cNvSpPr/>
          <p:nvPr/>
        </p:nvSpPr>
        <p:spPr>
          <a:xfrm rot="20940">
            <a:off x="2180225" y="7534275"/>
            <a:ext cx="4692101" cy="0"/>
          </a:xfrm>
          <a:prstGeom prst="line">
            <a:avLst/>
          </a:prstGeom>
          <a:ln w="19050" cap="rnd">
            <a:solidFill>
              <a:srgbClr val="64748B"/>
            </a:solidFill>
            <a:prstDash val="solid"/>
            <a:headEnd type="none" w="sm" len="sm"/>
            <a:tailEnd type="none" w="sm" len="sm"/>
          </a:ln>
        </p:spPr>
      </p:sp>
      <p:sp>
        <p:nvSpPr>
          <p:cNvPr id="47" name="AutoShape 47"/>
          <p:cNvSpPr/>
          <p:nvPr/>
        </p:nvSpPr>
        <p:spPr>
          <a:xfrm rot="5136060">
            <a:off x="2008270" y="7705725"/>
            <a:ext cx="372570" cy="0"/>
          </a:xfrm>
          <a:prstGeom prst="line">
            <a:avLst/>
          </a:prstGeom>
          <a:ln w="19050" cap="rnd">
            <a:solidFill>
              <a:srgbClr val="64748B"/>
            </a:solidFill>
            <a:prstDash val="solid"/>
            <a:headEnd type="none" w="sm" len="sm"/>
            <a:tailEnd type="none" w="sm" len="sm"/>
          </a:ln>
        </p:spPr>
      </p:sp>
      <p:sp>
        <p:nvSpPr>
          <p:cNvPr id="48" name="AutoShape 48"/>
          <p:cNvSpPr/>
          <p:nvPr/>
        </p:nvSpPr>
        <p:spPr>
          <a:xfrm rot="5136060">
            <a:off x="4339990" y="7705725"/>
            <a:ext cx="372570" cy="0"/>
          </a:xfrm>
          <a:prstGeom prst="line">
            <a:avLst/>
          </a:prstGeom>
          <a:ln w="19050" cap="rnd">
            <a:solidFill>
              <a:srgbClr val="64748B"/>
            </a:solidFill>
            <a:prstDash val="solid"/>
            <a:headEnd type="none" w="sm" len="sm"/>
            <a:tailEnd type="none" w="sm" len="sm"/>
          </a:ln>
        </p:spPr>
      </p:sp>
      <p:sp>
        <p:nvSpPr>
          <p:cNvPr id="49" name="AutoShape 49"/>
          <p:cNvSpPr/>
          <p:nvPr/>
        </p:nvSpPr>
        <p:spPr>
          <a:xfrm rot="5136060">
            <a:off x="6671710" y="7705725"/>
            <a:ext cx="372570" cy="0"/>
          </a:xfrm>
          <a:prstGeom prst="line">
            <a:avLst/>
          </a:prstGeom>
          <a:ln w="19050" cap="rnd">
            <a:solidFill>
              <a:srgbClr val="64748B"/>
            </a:solidFill>
            <a:prstDash val="solid"/>
            <a:headEnd type="none" w="sm" len="sm"/>
            <a:tailEnd type="none" w="sm" len="sm"/>
          </a:ln>
        </p:spPr>
      </p:sp>
      <p:grpSp>
        <p:nvGrpSpPr>
          <p:cNvPr id="50" name="Group 50"/>
          <p:cNvGrpSpPr/>
          <p:nvPr/>
        </p:nvGrpSpPr>
        <p:grpSpPr>
          <a:xfrm>
            <a:off x="1087755" y="7877175"/>
            <a:ext cx="2213610" cy="979170"/>
            <a:chOff x="0" y="0"/>
            <a:chExt cx="2951480" cy="1305560"/>
          </a:xfrm>
        </p:grpSpPr>
        <p:sp>
          <p:nvSpPr>
            <p:cNvPr id="51" name="Freeform 51"/>
            <p:cNvSpPr/>
            <p:nvPr/>
          </p:nvSpPr>
          <p:spPr>
            <a:xfrm>
              <a:off x="0" y="0"/>
              <a:ext cx="2951480" cy="1305560"/>
            </a:xfrm>
            <a:custGeom>
              <a:avLst/>
              <a:gdLst/>
              <a:ahLst/>
              <a:cxnLst/>
              <a:rect l="l" t="t" r="r" b="b"/>
              <a:pathLst>
                <a:path w="2951480" h="1305560">
                  <a:moveTo>
                    <a:pt x="0" y="186563"/>
                  </a:moveTo>
                  <a:cubicBezTo>
                    <a:pt x="0" y="83566"/>
                    <a:pt x="83566" y="0"/>
                    <a:pt x="186563" y="0"/>
                  </a:cubicBezTo>
                  <a:lnTo>
                    <a:pt x="2764917" y="0"/>
                  </a:lnTo>
                  <a:cubicBezTo>
                    <a:pt x="2867914" y="0"/>
                    <a:pt x="2951480" y="83566"/>
                    <a:pt x="2951480" y="186563"/>
                  </a:cubicBezTo>
                  <a:lnTo>
                    <a:pt x="2951480" y="1118997"/>
                  </a:lnTo>
                  <a:cubicBezTo>
                    <a:pt x="2951480" y="1221994"/>
                    <a:pt x="2867914" y="1305560"/>
                    <a:pt x="2764917" y="1305560"/>
                  </a:cubicBezTo>
                  <a:lnTo>
                    <a:pt x="186563" y="1305560"/>
                  </a:lnTo>
                  <a:cubicBezTo>
                    <a:pt x="83566" y="1305560"/>
                    <a:pt x="0" y="1221994"/>
                    <a:pt x="0" y="1118997"/>
                  </a:cubicBezTo>
                  <a:close/>
                </a:path>
              </a:pathLst>
            </a:custGeom>
            <a:solidFill>
              <a:srgbClr val="38BDF8"/>
            </a:solidFill>
            <a:ln w="19050" cap="sq">
              <a:solidFill>
                <a:srgbClr val="38BDF8"/>
              </a:solidFill>
              <a:prstDash val="solid"/>
              <a:miter/>
            </a:ln>
          </p:spPr>
        </p:sp>
      </p:grpSp>
      <p:grpSp>
        <p:nvGrpSpPr>
          <p:cNvPr id="52" name="Group 52"/>
          <p:cNvGrpSpPr/>
          <p:nvPr/>
        </p:nvGrpSpPr>
        <p:grpSpPr>
          <a:xfrm>
            <a:off x="1097280" y="7886700"/>
            <a:ext cx="2194560" cy="960120"/>
            <a:chOff x="0" y="0"/>
            <a:chExt cx="2926080" cy="1280160"/>
          </a:xfrm>
        </p:grpSpPr>
        <p:sp>
          <p:nvSpPr>
            <p:cNvPr id="53" name="Freeform 53"/>
            <p:cNvSpPr/>
            <p:nvPr/>
          </p:nvSpPr>
          <p:spPr>
            <a:xfrm>
              <a:off x="0" y="0"/>
              <a:ext cx="2926080" cy="1280160"/>
            </a:xfrm>
            <a:custGeom>
              <a:avLst/>
              <a:gdLst/>
              <a:ahLst/>
              <a:cxnLst/>
              <a:rect l="l" t="t" r="r" b="b"/>
              <a:pathLst>
                <a:path w="2926080" h="1280160">
                  <a:moveTo>
                    <a:pt x="0" y="0"/>
                  </a:moveTo>
                  <a:lnTo>
                    <a:pt x="2926080" y="0"/>
                  </a:lnTo>
                  <a:lnTo>
                    <a:pt x="2926080" y="1280160"/>
                  </a:lnTo>
                  <a:lnTo>
                    <a:pt x="0" y="1280160"/>
                  </a:lnTo>
                  <a:close/>
                </a:path>
              </a:pathLst>
            </a:custGeom>
            <a:blipFill>
              <a:blip r:embed="rId2">
                <a:alphaModFix amt="0"/>
              </a:blip>
              <a:stretch>
                <a:fillRect l="-6132" r="-6132"/>
              </a:stretch>
            </a:blipFill>
          </p:spPr>
        </p:sp>
        <p:sp>
          <p:nvSpPr>
            <p:cNvPr id="54" name="TextBox 54"/>
            <p:cNvSpPr txBox="1"/>
            <p:nvPr/>
          </p:nvSpPr>
          <p:spPr>
            <a:xfrm>
              <a:off x="0" y="-47625"/>
              <a:ext cx="2926080" cy="1327785"/>
            </a:xfrm>
            <a:prstGeom prst="rect">
              <a:avLst/>
            </a:prstGeom>
          </p:spPr>
          <p:txBody>
            <a:bodyPr lIns="0" tIns="0" rIns="0" bIns="0" rtlCol="0" anchor="ctr"/>
            <a:lstStyle/>
            <a:p>
              <a:pPr algn="ctr">
                <a:lnSpc>
                  <a:spcPts val="2520"/>
                </a:lnSpc>
              </a:pPr>
              <a:r>
                <a:rPr lang="en-US" sz="2100" b="1">
                  <a:solidFill>
                    <a:srgbClr val="0B1B33"/>
                  </a:solidFill>
                  <a:latin typeface="Calibri (MS) Bold"/>
                  <a:ea typeface="Calibri (MS) Bold"/>
                  <a:cs typeface="Calibri (MS) Bold"/>
                  <a:sym typeface="Calibri (MS) Bold"/>
                </a:rPr>
                <a:t>Satellite</a:t>
              </a:r>
            </a:p>
          </p:txBody>
        </p:sp>
      </p:grpSp>
      <p:grpSp>
        <p:nvGrpSpPr>
          <p:cNvPr id="55" name="Group 55"/>
          <p:cNvGrpSpPr/>
          <p:nvPr/>
        </p:nvGrpSpPr>
        <p:grpSpPr>
          <a:xfrm>
            <a:off x="3419475" y="7877175"/>
            <a:ext cx="2213610" cy="979170"/>
            <a:chOff x="0" y="0"/>
            <a:chExt cx="2951480" cy="1305560"/>
          </a:xfrm>
        </p:grpSpPr>
        <p:sp>
          <p:nvSpPr>
            <p:cNvPr id="56" name="Freeform 56"/>
            <p:cNvSpPr/>
            <p:nvPr/>
          </p:nvSpPr>
          <p:spPr>
            <a:xfrm>
              <a:off x="0" y="0"/>
              <a:ext cx="2951480" cy="1305560"/>
            </a:xfrm>
            <a:custGeom>
              <a:avLst/>
              <a:gdLst/>
              <a:ahLst/>
              <a:cxnLst/>
              <a:rect l="l" t="t" r="r" b="b"/>
              <a:pathLst>
                <a:path w="2951480" h="1305560">
                  <a:moveTo>
                    <a:pt x="0" y="186563"/>
                  </a:moveTo>
                  <a:cubicBezTo>
                    <a:pt x="0" y="83566"/>
                    <a:pt x="83566" y="0"/>
                    <a:pt x="186563" y="0"/>
                  </a:cubicBezTo>
                  <a:lnTo>
                    <a:pt x="2764917" y="0"/>
                  </a:lnTo>
                  <a:cubicBezTo>
                    <a:pt x="2867914" y="0"/>
                    <a:pt x="2951480" y="83566"/>
                    <a:pt x="2951480" y="186563"/>
                  </a:cubicBezTo>
                  <a:lnTo>
                    <a:pt x="2951480" y="1118997"/>
                  </a:lnTo>
                  <a:cubicBezTo>
                    <a:pt x="2951480" y="1221994"/>
                    <a:pt x="2867914" y="1305560"/>
                    <a:pt x="2764917" y="1305560"/>
                  </a:cubicBezTo>
                  <a:lnTo>
                    <a:pt x="186563" y="1305560"/>
                  </a:lnTo>
                  <a:cubicBezTo>
                    <a:pt x="83566" y="1305560"/>
                    <a:pt x="0" y="1221994"/>
                    <a:pt x="0" y="1118997"/>
                  </a:cubicBezTo>
                  <a:close/>
                </a:path>
              </a:pathLst>
            </a:custGeom>
            <a:solidFill>
              <a:srgbClr val="38BDF8"/>
            </a:solidFill>
            <a:ln w="19050" cap="sq">
              <a:solidFill>
                <a:srgbClr val="38BDF8"/>
              </a:solidFill>
              <a:prstDash val="solid"/>
              <a:miter/>
            </a:ln>
          </p:spPr>
        </p:sp>
      </p:grpSp>
      <p:grpSp>
        <p:nvGrpSpPr>
          <p:cNvPr id="57" name="Group 57"/>
          <p:cNvGrpSpPr/>
          <p:nvPr/>
        </p:nvGrpSpPr>
        <p:grpSpPr>
          <a:xfrm>
            <a:off x="3429000" y="7886700"/>
            <a:ext cx="2194560" cy="960120"/>
            <a:chOff x="0" y="0"/>
            <a:chExt cx="2926080" cy="1280160"/>
          </a:xfrm>
        </p:grpSpPr>
        <p:sp>
          <p:nvSpPr>
            <p:cNvPr id="58" name="Freeform 58"/>
            <p:cNvSpPr/>
            <p:nvPr/>
          </p:nvSpPr>
          <p:spPr>
            <a:xfrm>
              <a:off x="0" y="0"/>
              <a:ext cx="2926080" cy="1280160"/>
            </a:xfrm>
            <a:custGeom>
              <a:avLst/>
              <a:gdLst/>
              <a:ahLst/>
              <a:cxnLst/>
              <a:rect l="l" t="t" r="r" b="b"/>
              <a:pathLst>
                <a:path w="2926080" h="1280160">
                  <a:moveTo>
                    <a:pt x="0" y="0"/>
                  </a:moveTo>
                  <a:lnTo>
                    <a:pt x="2926080" y="0"/>
                  </a:lnTo>
                  <a:lnTo>
                    <a:pt x="2926080" y="1280160"/>
                  </a:lnTo>
                  <a:lnTo>
                    <a:pt x="0" y="1280160"/>
                  </a:lnTo>
                  <a:close/>
                </a:path>
              </a:pathLst>
            </a:custGeom>
            <a:blipFill>
              <a:blip r:embed="rId2">
                <a:alphaModFix amt="0"/>
              </a:blip>
              <a:stretch>
                <a:fillRect l="-6132" r="-6132"/>
              </a:stretch>
            </a:blipFill>
          </p:spPr>
        </p:sp>
        <p:sp>
          <p:nvSpPr>
            <p:cNvPr id="59" name="TextBox 59"/>
            <p:cNvSpPr txBox="1"/>
            <p:nvPr/>
          </p:nvSpPr>
          <p:spPr>
            <a:xfrm>
              <a:off x="0" y="-47625"/>
              <a:ext cx="2926080" cy="1327785"/>
            </a:xfrm>
            <a:prstGeom prst="rect">
              <a:avLst/>
            </a:prstGeom>
          </p:spPr>
          <p:txBody>
            <a:bodyPr lIns="0" tIns="0" rIns="0" bIns="0" rtlCol="0" anchor="ctr"/>
            <a:lstStyle/>
            <a:p>
              <a:pPr algn="ctr">
                <a:lnSpc>
                  <a:spcPts val="2520"/>
                </a:lnSpc>
              </a:pPr>
              <a:r>
                <a:rPr lang="en-US" sz="2100" b="1">
                  <a:solidFill>
                    <a:srgbClr val="0B1B33"/>
                  </a:solidFill>
                  <a:latin typeface="Calibri (MS) Bold"/>
                  <a:ea typeface="Calibri (MS) Bold"/>
                  <a:cs typeface="Calibri (MS) Bold"/>
                  <a:sym typeface="Calibri (MS) Bold"/>
                </a:rPr>
                <a:t>SpaceDebris</a:t>
              </a:r>
            </a:p>
          </p:txBody>
        </p:sp>
      </p:grpSp>
      <p:grpSp>
        <p:nvGrpSpPr>
          <p:cNvPr id="60" name="Group 60"/>
          <p:cNvGrpSpPr/>
          <p:nvPr/>
        </p:nvGrpSpPr>
        <p:grpSpPr>
          <a:xfrm>
            <a:off x="5751195" y="7877175"/>
            <a:ext cx="2213610" cy="979170"/>
            <a:chOff x="0" y="0"/>
            <a:chExt cx="2951480" cy="1305560"/>
          </a:xfrm>
        </p:grpSpPr>
        <p:sp>
          <p:nvSpPr>
            <p:cNvPr id="61" name="Freeform 61"/>
            <p:cNvSpPr/>
            <p:nvPr/>
          </p:nvSpPr>
          <p:spPr>
            <a:xfrm>
              <a:off x="0" y="0"/>
              <a:ext cx="2951480" cy="1305560"/>
            </a:xfrm>
            <a:custGeom>
              <a:avLst/>
              <a:gdLst/>
              <a:ahLst/>
              <a:cxnLst/>
              <a:rect l="l" t="t" r="r" b="b"/>
              <a:pathLst>
                <a:path w="2951480" h="1305560">
                  <a:moveTo>
                    <a:pt x="0" y="186563"/>
                  </a:moveTo>
                  <a:cubicBezTo>
                    <a:pt x="0" y="83566"/>
                    <a:pt x="83566" y="0"/>
                    <a:pt x="186563" y="0"/>
                  </a:cubicBezTo>
                  <a:lnTo>
                    <a:pt x="2764917" y="0"/>
                  </a:lnTo>
                  <a:cubicBezTo>
                    <a:pt x="2867914" y="0"/>
                    <a:pt x="2951480" y="83566"/>
                    <a:pt x="2951480" y="186563"/>
                  </a:cubicBezTo>
                  <a:lnTo>
                    <a:pt x="2951480" y="1118997"/>
                  </a:lnTo>
                  <a:cubicBezTo>
                    <a:pt x="2951480" y="1221994"/>
                    <a:pt x="2867914" y="1305560"/>
                    <a:pt x="2764917" y="1305560"/>
                  </a:cubicBezTo>
                  <a:lnTo>
                    <a:pt x="186563" y="1305560"/>
                  </a:lnTo>
                  <a:cubicBezTo>
                    <a:pt x="83566" y="1305560"/>
                    <a:pt x="0" y="1221994"/>
                    <a:pt x="0" y="1118997"/>
                  </a:cubicBezTo>
                  <a:close/>
                </a:path>
              </a:pathLst>
            </a:custGeom>
            <a:solidFill>
              <a:srgbClr val="38BDF8"/>
            </a:solidFill>
            <a:ln w="19050" cap="sq">
              <a:solidFill>
                <a:srgbClr val="38BDF8"/>
              </a:solidFill>
              <a:prstDash val="solid"/>
              <a:miter/>
            </a:ln>
          </p:spPr>
        </p:sp>
      </p:grpSp>
      <p:grpSp>
        <p:nvGrpSpPr>
          <p:cNvPr id="62" name="Group 62"/>
          <p:cNvGrpSpPr/>
          <p:nvPr/>
        </p:nvGrpSpPr>
        <p:grpSpPr>
          <a:xfrm>
            <a:off x="5760720" y="7886700"/>
            <a:ext cx="2194560" cy="960120"/>
            <a:chOff x="0" y="0"/>
            <a:chExt cx="2926080" cy="1280160"/>
          </a:xfrm>
        </p:grpSpPr>
        <p:sp>
          <p:nvSpPr>
            <p:cNvPr id="63" name="Freeform 63"/>
            <p:cNvSpPr/>
            <p:nvPr/>
          </p:nvSpPr>
          <p:spPr>
            <a:xfrm>
              <a:off x="0" y="0"/>
              <a:ext cx="2926080" cy="1280160"/>
            </a:xfrm>
            <a:custGeom>
              <a:avLst/>
              <a:gdLst/>
              <a:ahLst/>
              <a:cxnLst/>
              <a:rect l="l" t="t" r="r" b="b"/>
              <a:pathLst>
                <a:path w="2926080" h="1280160">
                  <a:moveTo>
                    <a:pt x="0" y="0"/>
                  </a:moveTo>
                  <a:lnTo>
                    <a:pt x="2926080" y="0"/>
                  </a:lnTo>
                  <a:lnTo>
                    <a:pt x="2926080" y="1280160"/>
                  </a:lnTo>
                  <a:lnTo>
                    <a:pt x="0" y="1280160"/>
                  </a:lnTo>
                  <a:close/>
                </a:path>
              </a:pathLst>
            </a:custGeom>
            <a:blipFill>
              <a:blip r:embed="rId2">
                <a:alphaModFix amt="0"/>
              </a:blip>
              <a:stretch>
                <a:fillRect l="-6132" r="-6132"/>
              </a:stretch>
            </a:blipFill>
          </p:spPr>
        </p:sp>
        <p:sp>
          <p:nvSpPr>
            <p:cNvPr id="64" name="TextBox 64"/>
            <p:cNvSpPr txBox="1"/>
            <p:nvPr/>
          </p:nvSpPr>
          <p:spPr>
            <a:xfrm>
              <a:off x="0" y="-47625"/>
              <a:ext cx="2926080" cy="1327785"/>
            </a:xfrm>
            <a:prstGeom prst="rect">
              <a:avLst/>
            </a:prstGeom>
          </p:spPr>
          <p:txBody>
            <a:bodyPr lIns="0" tIns="0" rIns="0" bIns="0" rtlCol="0" anchor="ctr"/>
            <a:lstStyle/>
            <a:p>
              <a:pPr algn="ctr">
                <a:lnSpc>
                  <a:spcPts val="2520"/>
                </a:lnSpc>
              </a:pPr>
              <a:r>
                <a:rPr lang="en-US" sz="2100" b="1">
                  <a:solidFill>
                    <a:srgbClr val="0B1B33"/>
                  </a:solidFill>
                  <a:latin typeface="Calibri (MS) Bold"/>
                  <a:ea typeface="Calibri (MS) Bold"/>
                  <a:cs typeface="Calibri (MS) Bold"/>
                  <a:sym typeface="Calibri (MS) Bold"/>
                </a:rPr>
                <a:t>RocketBody</a:t>
              </a:r>
            </a:p>
          </p:txBody>
        </p:sp>
      </p:grpSp>
      <p:sp>
        <p:nvSpPr>
          <p:cNvPr id="65" name="TextBox 65"/>
          <p:cNvSpPr txBox="1"/>
          <p:nvPr/>
        </p:nvSpPr>
        <p:spPr>
          <a:xfrm>
            <a:off x="12138295" y="5591593"/>
            <a:ext cx="2756848" cy="298543"/>
          </a:xfrm>
          <a:prstGeom prst="rect">
            <a:avLst/>
          </a:prstGeom>
        </p:spPr>
        <p:txBody>
          <a:bodyPr wrap="square" lIns="0" tIns="0" rIns="0" bIns="0" rtlCol="0" anchor="t">
            <a:spAutoFit/>
          </a:bodyPr>
          <a:lstStyle/>
          <a:p>
            <a:pPr algn="l">
              <a:lnSpc>
                <a:spcPts val="2399"/>
              </a:lnSpc>
            </a:pPr>
            <a:r>
              <a:rPr lang="en-US" sz="1999" b="1">
                <a:solidFill>
                  <a:srgbClr val="1E3A5F"/>
                </a:solidFill>
                <a:latin typeface="Calibri (MS) Bold"/>
                <a:ea typeface="Calibri (MS) Bold"/>
                <a:cs typeface="Calibri (MS) Bold"/>
                <a:sym typeface="Calibri (MS) Bold"/>
              </a:rPr>
              <a:t>SUPPORTING CLASSES</a:t>
            </a:r>
          </a:p>
        </p:txBody>
      </p:sp>
      <p:grpSp>
        <p:nvGrpSpPr>
          <p:cNvPr id="66" name="Group 66"/>
          <p:cNvGrpSpPr/>
          <p:nvPr/>
        </p:nvGrpSpPr>
        <p:grpSpPr>
          <a:xfrm>
            <a:off x="9591675" y="6094095"/>
            <a:ext cx="2487930" cy="1390650"/>
            <a:chOff x="0" y="0"/>
            <a:chExt cx="3317240" cy="1854200"/>
          </a:xfrm>
        </p:grpSpPr>
        <p:sp>
          <p:nvSpPr>
            <p:cNvPr id="67" name="Freeform 67"/>
            <p:cNvSpPr/>
            <p:nvPr/>
          </p:nvSpPr>
          <p:spPr>
            <a:xfrm>
              <a:off x="0" y="0"/>
              <a:ext cx="3317240" cy="1854200"/>
            </a:xfrm>
            <a:custGeom>
              <a:avLst/>
              <a:gdLst/>
              <a:ahLst/>
              <a:cxnLst/>
              <a:rect l="l" t="t" r="r" b="b"/>
              <a:pathLst>
                <a:path w="3317240" h="1854200">
                  <a:moveTo>
                    <a:pt x="0" y="185420"/>
                  </a:moveTo>
                  <a:cubicBezTo>
                    <a:pt x="0" y="83058"/>
                    <a:pt x="83058" y="0"/>
                    <a:pt x="185420" y="0"/>
                  </a:cubicBezTo>
                  <a:lnTo>
                    <a:pt x="3131820" y="0"/>
                  </a:lnTo>
                  <a:cubicBezTo>
                    <a:pt x="3234182" y="0"/>
                    <a:pt x="3317240" y="83058"/>
                    <a:pt x="3317240" y="185420"/>
                  </a:cubicBezTo>
                  <a:lnTo>
                    <a:pt x="3317240" y="1668780"/>
                  </a:lnTo>
                  <a:cubicBezTo>
                    <a:pt x="3317240" y="1771142"/>
                    <a:pt x="3234182" y="1854200"/>
                    <a:pt x="3131820" y="1854200"/>
                  </a:cubicBezTo>
                  <a:lnTo>
                    <a:pt x="185420" y="1854200"/>
                  </a:lnTo>
                  <a:cubicBezTo>
                    <a:pt x="83058" y="1854200"/>
                    <a:pt x="0" y="1771142"/>
                    <a:pt x="0" y="1668780"/>
                  </a:cubicBezTo>
                  <a:close/>
                </a:path>
              </a:pathLst>
            </a:custGeom>
            <a:solidFill>
              <a:srgbClr val="EEF3F9"/>
            </a:solidFill>
            <a:ln w="19050" cap="sq">
              <a:solidFill>
                <a:srgbClr val="EEF3F9"/>
              </a:solidFill>
              <a:prstDash val="solid"/>
              <a:miter/>
            </a:ln>
          </p:spPr>
        </p:sp>
      </p:grpSp>
      <p:grpSp>
        <p:nvGrpSpPr>
          <p:cNvPr id="68" name="Group 68"/>
          <p:cNvGrpSpPr/>
          <p:nvPr/>
        </p:nvGrpSpPr>
        <p:grpSpPr>
          <a:xfrm>
            <a:off x="9601200" y="6103620"/>
            <a:ext cx="2468880" cy="1371600"/>
            <a:chOff x="0" y="0"/>
            <a:chExt cx="3291840" cy="1828800"/>
          </a:xfrm>
        </p:grpSpPr>
        <p:sp>
          <p:nvSpPr>
            <p:cNvPr id="69" name="Freeform 69"/>
            <p:cNvSpPr/>
            <p:nvPr/>
          </p:nvSpPr>
          <p:spPr>
            <a:xfrm>
              <a:off x="0" y="0"/>
              <a:ext cx="3291840" cy="1828800"/>
            </a:xfrm>
            <a:custGeom>
              <a:avLst/>
              <a:gdLst/>
              <a:ahLst/>
              <a:cxnLst/>
              <a:rect l="l" t="t" r="r" b="b"/>
              <a:pathLst>
                <a:path w="3291840" h="1828800">
                  <a:moveTo>
                    <a:pt x="0" y="0"/>
                  </a:moveTo>
                  <a:lnTo>
                    <a:pt x="3291840" y="0"/>
                  </a:lnTo>
                  <a:lnTo>
                    <a:pt x="3291840" y="1828800"/>
                  </a:lnTo>
                  <a:lnTo>
                    <a:pt x="0" y="1828800"/>
                  </a:lnTo>
                  <a:close/>
                </a:path>
              </a:pathLst>
            </a:custGeom>
            <a:blipFill>
              <a:blip r:embed="rId2">
                <a:alphaModFix amt="0"/>
              </a:blip>
              <a:stretch>
                <a:fillRect l="-21279" r="-21279"/>
              </a:stretch>
            </a:blipFill>
          </p:spPr>
        </p:sp>
        <p:sp>
          <p:nvSpPr>
            <p:cNvPr id="70" name="TextBox 70"/>
            <p:cNvSpPr txBox="1"/>
            <p:nvPr/>
          </p:nvSpPr>
          <p:spPr>
            <a:xfrm>
              <a:off x="0" y="-38100"/>
              <a:ext cx="3291840" cy="1866900"/>
            </a:xfrm>
            <a:prstGeom prst="rect">
              <a:avLst/>
            </a:prstGeom>
          </p:spPr>
          <p:txBody>
            <a:bodyPr lIns="0" tIns="0" rIns="0" bIns="0" rtlCol="0" anchor="ctr"/>
            <a:lstStyle/>
            <a:p>
              <a:pPr algn="ctr">
                <a:lnSpc>
                  <a:spcPts val="2879"/>
                </a:lnSpc>
              </a:pPr>
              <a:r>
                <a:rPr lang="en-US" sz="2400" b="1">
                  <a:solidFill>
                    <a:srgbClr val="0B1B33"/>
                  </a:solidFill>
                  <a:latin typeface="Calibri (MS) Bold"/>
                  <a:ea typeface="Calibri (MS) Bold"/>
                  <a:cs typeface="Calibri (MS) Bold"/>
                  <a:sym typeface="Calibri (MS) Bold"/>
                </a:rPr>
                <a:t>Orbit</a:t>
              </a:r>
            </a:p>
            <a:p>
              <a:pPr algn="ctr">
                <a:lnSpc>
                  <a:spcPts val="2160"/>
                </a:lnSpc>
              </a:pPr>
              <a:r>
                <a:rPr lang="en-US" sz="1800">
                  <a:solidFill>
                    <a:srgbClr val="0B1B33"/>
                  </a:solidFill>
                  <a:latin typeface="Calibri (MS)"/>
                  <a:ea typeface="Calibri (MS)"/>
                  <a:cs typeface="Calibri (MS)"/>
                  <a:sym typeface="Calibri (MS)"/>
                </a:rPr>
                <a:t>circular-orbit maths</a:t>
              </a:r>
            </a:p>
          </p:txBody>
        </p:sp>
      </p:grpSp>
      <p:grpSp>
        <p:nvGrpSpPr>
          <p:cNvPr id="71" name="Group 71"/>
          <p:cNvGrpSpPr/>
          <p:nvPr/>
        </p:nvGrpSpPr>
        <p:grpSpPr>
          <a:xfrm>
            <a:off x="12266295" y="6094095"/>
            <a:ext cx="2487930" cy="1390650"/>
            <a:chOff x="0" y="0"/>
            <a:chExt cx="3317240" cy="1854200"/>
          </a:xfrm>
        </p:grpSpPr>
        <p:sp>
          <p:nvSpPr>
            <p:cNvPr id="72" name="Freeform 72"/>
            <p:cNvSpPr/>
            <p:nvPr/>
          </p:nvSpPr>
          <p:spPr>
            <a:xfrm>
              <a:off x="0" y="0"/>
              <a:ext cx="3317240" cy="1854200"/>
            </a:xfrm>
            <a:custGeom>
              <a:avLst/>
              <a:gdLst/>
              <a:ahLst/>
              <a:cxnLst/>
              <a:rect l="l" t="t" r="r" b="b"/>
              <a:pathLst>
                <a:path w="3317240" h="1854200">
                  <a:moveTo>
                    <a:pt x="0" y="185420"/>
                  </a:moveTo>
                  <a:cubicBezTo>
                    <a:pt x="0" y="83058"/>
                    <a:pt x="83058" y="0"/>
                    <a:pt x="185420" y="0"/>
                  </a:cubicBezTo>
                  <a:lnTo>
                    <a:pt x="3131820" y="0"/>
                  </a:lnTo>
                  <a:cubicBezTo>
                    <a:pt x="3234182" y="0"/>
                    <a:pt x="3317240" y="83058"/>
                    <a:pt x="3317240" y="185420"/>
                  </a:cubicBezTo>
                  <a:lnTo>
                    <a:pt x="3317240" y="1668780"/>
                  </a:lnTo>
                  <a:cubicBezTo>
                    <a:pt x="3317240" y="1771142"/>
                    <a:pt x="3234182" y="1854200"/>
                    <a:pt x="3131820" y="1854200"/>
                  </a:cubicBezTo>
                  <a:lnTo>
                    <a:pt x="185420" y="1854200"/>
                  </a:lnTo>
                  <a:cubicBezTo>
                    <a:pt x="83058" y="1854200"/>
                    <a:pt x="0" y="1771142"/>
                    <a:pt x="0" y="1668780"/>
                  </a:cubicBezTo>
                  <a:close/>
                </a:path>
              </a:pathLst>
            </a:custGeom>
            <a:solidFill>
              <a:srgbClr val="EEF3F9"/>
            </a:solidFill>
            <a:ln w="19050" cap="sq">
              <a:solidFill>
                <a:srgbClr val="EEF3F9"/>
              </a:solidFill>
              <a:prstDash val="solid"/>
              <a:miter/>
            </a:ln>
          </p:spPr>
        </p:sp>
      </p:grpSp>
      <p:grpSp>
        <p:nvGrpSpPr>
          <p:cNvPr id="73" name="Group 73"/>
          <p:cNvGrpSpPr/>
          <p:nvPr/>
        </p:nvGrpSpPr>
        <p:grpSpPr>
          <a:xfrm>
            <a:off x="12275820" y="6103620"/>
            <a:ext cx="2468880" cy="1371600"/>
            <a:chOff x="0" y="0"/>
            <a:chExt cx="3291840" cy="1828800"/>
          </a:xfrm>
        </p:grpSpPr>
        <p:sp>
          <p:nvSpPr>
            <p:cNvPr id="74" name="Freeform 74"/>
            <p:cNvSpPr/>
            <p:nvPr/>
          </p:nvSpPr>
          <p:spPr>
            <a:xfrm>
              <a:off x="0" y="0"/>
              <a:ext cx="3291840" cy="1828800"/>
            </a:xfrm>
            <a:custGeom>
              <a:avLst/>
              <a:gdLst/>
              <a:ahLst/>
              <a:cxnLst/>
              <a:rect l="l" t="t" r="r" b="b"/>
              <a:pathLst>
                <a:path w="3291840" h="1828800">
                  <a:moveTo>
                    <a:pt x="0" y="0"/>
                  </a:moveTo>
                  <a:lnTo>
                    <a:pt x="3291840" y="0"/>
                  </a:lnTo>
                  <a:lnTo>
                    <a:pt x="3291840" y="1828800"/>
                  </a:lnTo>
                  <a:lnTo>
                    <a:pt x="0" y="1828800"/>
                  </a:lnTo>
                  <a:close/>
                </a:path>
              </a:pathLst>
            </a:custGeom>
            <a:blipFill>
              <a:blip r:embed="rId2">
                <a:alphaModFix amt="0"/>
              </a:blip>
              <a:stretch>
                <a:fillRect l="-21279" r="-21279"/>
              </a:stretch>
            </a:blipFill>
          </p:spPr>
        </p:sp>
        <p:sp>
          <p:nvSpPr>
            <p:cNvPr id="75" name="TextBox 75"/>
            <p:cNvSpPr txBox="1"/>
            <p:nvPr/>
          </p:nvSpPr>
          <p:spPr>
            <a:xfrm>
              <a:off x="0" y="-38100"/>
              <a:ext cx="3291840" cy="1866900"/>
            </a:xfrm>
            <a:prstGeom prst="rect">
              <a:avLst/>
            </a:prstGeom>
          </p:spPr>
          <p:txBody>
            <a:bodyPr lIns="0" tIns="0" rIns="0" bIns="0" rtlCol="0" anchor="ctr"/>
            <a:lstStyle/>
            <a:p>
              <a:pPr algn="ctr">
                <a:lnSpc>
                  <a:spcPts val="2879"/>
                </a:lnSpc>
              </a:pPr>
              <a:r>
                <a:rPr lang="en-US" sz="2400" b="1">
                  <a:solidFill>
                    <a:srgbClr val="0B1B33"/>
                  </a:solidFill>
                  <a:latin typeface="Calibri (MS) Bold"/>
                  <a:ea typeface="Calibri (MS) Bold"/>
                  <a:cs typeface="Calibri (MS) Bold"/>
                  <a:sym typeface="Calibri (MS) Bold"/>
                </a:rPr>
                <a:t>Vector2D</a:t>
              </a:r>
            </a:p>
            <a:p>
              <a:pPr algn="ctr">
                <a:lnSpc>
                  <a:spcPts val="2160"/>
                </a:lnSpc>
              </a:pPr>
              <a:r>
                <a:rPr lang="en-US" sz="1800">
                  <a:solidFill>
                    <a:srgbClr val="0B1B33"/>
                  </a:solidFill>
                  <a:latin typeface="Calibri (MS)"/>
                  <a:ea typeface="Calibri (MS)"/>
                  <a:cs typeface="Calibri (MS)"/>
                  <a:sym typeface="Calibri (MS)"/>
                </a:rPr>
                <a:t>position and velocity</a:t>
              </a:r>
            </a:p>
          </p:txBody>
        </p:sp>
      </p:grpSp>
      <p:grpSp>
        <p:nvGrpSpPr>
          <p:cNvPr id="76" name="Group 76"/>
          <p:cNvGrpSpPr/>
          <p:nvPr/>
        </p:nvGrpSpPr>
        <p:grpSpPr>
          <a:xfrm>
            <a:off x="14940915" y="6094095"/>
            <a:ext cx="2487930" cy="1390650"/>
            <a:chOff x="0" y="0"/>
            <a:chExt cx="3317240" cy="1854200"/>
          </a:xfrm>
        </p:grpSpPr>
        <p:sp>
          <p:nvSpPr>
            <p:cNvPr id="77" name="Freeform 77"/>
            <p:cNvSpPr/>
            <p:nvPr/>
          </p:nvSpPr>
          <p:spPr>
            <a:xfrm>
              <a:off x="0" y="0"/>
              <a:ext cx="3317240" cy="1854200"/>
            </a:xfrm>
            <a:custGeom>
              <a:avLst/>
              <a:gdLst/>
              <a:ahLst/>
              <a:cxnLst/>
              <a:rect l="l" t="t" r="r" b="b"/>
              <a:pathLst>
                <a:path w="3317240" h="1854200">
                  <a:moveTo>
                    <a:pt x="0" y="185420"/>
                  </a:moveTo>
                  <a:cubicBezTo>
                    <a:pt x="0" y="83058"/>
                    <a:pt x="83058" y="0"/>
                    <a:pt x="185420" y="0"/>
                  </a:cubicBezTo>
                  <a:lnTo>
                    <a:pt x="3131820" y="0"/>
                  </a:lnTo>
                  <a:cubicBezTo>
                    <a:pt x="3234182" y="0"/>
                    <a:pt x="3317240" y="83058"/>
                    <a:pt x="3317240" y="185420"/>
                  </a:cubicBezTo>
                  <a:lnTo>
                    <a:pt x="3317240" y="1668780"/>
                  </a:lnTo>
                  <a:cubicBezTo>
                    <a:pt x="3317240" y="1771142"/>
                    <a:pt x="3234182" y="1854200"/>
                    <a:pt x="3131820" y="1854200"/>
                  </a:cubicBezTo>
                  <a:lnTo>
                    <a:pt x="185420" y="1854200"/>
                  </a:lnTo>
                  <a:cubicBezTo>
                    <a:pt x="83058" y="1854200"/>
                    <a:pt x="0" y="1771142"/>
                    <a:pt x="0" y="1668780"/>
                  </a:cubicBezTo>
                  <a:close/>
                </a:path>
              </a:pathLst>
            </a:custGeom>
            <a:solidFill>
              <a:srgbClr val="EEF3F9"/>
            </a:solidFill>
            <a:ln w="19050" cap="sq">
              <a:solidFill>
                <a:srgbClr val="EEF3F9"/>
              </a:solidFill>
              <a:prstDash val="solid"/>
              <a:miter/>
            </a:ln>
          </p:spPr>
        </p:sp>
      </p:grpSp>
      <p:grpSp>
        <p:nvGrpSpPr>
          <p:cNvPr id="78" name="Group 78"/>
          <p:cNvGrpSpPr/>
          <p:nvPr/>
        </p:nvGrpSpPr>
        <p:grpSpPr>
          <a:xfrm>
            <a:off x="14950440" y="6103620"/>
            <a:ext cx="2468880" cy="1371600"/>
            <a:chOff x="0" y="0"/>
            <a:chExt cx="3291840" cy="1828800"/>
          </a:xfrm>
        </p:grpSpPr>
        <p:sp>
          <p:nvSpPr>
            <p:cNvPr id="79" name="Freeform 79"/>
            <p:cNvSpPr/>
            <p:nvPr/>
          </p:nvSpPr>
          <p:spPr>
            <a:xfrm>
              <a:off x="0" y="0"/>
              <a:ext cx="3291840" cy="1828800"/>
            </a:xfrm>
            <a:custGeom>
              <a:avLst/>
              <a:gdLst/>
              <a:ahLst/>
              <a:cxnLst/>
              <a:rect l="l" t="t" r="r" b="b"/>
              <a:pathLst>
                <a:path w="3291840" h="1828800">
                  <a:moveTo>
                    <a:pt x="0" y="0"/>
                  </a:moveTo>
                  <a:lnTo>
                    <a:pt x="3291840" y="0"/>
                  </a:lnTo>
                  <a:lnTo>
                    <a:pt x="3291840" y="1828800"/>
                  </a:lnTo>
                  <a:lnTo>
                    <a:pt x="0" y="1828800"/>
                  </a:lnTo>
                  <a:close/>
                </a:path>
              </a:pathLst>
            </a:custGeom>
            <a:blipFill>
              <a:blip r:embed="rId2">
                <a:alphaModFix amt="0"/>
              </a:blip>
              <a:stretch>
                <a:fillRect l="-21279" r="-21279"/>
              </a:stretch>
            </a:blipFill>
          </p:spPr>
        </p:sp>
        <p:sp>
          <p:nvSpPr>
            <p:cNvPr id="80" name="TextBox 80"/>
            <p:cNvSpPr txBox="1"/>
            <p:nvPr/>
          </p:nvSpPr>
          <p:spPr>
            <a:xfrm>
              <a:off x="0" y="-38100"/>
              <a:ext cx="3291840" cy="1866900"/>
            </a:xfrm>
            <a:prstGeom prst="rect">
              <a:avLst/>
            </a:prstGeom>
          </p:spPr>
          <p:txBody>
            <a:bodyPr lIns="0" tIns="0" rIns="0" bIns="0" rtlCol="0" anchor="ctr"/>
            <a:lstStyle/>
            <a:p>
              <a:pPr algn="ctr">
                <a:lnSpc>
                  <a:spcPts val="2879"/>
                </a:lnSpc>
              </a:pPr>
              <a:r>
                <a:rPr lang="en-US" sz="2400" b="1">
                  <a:solidFill>
                    <a:srgbClr val="0B1B33"/>
                  </a:solidFill>
                  <a:latin typeface="Calibri (MS) Bold"/>
                  <a:ea typeface="Calibri (MS) Bold"/>
                  <a:cs typeface="Calibri (MS) Bold"/>
                  <a:sym typeface="Calibri (MS) Bold"/>
                </a:rPr>
                <a:t>Conjunction</a:t>
              </a:r>
            </a:p>
            <a:p>
              <a:pPr algn="ctr">
                <a:lnSpc>
                  <a:spcPts val="2160"/>
                </a:lnSpc>
              </a:pPr>
              <a:r>
                <a:rPr lang="en-US" sz="1800">
                  <a:solidFill>
                    <a:srgbClr val="0B1B33"/>
                  </a:solidFill>
                  <a:latin typeface="Calibri (MS)"/>
                  <a:ea typeface="Calibri (MS)"/>
                  <a:cs typeface="Calibri (MS)"/>
                  <a:sym typeface="Calibri (MS)"/>
                </a:rPr>
                <a:t>result for a pair</a:t>
              </a:r>
            </a:p>
          </p:txBody>
        </p:sp>
      </p:grpSp>
      <p:sp>
        <p:nvSpPr>
          <p:cNvPr id="81" name="TextBox 81"/>
          <p:cNvSpPr txBox="1"/>
          <p:nvPr/>
        </p:nvSpPr>
        <p:spPr>
          <a:xfrm>
            <a:off x="9601200" y="7839075"/>
            <a:ext cx="7818120" cy="1007745"/>
          </a:xfrm>
          <a:prstGeom prst="rect">
            <a:avLst/>
          </a:prstGeom>
        </p:spPr>
        <p:txBody>
          <a:bodyPr lIns="0" tIns="0" rIns="0" bIns="0" rtlCol="0" anchor="t">
            <a:spAutoFit/>
          </a:bodyPr>
          <a:lstStyle/>
          <a:p>
            <a:pPr algn="l">
              <a:lnSpc>
                <a:spcPts val="2520"/>
              </a:lnSpc>
            </a:pPr>
            <a:r>
              <a:rPr lang="en-US" sz="2100">
                <a:solidFill>
                  <a:srgbClr val="0B1B33"/>
                </a:solidFill>
                <a:latin typeface="Calibri (MS)"/>
                <a:ea typeface="Calibri (MS)"/>
                <a:cs typeface="Calibri (MS)"/>
                <a:sym typeface="Calibri (MS)"/>
              </a:rPr>
              <a:t>Every object has an Orbit; Simulation owns all objects through base-class pointers.</a:t>
            </a:r>
          </a:p>
        </p:txBody>
      </p:sp>
      <p:sp>
        <p:nvSpPr>
          <p:cNvPr id="82" name="TextBox 82"/>
          <p:cNvSpPr txBox="1"/>
          <p:nvPr/>
        </p:nvSpPr>
        <p:spPr>
          <a:xfrm>
            <a:off x="16824960" y="9608820"/>
            <a:ext cx="502920" cy="358140"/>
          </a:xfrm>
          <a:prstGeom prst="rect">
            <a:avLst/>
          </a:prstGeom>
        </p:spPr>
        <p:txBody>
          <a:bodyPr lIns="0" tIns="0" rIns="0" bIns="0" rtlCol="0" anchor="t">
            <a:spAutoFit/>
          </a:bodyPr>
          <a:lstStyle/>
          <a:p>
            <a:pPr algn="l">
              <a:lnSpc>
                <a:spcPts val="1800"/>
              </a:lnSpc>
            </a:pPr>
            <a:r>
              <a:rPr lang="en-US" sz="1500">
                <a:solidFill>
                  <a:srgbClr val="64748B"/>
                </a:solidFill>
                <a:latin typeface="Calibri (MS)"/>
                <a:ea typeface="Calibri (MS)"/>
                <a:cs typeface="Calibri (MS)"/>
                <a:sym typeface="Calibri (MS)"/>
              </a:rPr>
              <a:t>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9601200"/>
            <a:ext cx="9601200" cy="411480"/>
            <a:chOff x="0" y="0"/>
            <a:chExt cx="12801600" cy="548640"/>
          </a:xfrm>
        </p:grpSpPr>
        <p:sp>
          <p:nvSpPr>
            <p:cNvPr id="3" name="Freeform 3"/>
            <p:cNvSpPr/>
            <p:nvPr/>
          </p:nvSpPr>
          <p:spPr>
            <a:xfrm>
              <a:off x="0" y="0"/>
              <a:ext cx="12801600" cy="548640"/>
            </a:xfrm>
            <a:custGeom>
              <a:avLst/>
              <a:gdLst/>
              <a:ahLst/>
              <a:cxnLst/>
              <a:rect l="l" t="t" r="r" b="b"/>
              <a:pathLst>
                <a:path w="12801600" h="548640">
                  <a:moveTo>
                    <a:pt x="0" y="0"/>
                  </a:moveTo>
                  <a:lnTo>
                    <a:pt x="12801600" y="0"/>
                  </a:lnTo>
                  <a:lnTo>
                    <a:pt x="12801600" y="548640"/>
                  </a:lnTo>
                  <a:lnTo>
                    <a:pt x="0" y="548640"/>
                  </a:lnTo>
                  <a:close/>
                </a:path>
              </a:pathLst>
            </a:custGeom>
            <a:blipFill>
              <a:blip r:embed="rId2">
                <a:alphaModFix amt="0"/>
              </a:blip>
              <a:stretch>
                <a:fillRect t="-404650" b="-404650"/>
              </a:stretch>
            </a:blipFill>
          </p:spPr>
        </p:sp>
        <p:sp>
          <p:nvSpPr>
            <p:cNvPr id="4" name="TextBox 4"/>
            <p:cNvSpPr txBox="1"/>
            <p:nvPr/>
          </p:nvSpPr>
          <p:spPr>
            <a:xfrm>
              <a:off x="0" y="-38100"/>
              <a:ext cx="12801600" cy="586740"/>
            </a:xfrm>
            <a:prstGeom prst="rect">
              <a:avLst/>
            </a:prstGeom>
          </p:spPr>
          <p:txBody>
            <a:bodyPr lIns="0" tIns="0" rIns="0" bIns="0" rtlCol="0" anchor="ctr"/>
            <a:lstStyle/>
            <a:p>
              <a:pPr algn="l">
                <a:lnSpc>
                  <a:spcPts val="1800"/>
                </a:lnSpc>
              </a:pPr>
              <a:r>
                <a:rPr lang="en-US" sz="1500">
                  <a:solidFill>
                    <a:srgbClr val="64748B"/>
                  </a:solidFill>
                  <a:latin typeface="Calibri (MS)"/>
                  <a:ea typeface="Calibri (MS)"/>
                  <a:cs typeface="Calibri (MS)"/>
                  <a:sym typeface="Calibri (MS)"/>
                </a:rPr>
                <a:t>SCOPE  |  204ES Object Oriented Programming</a:t>
              </a:r>
            </a:p>
          </p:txBody>
        </p:sp>
      </p:grpSp>
      <p:grpSp>
        <p:nvGrpSpPr>
          <p:cNvPr id="5" name="Group 5"/>
          <p:cNvGrpSpPr/>
          <p:nvPr/>
        </p:nvGrpSpPr>
        <p:grpSpPr>
          <a:xfrm>
            <a:off x="822960" y="548640"/>
            <a:ext cx="16596360" cy="1234440"/>
            <a:chOff x="0" y="0"/>
            <a:chExt cx="22128480" cy="1645920"/>
          </a:xfrm>
        </p:grpSpPr>
        <p:sp>
          <p:nvSpPr>
            <p:cNvPr id="6" name="Freeform 6"/>
            <p:cNvSpPr/>
            <p:nvPr/>
          </p:nvSpPr>
          <p:spPr>
            <a:xfrm>
              <a:off x="0" y="0"/>
              <a:ext cx="22128480" cy="1645920"/>
            </a:xfrm>
            <a:custGeom>
              <a:avLst/>
              <a:gdLst/>
              <a:ahLst/>
              <a:cxnLst/>
              <a:rect l="l" t="t" r="r" b="b"/>
              <a:pathLst>
                <a:path w="22128480" h="1645920">
                  <a:moveTo>
                    <a:pt x="0" y="0"/>
                  </a:moveTo>
                  <a:lnTo>
                    <a:pt x="22128480" y="0"/>
                  </a:lnTo>
                  <a:lnTo>
                    <a:pt x="22128480" y="1645920"/>
                  </a:lnTo>
                  <a:lnTo>
                    <a:pt x="0" y="1645920"/>
                  </a:lnTo>
                  <a:close/>
                </a:path>
              </a:pathLst>
            </a:custGeom>
            <a:blipFill>
              <a:blip r:embed="rId2">
                <a:alphaModFix amt="0"/>
              </a:blip>
              <a:stretch>
                <a:fillRect t="-211965" b="-211965"/>
              </a:stretch>
            </a:blipFill>
          </p:spPr>
        </p:sp>
        <p:sp>
          <p:nvSpPr>
            <p:cNvPr id="7" name="TextBox 7"/>
            <p:cNvSpPr txBox="1"/>
            <p:nvPr/>
          </p:nvSpPr>
          <p:spPr>
            <a:xfrm>
              <a:off x="0" y="-9525"/>
              <a:ext cx="22128480" cy="1655445"/>
            </a:xfrm>
            <a:prstGeom prst="rect">
              <a:avLst/>
            </a:prstGeom>
          </p:spPr>
          <p:txBody>
            <a:bodyPr lIns="0" tIns="0" rIns="0" bIns="0" rtlCol="0" anchor="ctr"/>
            <a:lstStyle/>
            <a:p>
              <a:pPr algn="l">
                <a:lnSpc>
                  <a:spcPts val="6120"/>
                </a:lnSpc>
              </a:pPr>
              <a:r>
                <a:rPr lang="en-US" sz="5100" b="1">
                  <a:solidFill>
                    <a:srgbClr val="0B1B33"/>
                  </a:solidFill>
                  <a:latin typeface="Cambria Bold"/>
                  <a:ea typeface="Cambria Bold"/>
                  <a:cs typeface="Cambria Bold"/>
                  <a:sym typeface="Cambria Bold"/>
                </a:rPr>
                <a:t>OOP Concepts Used</a:t>
              </a:r>
            </a:p>
          </p:txBody>
        </p:sp>
      </p:grpSp>
      <p:graphicFrame>
        <p:nvGraphicFramePr>
          <p:cNvPr id="8" name="Table 8"/>
          <p:cNvGraphicFramePr>
            <a:graphicFrameLocks noGrp="1"/>
          </p:cNvGraphicFramePr>
          <p:nvPr/>
        </p:nvGraphicFramePr>
        <p:xfrm>
          <a:off x="822960" y="2057400"/>
          <a:ext cx="16592550" cy="6858000"/>
        </p:xfrm>
        <a:graphic>
          <a:graphicData uri="http://schemas.openxmlformats.org/drawingml/2006/table">
            <a:tbl>
              <a:tblPr/>
              <a:tblGrid>
                <a:gridCol w="3576177">
                  <a:extLst>
                    <a:ext uri="{9D8B030D-6E8A-4147-A177-3AD203B41FA5}">
                      <a16:colId xmlns:a16="http://schemas.microsoft.com/office/drawing/2014/main" val="20000"/>
                    </a:ext>
                  </a:extLst>
                </a:gridCol>
                <a:gridCol w="13016373">
                  <a:extLst>
                    <a:ext uri="{9D8B030D-6E8A-4147-A177-3AD203B41FA5}">
                      <a16:colId xmlns:a16="http://schemas.microsoft.com/office/drawing/2014/main" val="20001"/>
                    </a:ext>
                  </a:extLst>
                </a:gridCol>
              </a:tblGrid>
              <a:tr h="685800">
                <a:tc>
                  <a:txBody>
                    <a:bodyPr/>
                    <a:lstStyle/>
                    <a:p>
                      <a:pPr algn="ctr">
                        <a:lnSpc>
                          <a:spcPts val="2520"/>
                        </a:lnSpc>
                        <a:defRPr/>
                      </a:pPr>
                      <a:r>
                        <a:rPr lang="en-US" sz="2100" b="1">
                          <a:solidFill>
                            <a:srgbClr val="FFFFFF"/>
                          </a:solidFill>
                          <a:latin typeface="Calibri (MS) Bold"/>
                          <a:ea typeface="Calibri (MS) Bold"/>
                          <a:cs typeface="Calibri (MS) Bold"/>
                          <a:sym typeface="Calibri (MS) Bold"/>
                        </a:rPr>
                        <a:t>Concept</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E3A5F"/>
                    </a:solidFill>
                  </a:tcPr>
                </a:tc>
                <a:tc>
                  <a:txBody>
                    <a:bodyPr/>
                    <a:lstStyle/>
                    <a:p>
                      <a:pPr algn="ctr">
                        <a:lnSpc>
                          <a:spcPts val="2520"/>
                        </a:lnSpc>
                        <a:defRPr/>
                      </a:pPr>
                      <a:r>
                        <a:rPr lang="en-US" sz="2100" b="1">
                          <a:solidFill>
                            <a:srgbClr val="FFFFFF"/>
                          </a:solidFill>
                          <a:latin typeface="Calibri (MS) Bold"/>
                          <a:ea typeface="Calibri (MS) Bold"/>
                          <a:cs typeface="Calibri (MS) Bold"/>
                          <a:sym typeface="Calibri (MS) Bold"/>
                        </a:rPr>
                        <a:t>Where it is used in SCOPE</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685800">
                <a:tc>
                  <a:txBody>
                    <a:bodyPr/>
                    <a:lstStyle/>
                    <a:p>
                      <a:pPr algn="ctr">
                        <a:lnSpc>
                          <a:spcPts val="2520"/>
                        </a:lnSpc>
                        <a:defRPr/>
                      </a:pPr>
                      <a:r>
                        <a:rPr lang="en-US" sz="2100" b="1">
                          <a:solidFill>
                            <a:srgbClr val="0B1B33"/>
                          </a:solidFill>
                          <a:latin typeface="Calibri (MS) Bold"/>
                          <a:ea typeface="Calibri (MS) Bold"/>
                          <a:cs typeface="Calibri (MS) Bold"/>
                          <a:sym typeface="Calibri (MS) Bold"/>
                        </a:rPr>
                        <a:t>Abstraction</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EEF3F9"/>
                    </a:solidFill>
                  </a:tcPr>
                </a:tc>
                <a:tc>
                  <a:txBody>
                    <a:bodyPr/>
                    <a:lstStyle/>
                    <a:p>
                      <a:pPr algn="l">
                        <a:lnSpc>
                          <a:spcPts val="2520"/>
                        </a:lnSpc>
                        <a:defRPr/>
                      </a:pPr>
                      <a:r>
                        <a:rPr lang="en-US" sz="2100">
                          <a:solidFill>
                            <a:srgbClr val="0B1B33"/>
                          </a:solidFill>
                          <a:latin typeface="Calibri (MS)"/>
                          <a:ea typeface="Calibri (MS)"/>
                          <a:cs typeface="Calibri (MS)"/>
                          <a:sym typeface="Calibri (MS)"/>
                        </a:rPr>
                        <a:t>OrbitalObject has pure virtual functions and cannot be created directly</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lnSpc>
                          <a:spcPts val="2520"/>
                        </a:lnSpc>
                        <a:defRPr/>
                      </a:pPr>
                      <a:r>
                        <a:rPr lang="en-US" sz="2100" b="1">
                          <a:solidFill>
                            <a:srgbClr val="0B1B33"/>
                          </a:solidFill>
                          <a:latin typeface="Calibri (MS) Bold"/>
                          <a:ea typeface="Calibri (MS) Bold"/>
                          <a:cs typeface="Calibri (MS) Bold"/>
                          <a:sym typeface="Calibri (MS) Bold"/>
                        </a:rPr>
                        <a:t>Inheritance</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EEF3F9"/>
                    </a:solidFill>
                  </a:tcPr>
                </a:tc>
                <a:tc>
                  <a:txBody>
                    <a:bodyPr/>
                    <a:lstStyle/>
                    <a:p>
                      <a:pPr algn="l">
                        <a:lnSpc>
                          <a:spcPts val="2520"/>
                        </a:lnSpc>
                        <a:defRPr/>
                      </a:pPr>
                      <a:r>
                        <a:rPr lang="en-US" sz="2100">
                          <a:solidFill>
                            <a:srgbClr val="0B1B33"/>
                          </a:solidFill>
                          <a:latin typeface="Calibri (MS)"/>
                          <a:ea typeface="Calibri (MS)"/>
                          <a:cs typeface="Calibri (MS)"/>
                          <a:sym typeface="Calibri (MS)"/>
                        </a:rPr>
                        <a:t>Satellite, SpaceDebris and RocketBody extend OrbitalObject</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EEF3F9"/>
                    </a:solidFill>
                  </a:tcPr>
                </a:tc>
                <a:extLst>
                  <a:ext uri="{0D108BD9-81ED-4DB2-BD59-A6C34878D82A}">
                    <a16:rowId xmlns:a16="http://schemas.microsoft.com/office/drawing/2014/main" val="10002"/>
                  </a:ext>
                </a:extLst>
              </a:tr>
              <a:tr h="685800">
                <a:tc>
                  <a:txBody>
                    <a:bodyPr/>
                    <a:lstStyle/>
                    <a:p>
                      <a:pPr algn="ctr">
                        <a:lnSpc>
                          <a:spcPts val="2520"/>
                        </a:lnSpc>
                        <a:defRPr/>
                      </a:pPr>
                      <a:r>
                        <a:rPr lang="en-US" sz="2100" b="1">
                          <a:solidFill>
                            <a:srgbClr val="0B1B33"/>
                          </a:solidFill>
                          <a:latin typeface="Calibri (MS) Bold"/>
                          <a:ea typeface="Calibri (MS) Bold"/>
                          <a:cs typeface="Calibri (MS) Bold"/>
                          <a:sym typeface="Calibri (MS) Bold"/>
                        </a:rPr>
                        <a:t>Polymorphism</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EEF3F9"/>
                    </a:solidFill>
                  </a:tcPr>
                </a:tc>
                <a:tc>
                  <a:txBody>
                    <a:bodyPr/>
                    <a:lstStyle/>
                    <a:p>
                      <a:pPr algn="l">
                        <a:lnSpc>
                          <a:spcPts val="2520"/>
                        </a:lnSpc>
                        <a:defRPr/>
                      </a:pPr>
                      <a:r>
                        <a:rPr lang="en-US" sz="2100">
                          <a:solidFill>
                            <a:srgbClr val="0B1B33"/>
                          </a:solidFill>
                          <a:latin typeface="Calibri (MS)"/>
                          <a:ea typeface="Calibri (MS)"/>
                          <a:cs typeface="Calibri (MS)"/>
                          <a:sym typeface="Calibri (MS)"/>
                        </a:rPr>
                        <a:t>Virtual calls through base pointers in Simulation, RiskAnalyzer and DataManager</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algn="ctr">
                        <a:lnSpc>
                          <a:spcPts val="2520"/>
                        </a:lnSpc>
                        <a:defRPr/>
                      </a:pPr>
                      <a:r>
                        <a:rPr lang="en-US" sz="2100" b="1">
                          <a:solidFill>
                            <a:srgbClr val="0B1B33"/>
                          </a:solidFill>
                          <a:latin typeface="Calibri (MS) Bold"/>
                          <a:ea typeface="Calibri (MS) Bold"/>
                          <a:cs typeface="Calibri (MS) Bold"/>
                          <a:sym typeface="Calibri (MS) Bold"/>
                        </a:rPr>
                        <a:t>Encapsulation</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EEF3F9"/>
                    </a:solidFill>
                  </a:tcPr>
                </a:tc>
                <a:tc>
                  <a:txBody>
                    <a:bodyPr/>
                    <a:lstStyle/>
                    <a:p>
                      <a:pPr algn="l">
                        <a:lnSpc>
                          <a:spcPts val="2520"/>
                        </a:lnSpc>
                        <a:defRPr/>
                      </a:pPr>
                      <a:r>
                        <a:rPr lang="en-US" sz="2100">
                          <a:solidFill>
                            <a:srgbClr val="0B1B33"/>
                          </a:solidFill>
                          <a:latin typeface="Calibri (MS)"/>
                          <a:ea typeface="Calibri (MS)"/>
                          <a:cs typeface="Calibri (MS)"/>
                          <a:sym typeface="Calibri (MS)"/>
                        </a:rPr>
                        <a:t>Private data members; Orbit rejects invalid altitude in its constructor</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EEF3F9"/>
                    </a:solidFill>
                  </a:tcPr>
                </a:tc>
                <a:extLst>
                  <a:ext uri="{0D108BD9-81ED-4DB2-BD59-A6C34878D82A}">
                    <a16:rowId xmlns:a16="http://schemas.microsoft.com/office/drawing/2014/main" val="10004"/>
                  </a:ext>
                </a:extLst>
              </a:tr>
              <a:tr h="685800">
                <a:tc>
                  <a:txBody>
                    <a:bodyPr/>
                    <a:lstStyle/>
                    <a:p>
                      <a:pPr algn="ctr">
                        <a:lnSpc>
                          <a:spcPts val="2520"/>
                        </a:lnSpc>
                        <a:defRPr/>
                      </a:pPr>
                      <a:r>
                        <a:rPr lang="en-US" sz="2100" b="1">
                          <a:solidFill>
                            <a:srgbClr val="0B1B33"/>
                          </a:solidFill>
                          <a:latin typeface="Calibri (MS) Bold"/>
                          <a:ea typeface="Calibri (MS) Bold"/>
                          <a:cs typeface="Calibri (MS) Bold"/>
                          <a:sym typeface="Calibri (MS) Bold"/>
                        </a:rPr>
                        <a:t>Overloading</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EEF3F9"/>
                    </a:solidFill>
                  </a:tcPr>
                </a:tc>
                <a:tc>
                  <a:txBody>
                    <a:bodyPr/>
                    <a:lstStyle/>
                    <a:p>
                      <a:pPr algn="l">
                        <a:lnSpc>
                          <a:spcPts val="2520"/>
                        </a:lnSpc>
                        <a:defRPr/>
                      </a:pPr>
                      <a:r>
                        <a:rPr lang="en-US" sz="2100">
                          <a:solidFill>
                            <a:srgbClr val="0B1B33"/>
                          </a:solidFill>
                          <a:latin typeface="Calibri (MS)"/>
                          <a:ea typeface="Calibri (MS)"/>
                          <a:cs typeface="Calibri (MS)"/>
                          <a:sym typeface="Calibri (MS)"/>
                        </a:rPr>
                        <a:t>getDistance() has two versions; Vector2D overloads + - * and &lt;&lt;</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85800">
                <a:tc>
                  <a:txBody>
                    <a:bodyPr/>
                    <a:lstStyle/>
                    <a:p>
                      <a:pPr algn="ctr">
                        <a:lnSpc>
                          <a:spcPts val="2520"/>
                        </a:lnSpc>
                        <a:defRPr/>
                      </a:pPr>
                      <a:r>
                        <a:rPr lang="en-US" sz="2100" b="1">
                          <a:solidFill>
                            <a:srgbClr val="0B1B33"/>
                          </a:solidFill>
                          <a:latin typeface="Calibri (MS) Bold"/>
                          <a:ea typeface="Calibri (MS) Bold"/>
                          <a:cs typeface="Calibri (MS) Bold"/>
                          <a:sym typeface="Calibri (MS) Bold"/>
                        </a:rPr>
                        <a:t>Templates</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EEF3F9"/>
                    </a:solidFill>
                  </a:tcPr>
                </a:tc>
                <a:tc>
                  <a:txBody>
                    <a:bodyPr/>
                    <a:lstStyle/>
                    <a:p>
                      <a:pPr algn="l">
                        <a:lnSpc>
                          <a:spcPts val="2520"/>
                        </a:lnSpc>
                        <a:defRPr/>
                      </a:pPr>
                      <a:r>
                        <a:rPr lang="en-US" sz="2100">
                          <a:solidFill>
                            <a:srgbClr val="0B1B33"/>
                          </a:solidFill>
                          <a:latin typeface="Calibri (MS)"/>
                          <a:ea typeface="Calibri (MS)"/>
                          <a:cs typeface="Calibri (MS)"/>
                          <a:sym typeface="Calibri (MS)"/>
                        </a:rPr>
                        <a:t>readNumber&lt;T&gt;() reads int or double safely</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EEF3F9"/>
                    </a:solidFill>
                  </a:tcPr>
                </a:tc>
                <a:extLst>
                  <a:ext uri="{0D108BD9-81ED-4DB2-BD59-A6C34878D82A}">
                    <a16:rowId xmlns:a16="http://schemas.microsoft.com/office/drawing/2014/main" val="10006"/>
                  </a:ext>
                </a:extLst>
              </a:tr>
              <a:tr h="685800">
                <a:tc>
                  <a:txBody>
                    <a:bodyPr/>
                    <a:lstStyle/>
                    <a:p>
                      <a:pPr algn="ctr">
                        <a:lnSpc>
                          <a:spcPts val="2520"/>
                        </a:lnSpc>
                        <a:defRPr/>
                      </a:pPr>
                      <a:r>
                        <a:rPr lang="en-US" sz="2100" b="1">
                          <a:solidFill>
                            <a:srgbClr val="0B1B33"/>
                          </a:solidFill>
                          <a:latin typeface="Calibri (MS) Bold"/>
                          <a:ea typeface="Calibri (MS) Bold"/>
                          <a:cs typeface="Calibri (MS) Bold"/>
                          <a:sym typeface="Calibri (MS) Bold"/>
                        </a:rPr>
                        <a:t>STL</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EEF3F9"/>
                    </a:solidFill>
                  </a:tcPr>
                </a:tc>
                <a:tc>
                  <a:txBody>
                    <a:bodyPr/>
                    <a:lstStyle/>
                    <a:p>
                      <a:pPr algn="l">
                        <a:lnSpc>
                          <a:spcPts val="2520"/>
                        </a:lnSpc>
                        <a:defRPr/>
                      </a:pPr>
                      <a:r>
                        <a:rPr lang="en-US" sz="2100">
                          <a:solidFill>
                            <a:srgbClr val="0B1B33"/>
                          </a:solidFill>
                          <a:latin typeface="Calibri (MS)"/>
                          <a:ea typeface="Calibri (MS)"/>
                          <a:cs typeface="Calibri (MS)"/>
                          <a:sym typeface="Calibri (MS)"/>
                        </a:rPr>
                        <a:t>vector, map, unique_ptr and sort</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5800">
                <a:tc>
                  <a:txBody>
                    <a:bodyPr/>
                    <a:lstStyle/>
                    <a:p>
                      <a:pPr algn="ctr">
                        <a:lnSpc>
                          <a:spcPts val="2520"/>
                        </a:lnSpc>
                        <a:defRPr/>
                      </a:pPr>
                      <a:r>
                        <a:rPr lang="en-US" sz="2100" b="1">
                          <a:solidFill>
                            <a:srgbClr val="0B1B33"/>
                          </a:solidFill>
                          <a:latin typeface="Calibri (MS) Bold"/>
                          <a:ea typeface="Calibri (MS) Bold"/>
                          <a:cs typeface="Calibri (MS) Bold"/>
                          <a:sym typeface="Calibri (MS) Bold"/>
                        </a:rPr>
                        <a:t>Exceptions</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EEF3F9"/>
                    </a:solidFill>
                  </a:tcPr>
                </a:tc>
                <a:tc>
                  <a:txBody>
                    <a:bodyPr/>
                    <a:lstStyle/>
                    <a:p>
                      <a:pPr algn="l">
                        <a:lnSpc>
                          <a:spcPts val="2520"/>
                        </a:lnSpc>
                        <a:defRPr/>
                      </a:pPr>
                      <a:r>
                        <a:rPr lang="en-US" sz="2100">
                          <a:solidFill>
                            <a:srgbClr val="0B1B33"/>
                          </a:solidFill>
                          <a:latin typeface="Calibri (MS)"/>
                          <a:ea typeface="Calibri (MS)"/>
                          <a:cs typeface="Calibri (MS)"/>
                          <a:sym typeface="Calibri (MS)"/>
                        </a:rPr>
                        <a:t>Custom ScopeException hierarchy handled in the menu loop</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EEF3F9"/>
                    </a:solidFill>
                  </a:tcPr>
                </a:tc>
                <a:extLst>
                  <a:ext uri="{0D108BD9-81ED-4DB2-BD59-A6C34878D82A}">
                    <a16:rowId xmlns:a16="http://schemas.microsoft.com/office/drawing/2014/main" val="10008"/>
                  </a:ext>
                </a:extLst>
              </a:tr>
              <a:tr h="685800">
                <a:tc>
                  <a:txBody>
                    <a:bodyPr/>
                    <a:lstStyle/>
                    <a:p>
                      <a:pPr algn="ctr">
                        <a:lnSpc>
                          <a:spcPts val="2520"/>
                        </a:lnSpc>
                        <a:defRPr/>
                      </a:pPr>
                      <a:r>
                        <a:rPr lang="en-US" sz="2100" b="1">
                          <a:solidFill>
                            <a:srgbClr val="0B1B33"/>
                          </a:solidFill>
                          <a:latin typeface="Calibri (MS) Bold"/>
                          <a:ea typeface="Calibri (MS) Bold"/>
                          <a:cs typeface="Calibri (MS) Bold"/>
                          <a:sym typeface="Calibri (MS) Bold"/>
                        </a:rPr>
                        <a:t>File handling</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EEF3F9"/>
                    </a:solidFill>
                  </a:tcPr>
                </a:tc>
                <a:tc>
                  <a:txBody>
                    <a:bodyPr/>
                    <a:lstStyle/>
                    <a:p>
                      <a:pPr algn="l">
                        <a:lnSpc>
                          <a:spcPts val="2520"/>
                        </a:lnSpc>
                        <a:defRPr/>
                      </a:pPr>
                      <a:r>
                        <a:rPr lang="en-US" sz="2100">
                          <a:solidFill>
                            <a:srgbClr val="0B1B33"/>
                          </a:solidFill>
                          <a:latin typeface="Calibri (MS)"/>
                          <a:ea typeface="Calibri (MS)"/>
                          <a:cs typeface="Calibri (MS)"/>
                          <a:sym typeface="Calibri (MS)"/>
                        </a:rPr>
                        <a:t>ifstream and ofstream in DataManager and ReportGenerator</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9" name="TextBox 9"/>
          <p:cNvSpPr txBox="1"/>
          <p:nvPr/>
        </p:nvSpPr>
        <p:spPr>
          <a:xfrm>
            <a:off x="16824960" y="9608820"/>
            <a:ext cx="502920" cy="358140"/>
          </a:xfrm>
          <a:prstGeom prst="rect">
            <a:avLst/>
          </a:prstGeom>
        </p:spPr>
        <p:txBody>
          <a:bodyPr lIns="0" tIns="0" rIns="0" bIns="0" rtlCol="0" anchor="t">
            <a:spAutoFit/>
          </a:bodyPr>
          <a:lstStyle/>
          <a:p>
            <a:pPr algn="l">
              <a:lnSpc>
                <a:spcPts val="1800"/>
              </a:lnSpc>
            </a:pPr>
            <a:r>
              <a:rPr lang="en-US" sz="1500">
                <a:solidFill>
                  <a:srgbClr val="64748B"/>
                </a:solidFill>
                <a:latin typeface="Calibri (MS)"/>
                <a:ea typeface="Calibri (MS)"/>
                <a:cs typeface="Calibri (MS)"/>
                <a:sym typeface="Calibri (MS)"/>
              </a:rPr>
              <a:t>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9601200"/>
            <a:ext cx="9601200" cy="411480"/>
            <a:chOff x="0" y="0"/>
            <a:chExt cx="12801600" cy="548640"/>
          </a:xfrm>
        </p:grpSpPr>
        <p:sp>
          <p:nvSpPr>
            <p:cNvPr id="3" name="Freeform 3"/>
            <p:cNvSpPr/>
            <p:nvPr/>
          </p:nvSpPr>
          <p:spPr>
            <a:xfrm>
              <a:off x="0" y="0"/>
              <a:ext cx="12801600" cy="548640"/>
            </a:xfrm>
            <a:custGeom>
              <a:avLst/>
              <a:gdLst/>
              <a:ahLst/>
              <a:cxnLst/>
              <a:rect l="l" t="t" r="r" b="b"/>
              <a:pathLst>
                <a:path w="12801600" h="548640">
                  <a:moveTo>
                    <a:pt x="0" y="0"/>
                  </a:moveTo>
                  <a:lnTo>
                    <a:pt x="12801600" y="0"/>
                  </a:lnTo>
                  <a:lnTo>
                    <a:pt x="12801600" y="548640"/>
                  </a:lnTo>
                  <a:lnTo>
                    <a:pt x="0" y="548640"/>
                  </a:lnTo>
                  <a:close/>
                </a:path>
              </a:pathLst>
            </a:custGeom>
            <a:blipFill>
              <a:blip r:embed="rId2">
                <a:alphaModFix amt="0"/>
              </a:blip>
              <a:stretch>
                <a:fillRect t="-404650" b="-404650"/>
              </a:stretch>
            </a:blipFill>
          </p:spPr>
        </p:sp>
        <p:sp>
          <p:nvSpPr>
            <p:cNvPr id="4" name="TextBox 4"/>
            <p:cNvSpPr txBox="1"/>
            <p:nvPr/>
          </p:nvSpPr>
          <p:spPr>
            <a:xfrm>
              <a:off x="0" y="-38100"/>
              <a:ext cx="12801600" cy="586740"/>
            </a:xfrm>
            <a:prstGeom prst="rect">
              <a:avLst/>
            </a:prstGeom>
          </p:spPr>
          <p:txBody>
            <a:bodyPr lIns="0" tIns="0" rIns="0" bIns="0" rtlCol="0" anchor="ctr"/>
            <a:lstStyle/>
            <a:p>
              <a:pPr algn="l">
                <a:lnSpc>
                  <a:spcPts val="1800"/>
                </a:lnSpc>
              </a:pPr>
              <a:r>
                <a:rPr lang="en-US" sz="1500">
                  <a:solidFill>
                    <a:srgbClr val="64748B"/>
                  </a:solidFill>
                  <a:latin typeface="Calibri (MS)"/>
                  <a:ea typeface="Calibri (MS)"/>
                  <a:cs typeface="Calibri (MS)"/>
                  <a:sym typeface="Calibri (MS)"/>
                </a:rPr>
                <a:t>SCOPE  |  204ES Object Oriented Programming</a:t>
              </a:r>
            </a:p>
          </p:txBody>
        </p:sp>
      </p:grpSp>
      <p:grpSp>
        <p:nvGrpSpPr>
          <p:cNvPr id="5" name="Group 5"/>
          <p:cNvGrpSpPr/>
          <p:nvPr/>
        </p:nvGrpSpPr>
        <p:grpSpPr>
          <a:xfrm>
            <a:off x="822960" y="548640"/>
            <a:ext cx="16596360" cy="1234440"/>
            <a:chOff x="0" y="0"/>
            <a:chExt cx="22128480" cy="1645920"/>
          </a:xfrm>
        </p:grpSpPr>
        <p:sp>
          <p:nvSpPr>
            <p:cNvPr id="6" name="Freeform 6"/>
            <p:cNvSpPr/>
            <p:nvPr/>
          </p:nvSpPr>
          <p:spPr>
            <a:xfrm>
              <a:off x="0" y="0"/>
              <a:ext cx="22128480" cy="1645920"/>
            </a:xfrm>
            <a:custGeom>
              <a:avLst/>
              <a:gdLst/>
              <a:ahLst/>
              <a:cxnLst/>
              <a:rect l="l" t="t" r="r" b="b"/>
              <a:pathLst>
                <a:path w="22128480" h="1645920">
                  <a:moveTo>
                    <a:pt x="0" y="0"/>
                  </a:moveTo>
                  <a:lnTo>
                    <a:pt x="22128480" y="0"/>
                  </a:lnTo>
                  <a:lnTo>
                    <a:pt x="22128480" y="1645920"/>
                  </a:lnTo>
                  <a:lnTo>
                    <a:pt x="0" y="1645920"/>
                  </a:lnTo>
                  <a:close/>
                </a:path>
              </a:pathLst>
            </a:custGeom>
            <a:blipFill>
              <a:blip r:embed="rId2">
                <a:alphaModFix amt="0"/>
              </a:blip>
              <a:stretch>
                <a:fillRect t="-211965" b="-211965"/>
              </a:stretch>
            </a:blipFill>
          </p:spPr>
        </p:sp>
        <p:sp>
          <p:nvSpPr>
            <p:cNvPr id="7" name="TextBox 7"/>
            <p:cNvSpPr txBox="1"/>
            <p:nvPr/>
          </p:nvSpPr>
          <p:spPr>
            <a:xfrm>
              <a:off x="0" y="-9525"/>
              <a:ext cx="22128480" cy="1655445"/>
            </a:xfrm>
            <a:prstGeom prst="rect">
              <a:avLst/>
            </a:prstGeom>
          </p:spPr>
          <p:txBody>
            <a:bodyPr lIns="0" tIns="0" rIns="0" bIns="0" rtlCol="0" anchor="ctr"/>
            <a:lstStyle/>
            <a:p>
              <a:pPr algn="l">
                <a:lnSpc>
                  <a:spcPts val="6120"/>
                </a:lnSpc>
              </a:pPr>
              <a:r>
                <a:rPr lang="en-US" sz="5100" b="1">
                  <a:solidFill>
                    <a:srgbClr val="0B1B33"/>
                  </a:solidFill>
                  <a:latin typeface="Cambria Bold"/>
                  <a:ea typeface="Cambria Bold"/>
                  <a:cs typeface="Cambria Bold"/>
                  <a:sym typeface="Cambria Bold"/>
                </a:rPr>
                <a:t>How SCOPE Works</a:t>
              </a:r>
            </a:p>
          </p:txBody>
        </p:sp>
      </p:grpSp>
      <p:sp>
        <p:nvSpPr>
          <p:cNvPr id="8" name="AutoShape 8"/>
          <p:cNvSpPr/>
          <p:nvPr/>
        </p:nvSpPr>
        <p:spPr>
          <a:xfrm rot="6780">
            <a:off x="1871653" y="2939415"/>
            <a:ext cx="14498984" cy="0"/>
          </a:xfrm>
          <a:prstGeom prst="line">
            <a:avLst/>
          </a:prstGeom>
          <a:ln w="19050" cap="rnd">
            <a:solidFill>
              <a:srgbClr val="64748B"/>
            </a:solidFill>
            <a:prstDash val="solid"/>
            <a:headEnd type="none" w="sm" len="sm"/>
            <a:tailEnd type="none" w="sm" len="sm"/>
          </a:ln>
        </p:spPr>
      </p:sp>
      <p:grpSp>
        <p:nvGrpSpPr>
          <p:cNvPr id="9" name="Group 9"/>
          <p:cNvGrpSpPr/>
          <p:nvPr/>
        </p:nvGrpSpPr>
        <p:grpSpPr>
          <a:xfrm>
            <a:off x="813435" y="3556635"/>
            <a:ext cx="2145030" cy="2693670"/>
            <a:chOff x="0" y="0"/>
            <a:chExt cx="2860040" cy="3591560"/>
          </a:xfrm>
        </p:grpSpPr>
        <p:sp>
          <p:nvSpPr>
            <p:cNvPr id="10" name="Freeform 10"/>
            <p:cNvSpPr/>
            <p:nvPr/>
          </p:nvSpPr>
          <p:spPr>
            <a:xfrm>
              <a:off x="0" y="0"/>
              <a:ext cx="2860040" cy="3591560"/>
            </a:xfrm>
            <a:custGeom>
              <a:avLst/>
              <a:gdLst/>
              <a:ahLst/>
              <a:cxnLst/>
              <a:rect l="l" t="t" r="r" b="b"/>
              <a:pathLst>
                <a:path w="2860040" h="3591560">
                  <a:moveTo>
                    <a:pt x="0" y="221361"/>
                  </a:moveTo>
                  <a:cubicBezTo>
                    <a:pt x="0" y="99187"/>
                    <a:pt x="99187" y="0"/>
                    <a:pt x="221361" y="0"/>
                  </a:cubicBezTo>
                  <a:lnTo>
                    <a:pt x="2638679" y="0"/>
                  </a:lnTo>
                  <a:cubicBezTo>
                    <a:pt x="2760980" y="0"/>
                    <a:pt x="2860040" y="99187"/>
                    <a:pt x="2860040" y="221361"/>
                  </a:cubicBezTo>
                  <a:lnTo>
                    <a:pt x="2860040" y="3370199"/>
                  </a:lnTo>
                  <a:cubicBezTo>
                    <a:pt x="2860040" y="3492500"/>
                    <a:pt x="2760853" y="3591560"/>
                    <a:pt x="2638679" y="3591560"/>
                  </a:cubicBezTo>
                  <a:lnTo>
                    <a:pt x="221361" y="3591560"/>
                  </a:lnTo>
                  <a:cubicBezTo>
                    <a:pt x="99187" y="3591560"/>
                    <a:pt x="0" y="3492373"/>
                    <a:pt x="0" y="3370199"/>
                  </a:cubicBezTo>
                  <a:close/>
                </a:path>
              </a:pathLst>
            </a:custGeom>
            <a:solidFill>
              <a:srgbClr val="EEF3F9"/>
            </a:solidFill>
            <a:ln w="19050" cap="sq">
              <a:solidFill>
                <a:srgbClr val="EEF3F9"/>
              </a:solidFill>
              <a:prstDash val="solid"/>
              <a:miter/>
            </a:ln>
          </p:spPr>
        </p:sp>
      </p:grpSp>
      <p:grpSp>
        <p:nvGrpSpPr>
          <p:cNvPr id="11" name="Group 11"/>
          <p:cNvGrpSpPr/>
          <p:nvPr/>
        </p:nvGrpSpPr>
        <p:grpSpPr>
          <a:xfrm>
            <a:off x="1343025" y="2371725"/>
            <a:ext cx="1085850" cy="1085850"/>
            <a:chOff x="0" y="0"/>
            <a:chExt cx="1447800" cy="1447800"/>
          </a:xfrm>
        </p:grpSpPr>
        <p:sp>
          <p:nvSpPr>
            <p:cNvPr id="12" name="Freeform 12"/>
            <p:cNvSpPr/>
            <p:nvPr/>
          </p:nvSpPr>
          <p:spPr>
            <a:xfrm>
              <a:off x="0" y="0"/>
              <a:ext cx="1447800" cy="1447800"/>
            </a:xfrm>
            <a:custGeom>
              <a:avLst/>
              <a:gdLst/>
              <a:ahLst/>
              <a:cxnLst/>
              <a:rect l="l" t="t" r="r" b="b"/>
              <a:pathLst>
                <a:path w="1447800" h="1447800">
                  <a:moveTo>
                    <a:pt x="0" y="723900"/>
                  </a:moveTo>
                  <a:cubicBezTo>
                    <a:pt x="0" y="324104"/>
                    <a:pt x="324104" y="0"/>
                    <a:pt x="723900" y="0"/>
                  </a:cubicBezTo>
                  <a:cubicBezTo>
                    <a:pt x="1123696" y="0"/>
                    <a:pt x="1447800" y="324104"/>
                    <a:pt x="1447800" y="723900"/>
                  </a:cubicBezTo>
                  <a:cubicBezTo>
                    <a:pt x="1447800" y="1123696"/>
                    <a:pt x="1123696" y="1447800"/>
                    <a:pt x="723900" y="1447800"/>
                  </a:cubicBezTo>
                  <a:cubicBezTo>
                    <a:pt x="324104" y="1447800"/>
                    <a:pt x="0" y="1123696"/>
                    <a:pt x="0" y="723900"/>
                  </a:cubicBezTo>
                  <a:close/>
                </a:path>
              </a:pathLst>
            </a:custGeom>
            <a:solidFill>
              <a:srgbClr val="F59E0B"/>
            </a:solidFill>
            <a:ln w="57150" cap="sq">
              <a:solidFill>
                <a:srgbClr val="FFFFFF"/>
              </a:solidFill>
              <a:prstDash val="solid"/>
              <a:miter/>
            </a:ln>
          </p:spPr>
        </p:sp>
      </p:grpSp>
      <p:grpSp>
        <p:nvGrpSpPr>
          <p:cNvPr id="13" name="Group 13"/>
          <p:cNvGrpSpPr/>
          <p:nvPr/>
        </p:nvGrpSpPr>
        <p:grpSpPr>
          <a:xfrm>
            <a:off x="1371600" y="2400300"/>
            <a:ext cx="1028700" cy="1028700"/>
            <a:chOff x="0" y="0"/>
            <a:chExt cx="1371600" cy="1371600"/>
          </a:xfrm>
        </p:grpSpPr>
        <p:sp>
          <p:nvSpPr>
            <p:cNvPr id="14" name="Freeform 14"/>
            <p:cNvSpPr/>
            <p:nvPr/>
          </p:nvSpPr>
          <p:spPr>
            <a:xfrm>
              <a:off x="0" y="0"/>
              <a:ext cx="1371600" cy="1371600"/>
            </a:xfrm>
            <a:custGeom>
              <a:avLst/>
              <a:gdLst/>
              <a:ahLst/>
              <a:cxnLst/>
              <a:rect l="l" t="t" r="r" b="b"/>
              <a:pathLst>
                <a:path w="1371600" h="1371600">
                  <a:moveTo>
                    <a:pt x="0" y="0"/>
                  </a:moveTo>
                  <a:lnTo>
                    <a:pt x="1371600" y="0"/>
                  </a:lnTo>
                  <a:lnTo>
                    <a:pt x="1371600" y="1371600"/>
                  </a:lnTo>
                  <a:lnTo>
                    <a:pt x="0" y="1371600"/>
                  </a:lnTo>
                  <a:close/>
                </a:path>
              </a:pathLst>
            </a:custGeom>
            <a:blipFill>
              <a:blip r:embed="rId2">
                <a:alphaModFix amt="0"/>
              </a:blip>
              <a:stretch>
                <a:fillRect l="-78303" r="-78303"/>
              </a:stretch>
            </a:blipFill>
          </p:spPr>
        </p:sp>
        <p:sp>
          <p:nvSpPr>
            <p:cNvPr id="15" name="TextBox 15"/>
            <p:cNvSpPr txBox="1"/>
            <p:nvPr/>
          </p:nvSpPr>
          <p:spPr>
            <a:xfrm>
              <a:off x="0" y="-66675"/>
              <a:ext cx="1371600" cy="1438275"/>
            </a:xfrm>
            <a:prstGeom prst="rect">
              <a:avLst/>
            </a:prstGeom>
          </p:spPr>
          <p:txBody>
            <a:bodyPr lIns="0" tIns="0" rIns="0" bIns="0" rtlCol="0" anchor="ctr"/>
            <a:lstStyle/>
            <a:p>
              <a:pPr algn="ctr">
                <a:lnSpc>
                  <a:spcPts val="3600"/>
                </a:lnSpc>
              </a:pPr>
              <a:r>
                <a:rPr lang="en-US" sz="3000" b="1">
                  <a:solidFill>
                    <a:srgbClr val="0B1B33"/>
                  </a:solidFill>
                  <a:latin typeface="Calibri (MS) Bold"/>
                  <a:ea typeface="Calibri (MS) Bold"/>
                  <a:cs typeface="Calibri (MS) Bold"/>
                  <a:sym typeface="Calibri (MS) Bold"/>
                </a:rPr>
                <a:t>1</a:t>
              </a:r>
            </a:p>
          </p:txBody>
        </p:sp>
      </p:grpSp>
      <p:sp>
        <p:nvSpPr>
          <p:cNvPr id="16" name="TextBox 16"/>
          <p:cNvSpPr txBox="1"/>
          <p:nvPr/>
        </p:nvSpPr>
        <p:spPr>
          <a:xfrm>
            <a:off x="960120" y="3870960"/>
            <a:ext cx="1851660" cy="586740"/>
          </a:xfrm>
          <a:prstGeom prst="rect">
            <a:avLst/>
          </a:prstGeom>
        </p:spPr>
        <p:txBody>
          <a:bodyPr lIns="0" tIns="0" rIns="0" bIns="0" rtlCol="0" anchor="t">
            <a:spAutoFit/>
          </a:bodyPr>
          <a:lstStyle/>
          <a:p>
            <a:pPr algn="ctr">
              <a:lnSpc>
                <a:spcPts val="2879"/>
              </a:lnSpc>
            </a:pPr>
            <a:r>
              <a:rPr lang="en-US" sz="2400" b="1">
                <a:solidFill>
                  <a:srgbClr val="0B1B33"/>
                </a:solidFill>
                <a:latin typeface="Calibri (MS) Bold"/>
                <a:ea typeface="Calibri (MS) Bold"/>
                <a:cs typeface="Calibri (MS) Bold"/>
                <a:sym typeface="Calibri (MS) Bold"/>
              </a:rPr>
              <a:t>Input</a:t>
            </a:r>
          </a:p>
        </p:txBody>
      </p:sp>
      <p:sp>
        <p:nvSpPr>
          <p:cNvPr id="17" name="TextBox 17"/>
          <p:cNvSpPr txBox="1"/>
          <p:nvPr/>
        </p:nvSpPr>
        <p:spPr>
          <a:xfrm>
            <a:off x="960120" y="4478655"/>
            <a:ext cx="1851660" cy="714375"/>
          </a:xfrm>
          <a:prstGeom prst="rect">
            <a:avLst/>
          </a:prstGeom>
        </p:spPr>
        <p:txBody>
          <a:bodyPr lIns="0" tIns="0" rIns="0" bIns="0" rtlCol="0" anchor="t">
            <a:spAutoFit/>
          </a:bodyPr>
          <a:lstStyle/>
          <a:p>
            <a:pPr algn="ctr">
              <a:lnSpc>
                <a:spcPts val="2639"/>
              </a:lnSpc>
            </a:pPr>
            <a:r>
              <a:rPr lang="en-US" sz="2199">
                <a:solidFill>
                  <a:srgbClr val="0B1B33"/>
                </a:solidFill>
                <a:latin typeface="Calibri (MS)"/>
                <a:ea typeface="Calibri (MS)"/>
                <a:cs typeface="Calibri (MS)"/>
                <a:sym typeface="Calibri (MS)"/>
              </a:rPr>
              <a:t>Add or load objects</a:t>
            </a:r>
          </a:p>
        </p:txBody>
      </p:sp>
      <p:grpSp>
        <p:nvGrpSpPr>
          <p:cNvPr id="18" name="Group 18"/>
          <p:cNvGrpSpPr/>
          <p:nvPr/>
        </p:nvGrpSpPr>
        <p:grpSpPr>
          <a:xfrm>
            <a:off x="3254883" y="3556635"/>
            <a:ext cx="2145030" cy="2693670"/>
            <a:chOff x="0" y="0"/>
            <a:chExt cx="2860040" cy="3591560"/>
          </a:xfrm>
        </p:grpSpPr>
        <p:sp>
          <p:nvSpPr>
            <p:cNvPr id="19" name="Freeform 19"/>
            <p:cNvSpPr/>
            <p:nvPr/>
          </p:nvSpPr>
          <p:spPr>
            <a:xfrm>
              <a:off x="0" y="0"/>
              <a:ext cx="2860040" cy="3591560"/>
            </a:xfrm>
            <a:custGeom>
              <a:avLst/>
              <a:gdLst/>
              <a:ahLst/>
              <a:cxnLst/>
              <a:rect l="l" t="t" r="r" b="b"/>
              <a:pathLst>
                <a:path w="2860040" h="3591560">
                  <a:moveTo>
                    <a:pt x="0" y="221361"/>
                  </a:moveTo>
                  <a:cubicBezTo>
                    <a:pt x="0" y="99187"/>
                    <a:pt x="99187" y="0"/>
                    <a:pt x="221361" y="0"/>
                  </a:cubicBezTo>
                  <a:lnTo>
                    <a:pt x="2638679" y="0"/>
                  </a:lnTo>
                  <a:cubicBezTo>
                    <a:pt x="2760980" y="0"/>
                    <a:pt x="2860040" y="99187"/>
                    <a:pt x="2860040" y="221361"/>
                  </a:cubicBezTo>
                  <a:lnTo>
                    <a:pt x="2860040" y="3370199"/>
                  </a:lnTo>
                  <a:cubicBezTo>
                    <a:pt x="2860040" y="3492500"/>
                    <a:pt x="2760853" y="3591560"/>
                    <a:pt x="2638679" y="3591560"/>
                  </a:cubicBezTo>
                  <a:lnTo>
                    <a:pt x="221361" y="3591560"/>
                  </a:lnTo>
                  <a:cubicBezTo>
                    <a:pt x="99187" y="3591560"/>
                    <a:pt x="0" y="3492373"/>
                    <a:pt x="0" y="3370199"/>
                  </a:cubicBezTo>
                  <a:close/>
                </a:path>
              </a:pathLst>
            </a:custGeom>
            <a:solidFill>
              <a:srgbClr val="EEF3F9"/>
            </a:solidFill>
            <a:ln w="19050" cap="sq">
              <a:solidFill>
                <a:srgbClr val="EEF3F9"/>
              </a:solidFill>
              <a:prstDash val="solid"/>
              <a:miter/>
            </a:ln>
          </p:spPr>
        </p:sp>
      </p:grpSp>
      <p:grpSp>
        <p:nvGrpSpPr>
          <p:cNvPr id="20" name="Group 20"/>
          <p:cNvGrpSpPr/>
          <p:nvPr/>
        </p:nvGrpSpPr>
        <p:grpSpPr>
          <a:xfrm>
            <a:off x="3784473" y="2371725"/>
            <a:ext cx="1085850" cy="1085850"/>
            <a:chOff x="0" y="0"/>
            <a:chExt cx="1447800" cy="1447800"/>
          </a:xfrm>
        </p:grpSpPr>
        <p:sp>
          <p:nvSpPr>
            <p:cNvPr id="21" name="Freeform 21"/>
            <p:cNvSpPr/>
            <p:nvPr/>
          </p:nvSpPr>
          <p:spPr>
            <a:xfrm>
              <a:off x="0" y="0"/>
              <a:ext cx="1447800" cy="1447800"/>
            </a:xfrm>
            <a:custGeom>
              <a:avLst/>
              <a:gdLst/>
              <a:ahLst/>
              <a:cxnLst/>
              <a:rect l="l" t="t" r="r" b="b"/>
              <a:pathLst>
                <a:path w="1447800" h="1447800">
                  <a:moveTo>
                    <a:pt x="0" y="723900"/>
                  </a:moveTo>
                  <a:cubicBezTo>
                    <a:pt x="0" y="324104"/>
                    <a:pt x="324104" y="0"/>
                    <a:pt x="723900" y="0"/>
                  </a:cubicBezTo>
                  <a:cubicBezTo>
                    <a:pt x="1123696" y="0"/>
                    <a:pt x="1447800" y="324104"/>
                    <a:pt x="1447800" y="723900"/>
                  </a:cubicBezTo>
                  <a:cubicBezTo>
                    <a:pt x="1447800" y="1123696"/>
                    <a:pt x="1123696" y="1447800"/>
                    <a:pt x="723900" y="1447800"/>
                  </a:cubicBezTo>
                  <a:cubicBezTo>
                    <a:pt x="324104" y="1447800"/>
                    <a:pt x="0" y="1123696"/>
                    <a:pt x="0" y="723900"/>
                  </a:cubicBezTo>
                  <a:close/>
                </a:path>
              </a:pathLst>
            </a:custGeom>
            <a:solidFill>
              <a:srgbClr val="F59E0B"/>
            </a:solidFill>
            <a:ln w="57150" cap="sq">
              <a:solidFill>
                <a:srgbClr val="FFFFFF"/>
              </a:solidFill>
              <a:prstDash val="solid"/>
              <a:miter/>
            </a:ln>
          </p:spPr>
        </p:sp>
      </p:grpSp>
      <p:grpSp>
        <p:nvGrpSpPr>
          <p:cNvPr id="22" name="Group 22"/>
          <p:cNvGrpSpPr/>
          <p:nvPr/>
        </p:nvGrpSpPr>
        <p:grpSpPr>
          <a:xfrm>
            <a:off x="3813048" y="2400300"/>
            <a:ext cx="1028700" cy="1028700"/>
            <a:chOff x="0" y="0"/>
            <a:chExt cx="1371600" cy="1371600"/>
          </a:xfrm>
        </p:grpSpPr>
        <p:sp>
          <p:nvSpPr>
            <p:cNvPr id="23" name="Freeform 23"/>
            <p:cNvSpPr/>
            <p:nvPr/>
          </p:nvSpPr>
          <p:spPr>
            <a:xfrm>
              <a:off x="0" y="0"/>
              <a:ext cx="1371600" cy="1371600"/>
            </a:xfrm>
            <a:custGeom>
              <a:avLst/>
              <a:gdLst/>
              <a:ahLst/>
              <a:cxnLst/>
              <a:rect l="l" t="t" r="r" b="b"/>
              <a:pathLst>
                <a:path w="1371600" h="1371600">
                  <a:moveTo>
                    <a:pt x="0" y="0"/>
                  </a:moveTo>
                  <a:lnTo>
                    <a:pt x="1371600" y="0"/>
                  </a:lnTo>
                  <a:lnTo>
                    <a:pt x="1371600" y="1371600"/>
                  </a:lnTo>
                  <a:lnTo>
                    <a:pt x="0" y="1371600"/>
                  </a:lnTo>
                  <a:close/>
                </a:path>
              </a:pathLst>
            </a:custGeom>
            <a:blipFill>
              <a:blip r:embed="rId2">
                <a:alphaModFix amt="0"/>
              </a:blip>
              <a:stretch>
                <a:fillRect l="-78303" r="-78303"/>
              </a:stretch>
            </a:blipFill>
          </p:spPr>
        </p:sp>
        <p:sp>
          <p:nvSpPr>
            <p:cNvPr id="24" name="TextBox 24"/>
            <p:cNvSpPr txBox="1"/>
            <p:nvPr/>
          </p:nvSpPr>
          <p:spPr>
            <a:xfrm>
              <a:off x="0" y="-66675"/>
              <a:ext cx="1371600" cy="1438275"/>
            </a:xfrm>
            <a:prstGeom prst="rect">
              <a:avLst/>
            </a:prstGeom>
          </p:spPr>
          <p:txBody>
            <a:bodyPr lIns="0" tIns="0" rIns="0" bIns="0" rtlCol="0" anchor="ctr"/>
            <a:lstStyle/>
            <a:p>
              <a:pPr algn="ctr">
                <a:lnSpc>
                  <a:spcPts val="3600"/>
                </a:lnSpc>
              </a:pPr>
              <a:r>
                <a:rPr lang="en-US" sz="3000" b="1">
                  <a:solidFill>
                    <a:srgbClr val="0B1B33"/>
                  </a:solidFill>
                  <a:latin typeface="Calibri (MS) Bold"/>
                  <a:ea typeface="Calibri (MS) Bold"/>
                  <a:cs typeface="Calibri (MS) Bold"/>
                  <a:sym typeface="Calibri (MS) Bold"/>
                </a:rPr>
                <a:t>2</a:t>
              </a:r>
            </a:p>
          </p:txBody>
        </p:sp>
      </p:grpSp>
      <p:sp>
        <p:nvSpPr>
          <p:cNvPr id="25" name="TextBox 25"/>
          <p:cNvSpPr txBox="1"/>
          <p:nvPr/>
        </p:nvSpPr>
        <p:spPr>
          <a:xfrm>
            <a:off x="3401568" y="3870960"/>
            <a:ext cx="1851660" cy="586740"/>
          </a:xfrm>
          <a:prstGeom prst="rect">
            <a:avLst/>
          </a:prstGeom>
        </p:spPr>
        <p:txBody>
          <a:bodyPr lIns="0" tIns="0" rIns="0" bIns="0" rtlCol="0" anchor="t">
            <a:spAutoFit/>
          </a:bodyPr>
          <a:lstStyle/>
          <a:p>
            <a:pPr algn="ctr">
              <a:lnSpc>
                <a:spcPts val="2879"/>
              </a:lnSpc>
            </a:pPr>
            <a:r>
              <a:rPr lang="en-US" sz="2400" b="1">
                <a:solidFill>
                  <a:srgbClr val="0B1B33"/>
                </a:solidFill>
                <a:latin typeface="Calibri (MS) Bold"/>
                <a:ea typeface="Calibri (MS) Bold"/>
                <a:cs typeface="Calibri (MS) Bold"/>
                <a:sym typeface="Calibri (MS) Bold"/>
              </a:rPr>
              <a:t>Create</a:t>
            </a:r>
          </a:p>
        </p:txBody>
      </p:sp>
      <p:sp>
        <p:nvSpPr>
          <p:cNvPr id="26" name="TextBox 26"/>
          <p:cNvSpPr txBox="1"/>
          <p:nvPr/>
        </p:nvSpPr>
        <p:spPr>
          <a:xfrm>
            <a:off x="3401568" y="4478655"/>
            <a:ext cx="1851660" cy="714375"/>
          </a:xfrm>
          <a:prstGeom prst="rect">
            <a:avLst/>
          </a:prstGeom>
        </p:spPr>
        <p:txBody>
          <a:bodyPr lIns="0" tIns="0" rIns="0" bIns="0" rtlCol="0" anchor="t">
            <a:spAutoFit/>
          </a:bodyPr>
          <a:lstStyle/>
          <a:p>
            <a:pPr algn="ctr">
              <a:lnSpc>
                <a:spcPts val="2639"/>
              </a:lnSpc>
            </a:pPr>
            <a:r>
              <a:rPr lang="en-US" sz="2199">
                <a:solidFill>
                  <a:srgbClr val="0B1B33"/>
                </a:solidFill>
                <a:latin typeface="Calibri (MS)"/>
                <a:ea typeface="Calibri (MS)"/>
                <a:cs typeface="Calibri (MS)"/>
                <a:sym typeface="Calibri (MS)"/>
              </a:rPr>
              <a:t>Build objects with orbits</a:t>
            </a:r>
          </a:p>
        </p:txBody>
      </p:sp>
      <p:grpSp>
        <p:nvGrpSpPr>
          <p:cNvPr id="27" name="Group 27"/>
          <p:cNvGrpSpPr/>
          <p:nvPr/>
        </p:nvGrpSpPr>
        <p:grpSpPr>
          <a:xfrm>
            <a:off x="5696331" y="3556635"/>
            <a:ext cx="2145030" cy="2693670"/>
            <a:chOff x="0" y="0"/>
            <a:chExt cx="2860040" cy="3591560"/>
          </a:xfrm>
        </p:grpSpPr>
        <p:sp>
          <p:nvSpPr>
            <p:cNvPr id="28" name="Freeform 28"/>
            <p:cNvSpPr/>
            <p:nvPr/>
          </p:nvSpPr>
          <p:spPr>
            <a:xfrm>
              <a:off x="0" y="0"/>
              <a:ext cx="2860040" cy="3591560"/>
            </a:xfrm>
            <a:custGeom>
              <a:avLst/>
              <a:gdLst/>
              <a:ahLst/>
              <a:cxnLst/>
              <a:rect l="l" t="t" r="r" b="b"/>
              <a:pathLst>
                <a:path w="2860040" h="3591560">
                  <a:moveTo>
                    <a:pt x="0" y="221361"/>
                  </a:moveTo>
                  <a:cubicBezTo>
                    <a:pt x="0" y="99187"/>
                    <a:pt x="99187" y="0"/>
                    <a:pt x="221361" y="0"/>
                  </a:cubicBezTo>
                  <a:lnTo>
                    <a:pt x="2638679" y="0"/>
                  </a:lnTo>
                  <a:cubicBezTo>
                    <a:pt x="2760980" y="0"/>
                    <a:pt x="2860040" y="99187"/>
                    <a:pt x="2860040" y="221361"/>
                  </a:cubicBezTo>
                  <a:lnTo>
                    <a:pt x="2860040" y="3370199"/>
                  </a:lnTo>
                  <a:cubicBezTo>
                    <a:pt x="2860040" y="3492500"/>
                    <a:pt x="2760853" y="3591560"/>
                    <a:pt x="2638679" y="3591560"/>
                  </a:cubicBezTo>
                  <a:lnTo>
                    <a:pt x="221361" y="3591560"/>
                  </a:lnTo>
                  <a:cubicBezTo>
                    <a:pt x="99187" y="3591560"/>
                    <a:pt x="0" y="3492373"/>
                    <a:pt x="0" y="3370199"/>
                  </a:cubicBezTo>
                  <a:close/>
                </a:path>
              </a:pathLst>
            </a:custGeom>
            <a:solidFill>
              <a:srgbClr val="EEF3F9"/>
            </a:solidFill>
            <a:ln w="19050" cap="sq">
              <a:solidFill>
                <a:srgbClr val="EEF3F9"/>
              </a:solidFill>
              <a:prstDash val="solid"/>
              <a:miter/>
            </a:ln>
          </p:spPr>
        </p:sp>
      </p:grpSp>
      <p:grpSp>
        <p:nvGrpSpPr>
          <p:cNvPr id="29" name="Group 29"/>
          <p:cNvGrpSpPr/>
          <p:nvPr/>
        </p:nvGrpSpPr>
        <p:grpSpPr>
          <a:xfrm>
            <a:off x="6225921" y="2371725"/>
            <a:ext cx="1085850" cy="1085850"/>
            <a:chOff x="0" y="0"/>
            <a:chExt cx="1447800" cy="1447800"/>
          </a:xfrm>
        </p:grpSpPr>
        <p:sp>
          <p:nvSpPr>
            <p:cNvPr id="30" name="Freeform 30"/>
            <p:cNvSpPr/>
            <p:nvPr/>
          </p:nvSpPr>
          <p:spPr>
            <a:xfrm>
              <a:off x="0" y="0"/>
              <a:ext cx="1447800" cy="1447800"/>
            </a:xfrm>
            <a:custGeom>
              <a:avLst/>
              <a:gdLst/>
              <a:ahLst/>
              <a:cxnLst/>
              <a:rect l="l" t="t" r="r" b="b"/>
              <a:pathLst>
                <a:path w="1447800" h="1447800">
                  <a:moveTo>
                    <a:pt x="0" y="723900"/>
                  </a:moveTo>
                  <a:cubicBezTo>
                    <a:pt x="0" y="324104"/>
                    <a:pt x="324104" y="0"/>
                    <a:pt x="723900" y="0"/>
                  </a:cubicBezTo>
                  <a:cubicBezTo>
                    <a:pt x="1123696" y="0"/>
                    <a:pt x="1447800" y="324104"/>
                    <a:pt x="1447800" y="723900"/>
                  </a:cubicBezTo>
                  <a:cubicBezTo>
                    <a:pt x="1447800" y="1123696"/>
                    <a:pt x="1123696" y="1447800"/>
                    <a:pt x="723900" y="1447800"/>
                  </a:cubicBezTo>
                  <a:cubicBezTo>
                    <a:pt x="324104" y="1447800"/>
                    <a:pt x="0" y="1123696"/>
                    <a:pt x="0" y="723900"/>
                  </a:cubicBezTo>
                  <a:close/>
                </a:path>
              </a:pathLst>
            </a:custGeom>
            <a:solidFill>
              <a:srgbClr val="F59E0B"/>
            </a:solidFill>
            <a:ln w="57150" cap="sq">
              <a:solidFill>
                <a:srgbClr val="FFFFFF"/>
              </a:solidFill>
              <a:prstDash val="solid"/>
              <a:miter/>
            </a:ln>
          </p:spPr>
        </p:sp>
      </p:grpSp>
      <p:grpSp>
        <p:nvGrpSpPr>
          <p:cNvPr id="31" name="Group 31"/>
          <p:cNvGrpSpPr/>
          <p:nvPr/>
        </p:nvGrpSpPr>
        <p:grpSpPr>
          <a:xfrm>
            <a:off x="6254496" y="2400300"/>
            <a:ext cx="1028700" cy="1028700"/>
            <a:chOff x="0" y="0"/>
            <a:chExt cx="1371600" cy="1371600"/>
          </a:xfrm>
        </p:grpSpPr>
        <p:sp>
          <p:nvSpPr>
            <p:cNvPr id="32" name="Freeform 32"/>
            <p:cNvSpPr/>
            <p:nvPr/>
          </p:nvSpPr>
          <p:spPr>
            <a:xfrm>
              <a:off x="0" y="0"/>
              <a:ext cx="1371600" cy="1371600"/>
            </a:xfrm>
            <a:custGeom>
              <a:avLst/>
              <a:gdLst/>
              <a:ahLst/>
              <a:cxnLst/>
              <a:rect l="l" t="t" r="r" b="b"/>
              <a:pathLst>
                <a:path w="1371600" h="1371600">
                  <a:moveTo>
                    <a:pt x="0" y="0"/>
                  </a:moveTo>
                  <a:lnTo>
                    <a:pt x="1371600" y="0"/>
                  </a:lnTo>
                  <a:lnTo>
                    <a:pt x="1371600" y="1371600"/>
                  </a:lnTo>
                  <a:lnTo>
                    <a:pt x="0" y="1371600"/>
                  </a:lnTo>
                  <a:close/>
                </a:path>
              </a:pathLst>
            </a:custGeom>
            <a:blipFill>
              <a:blip r:embed="rId2">
                <a:alphaModFix amt="0"/>
              </a:blip>
              <a:stretch>
                <a:fillRect l="-78303" r="-78303"/>
              </a:stretch>
            </a:blipFill>
          </p:spPr>
        </p:sp>
        <p:sp>
          <p:nvSpPr>
            <p:cNvPr id="33" name="TextBox 33"/>
            <p:cNvSpPr txBox="1"/>
            <p:nvPr/>
          </p:nvSpPr>
          <p:spPr>
            <a:xfrm>
              <a:off x="0" y="-66675"/>
              <a:ext cx="1371600" cy="1438275"/>
            </a:xfrm>
            <a:prstGeom prst="rect">
              <a:avLst/>
            </a:prstGeom>
          </p:spPr>
          <p:txBody>
            <a:bodyPr lIns="0" tIns="0" rIns="0" bIns="0" rtlCol="0" anchor="ctr"/>
            <a:lstStyle/>
            <a:p>
              <a:pPr algn="ctr">
                <a:lnSpc>
                  <a:spcPts val="3600"/>
                </a:lnSpc>
              </a:pPr>
              <a:r>
                <a:rPr lang="en-US" sz="3000" b="1">
                  <a:solidFill>
                    <a:srgbClr val="0B1B33"/>
                  </a:solidFill>
                  <a:latin typeface="Calibri (MS) Bold"/>
                  <a:ea typeface="Calibri (MS) Bold"/>
                  <a:cs typeface="Calibri (MS) Bold"/>
                  <a:sym typeface="Calibri (MS) Bold"/>
                </a:rPr>
                <a:t>3</a:t>
              </a:r>
            </a:p>
          </p:txBody>
        </p:sp>
      </p:grpSp>
      <p:sp>
        <p:nvSpPr>
          <p:cNvPr id="34" name="TextBox 34"/>
          <p:cNvSpPr txBox="1"/>
          <p:nvPr/>
        </p:nvSpPr>
        <p:spPr>
          <a:xfrm>
            <a:off x="5843016" y="3870960"/>
            <a:ext cx="1851660" cy="586740"/>
          </a:xfrm>
          <a:prstGeom prst="rect">
            <a:avLst/>
          </a:prstGeom>
        </p:spPr>
        <p:txBody>
          <a:bodyPr lIns="0" tIns="0" rIns="0" bIns="0" rtlCol="0" anchor="t">
            <a:spAutoFit/>
          </a:bodyPr>
          <a:lstStyle/>
          <a:p>
            <a:pPr algn="ctr">
              <a:lnSpc>
                <a:spcPts val="2879"/>
              </a:lnSpc>
            </a:pPr>
            <a:r>
              <a:rPr lang="en-US" sz="2400" b="1">
                <a:solidFill>
                  <a:srgbClr val="0B1B33"/>
                </a:solidFill>
                <a:latin typeface="Calibri (MS) Bold"/>
                <a:ea typeface="Calibri (MS) Bold"/>
                <a:cs typeface="Calibri (MS) Bold"/>
                <a:sym typeface="Calibri (MS) Bold"/>
              </a:rPr>
              <a:t>Simulate</a:t>
            </a:r>
          </a:p>
        </p:txBody>
      </p:sp>
      <p:sp>
        <p:nvSpPr>
          <p:cNvPr id="35" name="TextBox 35"/>
          <p:cNvSpPr txBox="1"/>
          <p:nvPr/>
        </p:nvSpPr>
        <p:spPr>
          <a:xfrm>
            <a:off x="5843016" y="4478655"/>
            <a:ext cx="1851660" cy="714375"/>
          </a:xfrm>
          <a:prstGeom prst="rect">
            <a:avLst/>
          </a:prstGeom>
        </p:spPr>
        <p:txBody>
          <a:bodyPr lIns="0" tIns="0" rIns="0" bIns="0" rtlCol="0" anchor="t">
            <a:spAutoFit/>
          </a:bodyPr>
          <a:lstStyle/>
          <a:p>
            <a:pPr algn="ctr">
              <a:lnSpc>
                <a:spcPts val="2639"/>
              </a:lnSpc>
            </a:pPr>
            <a:r>
              <a:rPr lang="en-US" sz="2199">
                <a:solidFill>
                  <a:srgbClr val="0B1B33"/>
                </a:solidFill>
                <a:latin typeface="Calibri (MS)"/>
                <a:ea typeface="Calibri (MS)"/>
                <a:cs typeface="Calibri (MS)"/>
                <a:sym typeface="Calibri (MS)"/>
              </a:rPr>
              <a:t>Positions over time</a:t>
            </a:r>
          </a:p>
        </p:txBody>
      </p:sp>
      <p:grpSp>
        <p:nvGrpSpPr>
          <p:cNvPr id="36" name="Group 36"/>
          <p:cNvGrpSpPr/>
          <p:nvPr/>
        </p:nvGrpSpPr>
        <p:grpSpPr>
          <a:xfrm>
            <a:off x="8137779" y="3556635"/>
            <a:ext cx="2145030" cy="2693670"/>
            <a:chOff x="0" y="0"/>
            <a:chExt cx="2860040" cy="3591560"/>
          </a:xfrm>
        </p:grpSpPr>
        <p:sp>
          <p:nvSpPr>
            <p:cNvPr id="37" name="Freeform 37"/>
            <p:cNvSpPr/>
            <p:nvPr/>
          </p:nvSpPr>
          <p:spPr>
            <a:xfrm>
              <a:off x="0" y="0"/>
              <a:ext cx="2860040" cy="3591560"/>
            </a:xfrm>
            <a:custGeom>
              <a:avLst/>
              <a:gdLst/>
              <a:ahLst/>
              <a:cxnLst/>
              <a:rect l="l" t="t" r="r" b="b"/>
              <a:pathLst>
                <a:path w="2860040" h="3591560">
                  <a:moveTo>
                    <a:pt x="0" y="221361"/>
                  </a:moveTo>
                  <a:cubicBezTo>
                    <a:pt x="0" y="99187"/>
                    <a:pt x="99187" y="0"/>
                    <a:pt x="221361" y="0"/>
                  </a:cubicBezTo>
                  <a:lnTo>
                    <a:pt x="2638679" y="0"/>
                  </a:lnTo>
                  <a:cubicBezTo>
                    <a:pt x="2760980" y="0"/>
                    <a:pt x="2860040" y="99187"/>
                    <a:pt x="2860040" y="221361"/>
                  </a:cubicBezTo>
                  <a:lnTo>
                    <a:pt x="2860040" y="3370199"/>
                  </a:lnTo>
                  <a:cubicBezTo>
                    <a:pt x="2860040" y="3492500"/>
                    <a:pt x="2760853" y="3591560"/>
                    <a:pt x="2638679" y="3591560"/>
                  </a:cubicBezTo>
                  <a:lnTo>
                    <a:pt x="221361" y="3591560"/>
                  </a:lnTo>
                  <a:cubicBezTo>
                    <a:pt x="99187" y="3591560"/>
                    <a:pt x="0" y="3492373"/>
                    <a:pt x="0" y="3370199"/>
                  </a:cubicBezTo>
                  <a:close/>
                </a:path>
              </a:pathLst>
            </a:custGeom>
            <a:solidFill>
              <a:srgbClr val="EEF3F9"/>
            </a:solidFill>
            <a:ln w="19050" cap="sq">
              <a:solidFill>
                <a:srgbClr val="EEF3F9"/>
              </a:solidFill>
              <a:prstDash val="solid"/>
              <a:miter/>
            </a:ln>
          </p:spPr>
        </p:sp>
      </p:grpSp>
      <p:grpSp>
        <p:nvGrpSpPr>
          <p:cNvPr id="38" name="Group 38"/>
          <p:cNvGrpSpPr/>
          <p:nvPr/>
        </p:nvGrpSpPr>
        <p:grpSpPr>
          <a:xfrm>
            <a:off x="8667369" y="2371725"/>
            <a:ext cx="1085850" cy="1085850"/>
            <a:chOff x="0" y="0"/>
            <a:chExt cx="1447800" cy="1447800"/>
          </a:xfrm>
        </p:grpSpPr>
        <p:sp>
          <p:nvSpPr>
            <p:cNvPr id="39" name="Freeform 39"/>
            <p:cNvSpPr/>
            <p:nvPr/>
          </p:nvSpPr>
          <p:spPr>
            <a:xfrm>
              <a:off x="0" y="0"/>
              <a:ext cx="1447800" cy="1447800"/>
            </a:xfrm>
            <a:custGeom>
              <a:avLst/>
              <a:gdLst/>
              <a:ahLst/>
              <a:cxnLst/>
              <a:rect l="l" t="t" r="r" b="b"/>
              <a:pathLst>
                <a:path w="1447800" h="1447800">
                  <a:moveTo>
                    <a:pt x="0" y="723900"/>
                  </a:moveTo>
                  <a:cubicBezTo>
                    <a:pt x="0" y="324104"/>
                    <a:pt x="324104" y="0"/>
                    <a:pt x="723900" y="0"/>
                  </a:cubicBezTo>
                  <a:cubicBezTo>
                    <a:pt x="1123696" y="0"/>
                    <a:pt x="1447800" y="324104"/>
                    <a:pt x="1447800" y="723900"/>
                  </a:cubicBezTo>
                  <a:cubicBezTo>
                    <a:pt x="1447800" y="1123696"/>
                    <a:pt x="1123696" y="1447800"/>
                    <a:pt x="723900" y="1447800"/>
                  </a:cubicBezTo>
                  <a:cubicBezTo>
                    <a:pt x="324104" y="1447800"/>
                    <a:pt x="0" y="1123696"/>
                    <a:pt x="0" y="723900"/>
                  </a:cubicBezTo>
                  <a:close/>
                </a:path>
              </a:pathLst>
            </a:custGeom>
            <a:solidFill>
              <a:srgbClr val="F59E0B"/>
            </a:solidFill>
            <a:ln w="57150" cap="sq">
              <a:solidFill>
                <a:srgbClr val="FFFFFF"/>
              </a:solidFill>
              <a:prstDash val="solid"/>
              <a:miter/>
            </a:ln>
          </p:spPr>
        </p:sp>
      </p:grpSp>
      <p:grpSp>
        <p:nvGrpSpPr>
          <p:cNvPr id="40" name="Group 40"/>
          <p:cNvGrpSpPr/>
          <p:nvPr/>
        </p:nvGrpSpPr>
        <p:grpSpPr>
          <a:xfrm>
            <a:off x="8695944" y="2400300"/>
            <a:ext cx="1028700" cy="1028700"/>
            <a:chOff x="0" y="0"/>
            <a:chExt cx="1371600" cy="1371600"/>
          </a:xfrm>
        </p:grpSpPr>
        <p:sp>
          <p:nvSpPr>
            <p:cNvPr id="41" name="Freeform 41"/>
            <p:cNvSpPr/>
            <p:nvPr/>
          </p:nvSpPr>
          <p:spPr>
            <a:xfrm>
              <a:off x="0" y="0"/>
              <a:ext cx="1371600" cy="1371600"/>
            </a:xfrm>
            <a:custGeom>
              <a:avLst/>
              <a:gdLst/>
              <a:ahLst/>
              <a:cxnLst/>
              <a:rect l="l" t="t" r="r" b="b"/>
              <a:pathLst>
                <a:path w="1371600" h="1371600">
                  <a:moveTo>
                    <a:pt x="0" y="0"/>
                  </a:moveTo>
                  <a:lnTo>
                    <a:pt x="1371600" y="0"/>
                  </a:lnTo>
                  <a:lnTo>
                    <a:pt x="1371600" y="1371600"/>
                  </a:lnTo>
                  <a:lnTo>
                    <a:pt x="0" y="1371600"/>
                  </a:lnTo>
                  <a:close/>
                </a:path>
              </a:pathLst>
            </a:custGeom>
            <a:blipFill>
              <a:blip r:embed="rId2">
                <a:alphaModFix amt="0"/>
              </a:blip>
              <a:stretch>
                <a:fillRect l="-78303" r="-78303"/>
              </a:stretch>
            </a:blipFill>
          </p:spPr>
        </p:sp>
        <p:sp>
          <p:nvSpPr>
            <p:cNvPr id="42" name="TextBox 42"/>
            <p:cNvSpPr txBox="1"/>
            <p:nvPr/>
          </p:nvSpPr>
          <p:spPr>
            <a:xfrm>
              <a:off x="0" y="-66675"/>
              <a:ext cx="1371600" cy="1438275"/>
            </a:xfrm>
            <a:prstGeom prst="rect">
              <a:avLst/>
            </a:prstGeom>
          </p:spPr>
          <p:txBody>
            <a:bodyPr lIns="0" tIns="0" rIns="0" bIns="0" rtlCol="0" anchor="ctr"/>
            <a:lstStyle/>
            <a:p>
              <a:pPr algn="ctr">
                <a:lnSpc>
                  <a:spcPts val="3600"/>
                </a:lnSpc>
              </a:pPr>
              <a:r>
                <a:rPr lang="en-US" sz="3000" b="1">
                  <a:solidFill>
                    <a:srgbClr val="0B1B33"/>
                  </a:solidFill>
                  <a:latin typeface="Calibri (MS) Bold"/>
                  <a:ea typeface="Calibri (MS) Bold"/>
                  <a:cs typeface="Calibri (MS) Bold"/>
                  <a:sym typeface="Calibri (MS) Bold"/>
                </a:rPr>
                <a:t>4</a:t>
              </a:r>
            </a:p>
          </p:txBody>
        </p:sp>
      </p:grpSp>
      <p:sp>
        <p:nvSpPr>
          <p:cNvPr id="43" name="TextBox 43"/>
          <p:cNvSpPr txBox="1"/>
          <p:nvPr/>
        </p:nvSpPr>
        <p:spPr>
          <a:xfrm>
            <a:off x="8284464" y="3870960"/>
            <a:ext cx="1851660" cy="586740"/>
          </a:xfrm>
          <a:prstGeom prst="rect">
            <a:avLst/>
          </a:prstGeom>
        </p:spPr>
        <p:txBody>
          <a:bodyPr lIns="0" tIns="0" rIns="0" bIns="0" rtlCol="0" anchor="t">
            <a:spAutoFit/>
          </a:bodyPr>
          <a:lstStyle/>
          <a:p>
            <a:pPr algn="ctr">
              <a:lnSpc>
                <a:spcPts val="2879"/>
              </a:lnSpc>
            </a:pPr>
            <a:r>
              <a:rPr lang="en-US" sz="2400" b="1">
                <a:solidFill>
                  <a:srgbClr val="0B1B33"/>
                </a:solidFill>
                <a:latin typeface="Calibri (MS) Bold"/>
                <a:ea typeface="Calibri (MS) Bold"/>
                <a:cs typeface="Calibri (MS) Bold"/>
                <a:sym typeface="Calibri (MS) Bold"/>
              </a:rPr>
              <a:t>Detect</a:t>
            </a:r>
          </a:p>
        </p:txBody>
      </p:sp>
      <p:sp>
        <p:nvSpPr>
          <p:cNvPr id="44" name="TextBox 44"/>
          <p:cNvSpPr txBox="1"/>
          <p:nvPr/>
        </p:nvSpPr>
        <p:spPr>
          <a:xfrm>
            <a:off x="8284464" y="4478655"/>
            <a:ext cx="1851660" cy="1047750"/>
          </a:xfrm>
          <a:prstGeom prst="rect">
            <a:avLst/>
          </a:prstGeom>
        </p:spPr>
        <p:txBody>
          <a:bodyPr lIns="0" tIns="0" rIns="0" bIns="0" rtlCol="0" anchor="t">
            <a:spAutoFit/>
          </a:bodyPr>
          <a:lstStyle/>
          <a:p>
            <a:pPr algn="ctr">
              <a:lnSpc>
                <a:spcPts val="2639"/>
              </a:lnSpc>
            </a:pPr>
            <a:r>
              <a:rPr lang="en-US" sz="2199">
                <a:solidFill>
                  <a:srgbClr val="0B1B33"/>
                </a:solidFill>
                <a:latin typeface="Calibri (MS)"/>
                <a:ea typeface="Calibri (MS)"/>
                <a:cs typeface="Calibri (MS)"/>
                <a:sym typeface="Calibri (MS)"/>
              </a:rPr>
              <a:t>Closest approach per pair</a:t>
            </a:r>
          </a:p>
        </p:txBody>
      </p:sp>
      <p:grpSp>
        <p:nvGrpSpPr>
          <p:cNvPr id="45" name="Group 45"/>
          <p:cNvGrpSpPr/>
          <p:nvPr/>
        </p:nvGrpSpPr>
        <p:grpSpPr>
          <a:xfrm>
            <a:off x="10579227" y="3556635"/>
            <a:ext cx="2145030" cy="2693670"/>
            <a:chOff x="0" y="0"/>
            <a:chExt cx="2860040" cy="3591560"/>
          </a:xfrm>
        </p:grpSpPr>
        <p:sp>
          <p:nvSpPr>
            <p:cNvPr id="46" name="Freeform 46"/>
            <p:cNvSpPr/>
            <p:nvPr/>
          </p:nvSpPr>
          <p:spPr>
            <a:xfrm>
              <a:off x="0" y="0"/>
              <a:ext cx="2860040" cy="3591560"/>
            </a:xfrm>
            <a:custGeom>
              <a:avLst/>
              <a:gdLst/>
              <a:ahLst/>
              <a:cxnLst/>
              <a:rect l="l" t="t" r="r" b="b"/>
              <a:pathLst>
                <a:path w="2860040" h="3591560">
                  <a:moveTo>
                    <a:pt x="0" y="221361"/>
                  </a:moveTo>
                  <a:cubicBezTo>
                    <a:pt x="0" y="99187"/>
                    <a:pt x="99187" y="0"/>
                    <a:pt x="221361" y="0"/>
                  </a:cubicBezTo>
                  <a:lnTo>
                    <a:pt x="2638679" y="0"/>
                  </a:lnTo>
                  <a:cubicBezTo>
                    <a:pt x="2760980" y="0"/>
                    <a:pt x="2860040" y="99187"/>
                    <a:pt x="2860040" y="221361"/>
                  </a:cubicBezTo>
                  <a:lnTo>
                    <a:pt x="2860040" y="3370199"/>
                  </a:lnTo>
                  <a:cubicBezTo>
                    <a:pt x="2860040" y="3492500"/>
                    <a:pt x="2760853" y="3591560"/>
                    <a:pt x="2638679" y="3591560"/>
                  </a:cubicBezTo>
                  <a:lnTo>
                    <a:pt x="221361" y="3591560"/>
                  </a:lnTo>
                  <a:cubicBezTo>
                    <a:pt x="99187" y="3591560"/>
                    <a:pt x="0" y="3492373"/>
                    <a:pt x="0" y="3370199"/>
                  </a:cubicBezTo>
                  <a:close/>
                </a:path>
              </a:pathLst>
            </a:custGeom>
            <a:solidFill>
              <a:srgbClr val="EEF3F9"/>
            </a:solidFill>
            <a:ln w="19050" cap="sq">
              <a:solidFill>
                <a:srgbClr val="EEF3F9"/>
              </a:solidFill>
              <a:prstDash val="solid"/>
              <a:miter/>
            </a:ln>
          </p:spPr>
        </p:sp>
      </p:grpSp>
      <p:grpSp>
        <p:nvGrpSpPr>
          <p:cNvPr id="47" name="Group 47"/>
          <p:cNvGrpSpPr/>
          <p:nvPr/>
        </p:nvGrpSpPr>
        <p:grpSpPr>
          <a:xfrm>
            <a:off x="11108817" y="2371725"/>
            <a:ext cx="1085850" cy="1085850"/>
            <a:chOff x="0" y="0"/>
            <a:chExt cx="1447800" cy="1447800"/>
          </a:xfrm>
        </p:grpSpPr>
        <p:sp>
          <p:nvSpPr>
            <p:cNvPr id="48" name="Freeform 48"/>
            <p:cNvSpPr/>
            <p:nvPr/>
          </p:nvSpPr>
          <p:spPr>
            <a:xfrm>
              <a:off x="0" y="0"/>
              <a:ext cx="1447800" cy="1447800"/>
            </a:xfrm>
            <a:custGeom>
              <a:avLst/>
              <a:gdLst/>
              <a:ahLst/>
              <a:cxnLst/>
              <a:rect l="l" t="t" r="r" b="b"/>
              <a:pathLst>
                <a:path w="1447800" h="1447800">
                  <a:moveTo>
                    <a:pt x="0" y="723900"/>
                  </a:moveTo>
                  <a:cubicBezTo>
                    <a:pt x="0" y="324104"/>
                    <a:pt x="324104" y="0"/>
                    <a:pt x="723900" y="0"/>
                  </a:cubicBezTo>
                  <a:cubicBezTo>
                    <a:pt x="1123696" y="0"/>
                    <a:pt x="1447800" y="324104"/>
                    <a:pt x="1447800" y="723900"/>
                  </a:cubicBezTo>
                  <a:cubicBezTo>
                    <a:pt x="1447800" y="1123696"/>
                    <a:pt x="1123696" y="1447800"/>
                    <a:pt x="723900" y="1447800"/>
                  </a:cubicBezTo>
                  <a:cubicBezTo>
                    <a:pt x="324104" y="1447800"/>
                    <a:pt x="0" y="1123696"/>
                    <a:pt x="0" y="723900"/>
                  </a:cubicBezTo>
                  <a:close/>
                </a:path>
              </a:pathLst>
            </a:custGeom>
            <a:solidFill>
              <a:srgbClr val="F59E0B"/>
            </a:solidFill>
            <a:ln w="57150" cap="sq">
              <a:solidFill>
                <a:srgbClr val="FFFFFF"/>
              </a:solidFill>
              <a:prstDash val="solid"/>
              <a:miter/>
            </a:ln>
          </p:spPr>
        </p:sp>
      </p:grpSp>
      <p:grpSp>
        <p:nvGrpSpPr>
          <p:cNvPr id="49" name="Group 49"/>
          <p:cNvGrpSpPr/>
          <p:nvPr/>
        </p:nvGrpSpPr>
        <p:grpSpPr>
          <a:xfrm>
            <a:off x="11137392" y="2400300"/>
            <a:ext cx="1028700" cy="1028700"/>
            <a:chOff x="0" y="0"/>
            <a:chExt cx="1371600" cy="1371600"/>
          </a:xfrm>
        </p:grpSpPr>
        <p:sp>
          <p:nvSpPr>
            <p:cNvPr id="50" name="Freeform 50"/>
            <p:cNvSpPr/>
            <p:nvPr/>
          </p:nvSpPr>
          <p:spPr>
            <a:xfrm>
              <a:off x="0" y="0"/>
              <a:ext cx="1371600" cy="1371600"/>
            </a:xfrm>
            <a:custGeom>
              <a:avLst/>
              <a:gdLst/>
              <a:ahLst/>
              <a:cxnLst/>
              <a:rect l="l" t="t" r="r" b="b"/>
              <a:pathLst>
                <a:path w="1371600" h="1371600">
                  <a:moveTo>
                    <a:pt x="0" y="0"/>
                  </a:moveTo>
                  <a:lnTo>
                    <a:pt x="1371600" y="0"/>
                  </a:lnTo>
                  <a:lnTo>
                    <a:pt x="1371600" y="1371600"/>
                  </a:lnTo>
                  <a:lnTo>
                    <a:pt x="0" y="1371600"/>
                  </a:lnTo>
                  <a:close/>
                </a:path>
              </a:pathLst>
            </a:custGeom>
            <a:blipFill>
              <a:blip r:embed="rId2">
                <a:alphaModFix amt="0"/>
              </a:blip>
              <a:stretch>
                <a:fillRect l="-78303" r="-78303"/>
              </a:stretch>
            </a:blipFill>
          </p:spPr>
        </p:sp>
        <p:sp>
          <p:nvSpPr>
            <p:cNvPr id="51" name="TextBox 51"/>
            <p:cNvSpPr txBox="1"/>
            <p:nvPr/>
          </p:nvSpPr>
          <p:spPr>
            <a:xfrm>
              <a:off x="0" y="-66675"/>
              <a:ext cx="1371600" cy="1438275"/>
            </a:xfrm>
            <a:prstGeom prst="rect">
              <a:avLst/>
            </a:prstGeom>
          </p:spPr>
          <p:txBody>
            <a:bodyPr lIns="0" tIns="0" rIns="0" bIns="0" rtlCol="0" anchor="ctr"/>
            <a:lstStyle/>
            <a:p>
              <a:pPr algn="ctr">
                <a:lnSpc>
                  <a:spcPts val="3600"/>
                </a:lnSpc>
              </a:pPr>
              <a:r>
                <a:rPr lang="en-US" sz="3000" b="1">
                  <a:solidFill>
                    <a:srgbClr val="0B1B33"/>
                  </a:solidFill>
                  <a:latin typeface="Calibri (MS) Bold"/>
                  <a:ea typeface="Calibri (MS) Bold"/>
                  <a:cs typeface="Calibri (MS) Bold"/>
                  <a:sym typeface="Calibri (MS) Bold"/>
                </a:rPr>
                <a:t>5</a:t>
              </a:r>
            </a:p>
          </p:txBody>
        </p:sp>
      </p:grpSp>
      <p:sp>
        <p:nvSpPr>
          <p:cNvPr id="52" name="TextBox 52"/>
          <p:cNvSpPr txBox="1"/>
          <p:nvPr/>
        </p:nvSpPr>
        <p:spPr>
          <a:xfrm>
            <a:off x="10725912" y="3870960"/>
            <a:ext cx="1851660" cy="586740"/>
          </a:xfrm>
          <a:prstGeom prst="rect">
            <a:avLst/>
          </a:prstGeom>
        </p:spPr>
        <p:txBody>
          <a:bodyPr lIns="0" tIns="0" rIns="0" bIns="0" rtlCol="0" anchor="t">
            <a:spAutoFit/>
          </a:bodyPr>
          <a:lstStyle/>
          <a:p>
            <a:pPr algn="ctr">
              <a:lnSpc>
                <a:spcPts val="2879"/>
              </a:lnSpc>
            </a:pPr>
            <a:r>
              <a:rPr lang="en-US" sz="2400" b="1">
                <a:solidFill>
                  <a:srgbClr val="0B1B33"/>
                </a:solidFill>
                <a:latin typeface="Calibri (MS) Bold"/>
                <a:ea typeface="Calibri (MS) Bold"/>
                <a:cs typeface="Calibri (MS) Bold"/>
                <a:sym typeface="Calibri (MS) Bold"/>
              </a:rPr>
              <a:t>Evaluate</a:t>
            </a:r>
          </a:p>
        </p:txBody>
      </p:sp>
      <p:sp>
        <p:nvSpPr>
          <p:cNvPr id="53" name="TextBox 53"/>
          <p:cNvSpPr txBox="1"/>
          <p:nvPr/>
        </p:nvSpPr>
        <p:spPr>
          <a:xfrm>
            <a:off x="10725912" y="4478655"/>
            <a:ext cx="1851660" cy="714375"/>
          </a:xfrm>
          <a:prstGeom prst="rect">
            <a:avLst/>
          </a:prstGeom>
        </p:spPr>
        <p:txBody>
          <a:bodyPr lIns="0" tIns="0" rIns="0" bIns="0" rtlCol="0" anchor="t">
            <a:spAutoFit/>
          </a:bodyPr>
          <a:lstStyle/>
          <a:p>
            <a:pPr algn="ctr">
              <a:lnSpc>
                <a:spcPts val="2639"/>
              </a:lnSpc>
            </a:pPr>
            <a:r>
              <a:rPr lang="en-US" sz="2199">
                <a:solidFill>
                  <a:srgbClr val="0B1B33"/>
                </a:solidFill>
                <a:latin typeface="Calibri (MS)"/>
                <a:ea typeface="Calibri (MS)"/>
                <a:cs typeface="Calibri (MS)"/>
                <a:sym typeface="Calibri (MS)"/>
              </a:rPr>
              <a:t>Risk score and level</a:t>
            </a:r>
          </a:p>
        </p:txBody>
      </p:sp>
      <p:grpSp>
        <p:nvGrpSpPr>
          <p:cNvPr id="54" name="Group 54"/>
          <p:cNvGrpSpPr/>
          <p:nvPr/>
        </p:nvGrpSpPr>
        <p:grpSpPr>
          <a:xfrm>
            <a:off x="13020675" y="3556635"/>
            <a:ext cx="2145030" cy="2693670"/>
            <a:chOff x="0" y="0"/>
            <a:chExt cx="2860040" cy="3591560"/>
          </a:xfrm>
        </p:grpSpPr>
        <p:sp>
          <p:nvSpPr>
            <p:cNvPr id="55" name="Freeform 55"/>
            <p:cNvSpPr/>
            <p:nvPr/>
          </p:nvSpPr>
          <p:spPr>
            <a:xfrm>
              <a:off x="0" y="0"/>
              <a:ext cx="2860040" cy="3591560"/>
            </a:xfrm>
            <a:custGeom>
              <a:avLst/>
              <a:gdLst/>
              <a:ahLst/>
              <a:cxnLst/>
              <a:rect l="l" t="t" r="r" b="b"/>
              <a:pathLst>
                <a:path w="2860040" h="3591560">
                  <a:moveTo>
                    <a:pt x="0" y="221361"/>
                  </a:moveTo>
                  <a:cubicBezTo>
                    <a:pt x="0" y="99187"/>
                    <a:pt x="99187" y="0"/>
                    <a:pt x="221361" y="0"/>
                  </a:cubicBezTo>
                  <a:lnTo>
                    <a:pt x="2638679" y="0"/>
                  </a:lnTo>
                  <a:cubicBezTo>
                    <a:pt x="2760980" y="0"/>
                    <a:pt x="2860040" y="99187"/>
                    <a:pt x="2860040" y="221361"/>
                  </a:cubicBezTo>
                  <a:lnTo>
                    <a:pt x="2860040" y="3370199"/>
                  </a:lnTo>
                  <a:cubicBezTo>
                    <a:pt x="2860040" y="3492500"/>
                    <a:pt x="2760853" y="3591560"/>
                    <a:pt x="2638679" y="3591560"/>
                  </a:cubicBezTo>
                  <a:lnTo>
                    <a:pt x="221361" y="3591560"/>
                  </a:lnTo>
                  <a:cubicBezTo>
                    <a:pt x="99187" y="3591560"/>
                    <a:pt x="0" y="3492373"/>
                    <a:pt x="0" y="3370199"/>
                  </a:cubicBezTo>
                  <a:close/>
                </a:path>
              </a:pathLst>
            </a:custGeom>
            <a:solidFill>
              <a:srgbClr val="EEF3F9"/>
            </a:solidFill>
            <a:ln w="19050" cap="sq">
              <a:solidFill>
                <a:srgbClr val="EEF3F9"/>
              </a:solidFill>
              <a:prstDash val="solid"/>
              <a:miter/>
            </a:ln>
          </p:spPr>
        </p:sp>
      </p:grpSp>
      <p:grpSp>
        <p:nvGrpSpPr>
          <p:cNvPr id="56" name="Group 56"/>
          <p:cNvGrpSpPr/>
          <p:nvPr/>
        </p:nvGrpSpPr>
        <p:grpSpPr>
          <a:xfrm>
            <a:off x="13550265" y="2371725"/>
            <a:ext cx="1085850" cy="1085850"/>
            <a:chOff x="0" y="0"/>
            <a:chExt cx="1447800" cy="1447800"/>
          </a:xfrm>
        </p:grpSpPr>
        <p:sp>
          <p:nvSpPr>
            <p:cNvPr id="57" name="Freeform 57"/>
            <p:cNvSpPr/>
            <p:nvPr/>
          </p:nvSpPr>
          <p:spPr>
            <a:xfrm>
              <a:off x="0" y="0"/>
              <a:ext cx="1447800" cy="1447800"/>
            </a:xfrm>
            <a:custGeom>
              <a:avLst/>
              <a:gdLst/>
              <a:ahLst/>
              <a:cxnLst/>
              <a:rect l="l" t="t" r="r" b="b"/>
              <a:pathLst>
                <a:path w="1447800" h="1447800">
                  <a:moveTo>
                    <a:pt x="0" y="723900"/>
                  </a:moveTo>
                  <a:cubicBezTo>
                    <a:pt x="0" y="324104"/>
                    <a:pt x="324104" y="0"/>
                    <a:pt x="723900" y="0"/>
                  </a:cubicBezTo>
                  <a:cubicBezTo>
                    <a:pt x="1123696" y="0"/>
                    <a:pt x="1447800" y="324104"/>
                    <a:pt x="1447800" y="723900"/>
                  </a:cubicBezTo>
                  <a:cubicBezTo>
                    <a:pt x="1447800" y="1123696"/>
                    <a:pt x="1123696" y="1447800"/>
                    <a:pt x="723900" y="1447800"/>
                  </a:cubicBezTo>
                  <a:cubicBezTo>
                    <a:pt x="324104" y="1447800"/>
                    <a:pt x="0" y="1123696"/>
                    <a:pt x="0" y="723900"/>
                  </a:cubicBezTo>
                  <a:close/>
                </a:path>
              </a:pathLst>
            </a:custGeom>
            <a:solidFill>
              <a:srgbClr val="F59E0B"/>
            </a:solidFill>
            <a:ln w="57150" cap="sq">
              <a:solidFill>
                <a:srgbClr val="FFFFFF"/>
              </a:solidFill>
              <a:prstDash val="solid"/>
              <a:miter/>
            </a:ln>
          </p:spPr>
        </p:sp>
      </p:grpSp>
      <p:grpSp>
        <p:nvGrpSpPr>
          <p:cNvPr id="58" name="Group 58"/>
          <p:cNvGrpSpPr/>
          <p:nvPr/>
        </p:nvGrpSpPr>
        <p:grpSpPr>
          <a:xfrm>
            <a:off x="13578840" y="2400300"/>
            <a:ext cx="1028700" cy="1028700"/>
            <a:chOff x="0" y="0"/>
            <a:chExt cx="1371600" cy="1371600"/>
          </a:xfrm>
        </p:grpSpPr>
        <p:sp>
          <p:nvSpPr>
            <p:cNvPr id="59" name="Freeform 59"/>
            <p:cNvSpPr/>
            <p:nvPr/>
          </p:nvSpPr>
          <p:spPr>
            <a:xfrm>
              <a:off x="0" y="0"/>
              <a:ext cx="1371600" cy="1371600"/>
            </a:xfrm>
            <a:custGeom>
              <a:avLst/>
              <a:gdLst/>
              <a:ahLst/>
              <a:cxnLst/>
              <a:rect l="l" t="t" r="r" b="b"/>
              <a:pathLst>
                <a:path w="1371600" h="1371600">
                  <a:moveTo>
                    <a:pt x="0" y="0"/>
                  </a:moveTo>
                  <a:lnTo>
                    <a:pt x="1371600" y="0"/>
                  </a:lnTo>
                  <a:lnTo>
                    <a:pt x="1371600" y="1371600"/>
                  </a:lnTo>
                  <a:lnTo>
                    <a:pt x="0" y="1371600"/>
                  </a:lnTo>
                  <a:close/>
                </a:path>
              </a:pathLst>
            </a:custGeom>
            <a:blipFill>
              <a:blip r:embed="rId2">
                <a:alphaModFix amt="0"/>
              </a:blip>
              <a:stretch>
                <a:fillRect l="-78303" r="-78303"/>
              </a:stretch>
            </a:blipFill>
          </p:spPr>
        </p:sp>
        <p:sp>
          <p:nvSpPr>
            <p:cNvPr id="60" name="TextBox 60"/>
            <p:cNvSpPr txBox="1"/>
            <p:nvPr/>
          </p:nvSpPr>
          <p:spPr>
            <a:xfrm>
              <a:off x="0" y="-66675"/>
              <a:ext cx="1371600" cy="1438275"/>
            </a:xfrm>
            <a:prstGeom prst="rect">
              <a:avLst/>
            </a:prstGeom>
          </p:spPr>
          <p:txBody>
            <a:bodyPr lIns="0" tIns="0" rIns="0" bIns="0" rtlCol="0" anchor="ctr"/>
            <a:lstStyle/>
            <a:p>
              <a:pPr algn="ctr">
                <a:lnSpc>
                  <a:spcPts val="3600"/>
                </a:lnSpc>
              </a:pPr>
              <a:r>
                <a:rPr lang="en-US" sz="3000" b="1">
                  <a:solidFill>
                    <a:srgbClr val="0B1B33"/>
                  </a:solidFill>
                  <a:latin typeface="Calibri (MS) Bold"/>
                  <a:ea typeface="Calibri (MS) Bold"/>
                  <a:cs typeface="Calibri (MS) Bold"/>
                  <a:sym typeface="Calibri (MS) Bold"/>
                </a:rPr>
                <a:t>6</a:t>
              </a:r>
            </a:p>
          </p:txBody>
        </p:sp>
      </p:grpSp>
      <p:sp>
        <p:nvSpPr>
          <p:cNvPr id="61" name="TextBox 61"/>
          <p:cNvSpPr txBox="1"/>
          <p:nvPr/>
        </p:nvSpPr>
        <p:spPr>
          <a:xfrm>
            <a:off x="13167360" y="3870960"/>
            <a:ext cx="1851660" cy="586740"/>
          </a:xfrm>
          <a:prstGeom prst="rect">
            <a:avLst/>
          </a:prstGeom>
        </p:spPr>
        <p:txBody>
          <a:bodyPr lIns="0" tIns="0" rIns="0" bIns="0" rtlCol="0" anchor="t">
            <a:spAutoFit/>
          </a:bodyPr>
          <a:lstStyle/>
          <a:p>
            <a:pPr algn="ctr">
              <a:lnSpc>
                <a:spcPts val="2879"/>
              </a:lnSpc>
            </a:pPr>
            <a:r>
              <a:rPr lang="en-US" sz="2400" b="1">
                <a:solidFill>
                  <a:srgbClr val="0B1B33"/>
                </a:solidFill>
                <a:latin typeface="Calibri (MS) Bold"/>
                <a:ea typeface="Calibri (MS) Bold"/>
                <a:cs typeface="Calibri (MS) Bold"/>
                <a:sym typeface="Calibri (MS) Bold"/>
              </a:rPr>
              <a:t>Report</a:t>
            </a:r>
          </a:p>
        </p:txBody>
      </p:sp>
      <p:sp>
        <p:nvSpPr>
          <p:cNvPr id="62" name="TextBox 62"/>
          <p:cNvSpPr txBox="1"/>
          <p:nvPr/>
        </p:nvSpPr>
        <p:spPr>
          <a:xfrm>
            <a:off x="13167360" y="4478655"/>
            <a:ext cx="1851660" cy="714375"/>
          </a:xfrm>
          <a:prstGeom prst="rect">
            <a:avLst/>
          </a:prstGeom>
        </p:spPr>
        <p:txBody>
          <a:bodyPr lIns="0" tIns="0" rIns="0" bIns="0" rtlCol="0" anchor="t">
            <a:spAutoFit/>
          </a:bodyPr>
          <a:lstStyle/>
          <a:p>
            <a:pPr algn="ctr">
              <a:lnSpc>
                <a:spcPts val="2639"/>
              </a:lnSpc>
            </a:pPr>
            <a:r>
              <a:rPr lang="en-US" sz="2199">
                <a:solidFill>
                  <a:srgbClr val="0B1B33"/>
                </a:solidFill>
                <a:latin typeface="Calibri (MS)"/>
                <a:ea typeface="Calibri (MS)"/>
                <a:cs typeface="Calibri (MS)"/>
                <a:sym typeface="Calibri (MS)"/>
              </a:rPr>
              <a:t>Summary and details</a:t>
            </a:r>
          </a:p>
        </p:txBody>
      </p:sp>
      <p:grpSp>
        <p:nvGrpSpPr>
          <p:cNvPr id="63" name="Group 63"/>
          <p:cNvGrpSpPr/>
          <p:nvPr/>
        </p:nvGrpSpPr>
        <p:grpSpPr>
          <a:xfrm>
            <a:off x="15462123" y="3556635"/>
            <a:ext cx="2145030" cy="2693670"/>
            <a:chOff x="0" y="0"/>
            <a:chExt cx="2860040" cy="3591560"/>
          </a:xfrm>
        </p:grpSpPr>
        <p:sp>
          <p:nvSpPr>
            <p:cNvPr id="64" name="Freeform 64"/>
            <p:cNvSpPr/>
            <p:nvPr/>
          </p:nvSpPr>
          <p:spPr>
            <a:xfrm>
              <a:off x="0" y="0"/>
              <a:ext cx="2860040" cy="3591560"/>
            </a:xfrm>
            <a:custGeom>
              <a:avLst/>
              <a:gdLst/>
              <a:ahLst/>
              <a:cxnLst/>
              <a:rect l="l" t="t" r="r" b="b"/>
              <a:pathLst>
                <a:path w="2860040" h="3591560">
                  <a:moveTo>
                    <a:pt x="0" y="221361"/>
                  </a:moveTo>
                  <a:cubicBezTo>
                    <a:pt x="0" y="99187"/>
                    <a:pt x="99187" y="0"/>
                    <a:pt x="221361" y="0"/>
                  </a:cubicBezTo>
                  <a:lnTo>
                    <a:pt x="2638679" y="0"/>
                  </a:lnTo>
                  <a:cubicBezTo>
                    <a:pt x="2760980" y="0"/>
                    <a:pt x="2860040" y="99187"/>
                    <a:pt x="2860040" y="221361"/>
                  </a:cubicBezTo>
                  <a:lnTo>
                    <a:pt x="2860040" y="3370199"/>
                  </a:lnTo>
                  <a:cubicBezTo>
                    <a:pt x="2860040" y="3492500"/>
                    <a:pt x="2760853" y="3591560"/>
                    <a:pt x="2638679" y="3591560"/>
                  </a:cubicBezTo>
                  <a:lnTo>
                    <a:pt x="221361" y="3591560"/>
                  </a:lnTo>
                  <a:cubicBezTo>
                    <a:pt x="99187" y="3591560"/>
                    <a:pt x="0" y="3492373"/>
                    <a:pt x="0" y="3370199"/>
                  </a:cubicBezTo>
                  <a:close/>
                </a:path>
              </a:pathLst>
            </a:custGeom>
            <a:solidFill>
              <a:srgbClr val="EEF3F9"/>
            </a:solidFill>
            <a:ln w="19050" cap="sq">
              <a:solidFill>
                <a:srgbClr val="EEF3F9"/>
              </a:solidFill>
              <a:prstDash val="solid"/>
              <a:miter/>
            </a:ln>
          </p:spPr>
        </p:sp>
      </p:grpSp>
      <p:grpSp>
        <p:nvGrpSpPr>
          <p:cNvPr id="65" name="Group 65"/>
          <p:cNvGrpSpPr/>
          <p:nvPr/>
        </p:nvGrpSpPr>
        <p:grpSpPr>
          <a:xfrm>
            <a:off x="15991713" y="2371725"/>
            <a:ext cx="1085850" cy="1085850"/>
            <a:chOff x="0" y="0"/>
            <a:chExt cx="1447800" cy="1447800"/>
          </a:xfrm>
        </p:grpSpPr>
        <p:sp>
          <p:nvSpPr>
            <p:cNvPr id="66" name="Freeform 66"/>
            <p:cNvSpPr/>
            <p:nvPr/>
          </p:nvSpPr>
          <p:spPr>
            <a:xfrm>
              <a:off x="0" y="0"/>
              <a:ext cx="1447800" cy="1447800"/>
            </a:xfrm>
            <a:custGeom>
              <a:avLst/>
              <a:gdLst/>
              <a:ahLst/>
              <a:cxnLst/>
              <a:rect l="l" t="t" r="r" b="b"/>
              <a:pathLst>
                <a:path w="1447800" h="1447800">
                  <a:moveTo>
                    <a:pt x="0" y="723900"/>
                  </a:moveTo>
                  <a:cubicBezTo>
                    <a:pt x="0" y="324104"/>
                    <a:pt x="324104" y="0"/>
                    <a:pt x="723900" y="0"/>
                  </a:cubicBezTo>
                  <a:cubicBezTo>
                    <a:pt x="1123696" y="0"/>
                    <a:pt x="1447800" y="324104"/>
                    <a:pt x="1447800" y="723900"/>
                  </a:cubicBezTo>
                  <a:cubicBezTo>
                    <a:pt x="1447800" y="1123696"/>
                    <a:pt x="1123696" y="1447800"/>
                    <a:pt x="723900" y="1447800"/>
                  </a:cubicBezTo>
                  <a:cubicBezTo>
                    <a:pt x="324104" y="1447800"/>
                    <a:pt x="0" y="1123696"/>
                    <a:pt x="0" y="723900"/>
                  </a:cubicBezTo>
                  <a:close/>
                </a:path>
              </a:pathLst>
            </a:custGeom>
            <a:solidFill>
              <a:srgbClr val="F59E0B"/>
            </a:solidFill>
            <a:ln w="57150" cap="sq">
              <a:solidFill>
                <a:srgbClr val="FFFFFF"/>
              </a:solidFill>
              <a:prstDash val="solid"/>
              <a:miter/>
            </a:ln>
          </p:spPr>
        </p:sp>
      </p:grpSp>
      <p:grpSp>
        <p:nvGrpSpPr>
          <p:cNvPr id="67" name="Group 67"/>
          <p:cNvGrpSpPr/>
          <p:nvPr/>
        </p:nvGrpSpPr>
        <p:grpSpPr>
          <a:xfrm>
            <a:off x="16020288" y="2400300"/>
            <a:ext cx="1028700" cy="1028700"/>
            <a:chOff x="0" y="0"/>
            <a:chExt cx="1371600" cy="1371600"/>
          </a:xfrm>
        </p:grpSpPr>
        <p:sp>
          <p:nvSpPr>
            <p:cNvPr id="68" name="Freeform 68"/>
            <p:cNvSpPr/>
            <p:nvPr/>
          </p:nvSpPr>
          <p:spPr>
            <a:xfrm>
              <a:off x="0" y="0"/>
              <a:ext cx="1371600" cy="1371600"/>
            </a:xfrm>
            <a:custGeom>
              <a:avLst/>
              <a:gdLst/>
              <a:ahLst/>
              <a:cxnLst/>
              <a:rect l="l" t="t" r="r" b="b"/>
              <a:pathLst>
                <a:path w="1371600" h="1371600">
                  <a:moveTo>
                    <a:pt x="0" y="0"/>
                  </a:moveTo>
                  <a:lnTo>
                    <a:pt x="1371600" y="0"/>
                  </a:lnTo>
                  <a:lnTo>
                    <a:pt x="1371600" y="1371600"/>
                  </a:lnTo>
                  <a:lnTo>
                    <a:pt x="0" y="1371600"/>
                  </a:lnTo>
                  <a:close/>
                </a:path>
              </a:pathLst>
            </a:custGeom>
            <a:blipFill>
              <a:blip r:embed="rId2">
                <a:alphaModFix amt="0"/>
              </a:blip>
              <a:stretch>
                <a:fillRect l="-78303" r="-78303"/>
              </a:stretch>
            </a:blipFill>
          </p:spPr>
        </p:sp>
        <p:sp>
          <p:nvSpPr>
            <p:cNvPr id="69" name="TextBox 69"/>
            <p:cNvSpPr txBox="1"/>
            <p:nvPr/>
          </p:nvSpPr>
          <p:spPr>
            <a:xfrm>
              <a:off x="0" y="-66675"/>
              <a:ext cx="1371600" cy="1438275"/>
            </a:xfrm>
            <a:prstGeom prst="rect">
              <a:avLst/>
            </a:prstGeom>
          </p:spPr>
          <p:txBody>
            <a:bodyPr lIns="0" tIns="0" rIns="0" bIns="0" rtlCol="0" anchor="ctr"/>
            <a:lstStyle/>
            <a:p>
              <a:pPr algn="ctr">
                <a:lnSpc>
                  <a:spcPts val="3600"/>
                </a:lnSpc>
              </a:pPr>
              <a:r>
                <a:rPr lang="en-US" sz="3000" b="1">
                  <a:solidFill>
                    <a:srgbClr val="0B1B33"/>
                  </a:solidFill>
                  <a:latin typeface="Calibri (MS) Bold"/>
                  <a:ea typeface="Calibri (MS) Bold"/>
                  <a:cs typeface="Calibri (MS) Bold"/>
                  <a:sym typeface="Calibri (MS) Bold"/>
                </a:rPr>
                <a:t>7</a:t>
              </a:r>
            </a:p>
          </p:txBody>
        </p:sp>
      </p:grpSp>
      <p:sp>
        <p:nvSpPr>
          <p:cNvPr id="70" name="TextBox 70"/>
          <p:cNvSpPr txBox="1"/>
          <p:nvPr/>
        </p:nvSpPr>
        <p:spPr>
          <a:xfrm>
            <a:off x="15608808" y="3870960"/>
            <a:ext cx="1851660" cy="586740"/>
          </a:xfrm>
          <a:prstGeom prst="rect">
            <a:avLst/>
          </a:prstGeom>
        </p:spPr>
        <p:txBody>
          <a:bodyPr lIns="0" tIns="0" rIns="0" bIns="0" rtlCol="0" anchor="t">
            <a:spAutoFit/>
          </a:bodyPr>
          <a:lstStyle/>
          <a:p>
            <a:pPr algn="ctr">
              <a:lnSpc>
                <a:spcPts val="2879"/>
              </a:lnSpc>
            </a:pPr>
            <a:r>
              <a:rPr lang="en-US" sz="2400" b="1">
                <a:solidFill>
                  <a:srgbClr val="0B1B33"/>
                </a:solidFill>
                <a:latin typeface="Calibri (MS) Bold"/>
                <a:ea typeface="Calibri (MS) Bold"/>
                <a:cs typeface="Calibri (MS) Bold"/>
                <a:sym typeface="Calibri (MS) Bold"/>
              </a:rPr>
              <a:t>Save</a:t>
            </a:r>
          </a:p>
        </p:txBody>
      </p:sp>
      <p:sp>
        <p:nvSpPr>
          <p:cNvPr id="71" name="TextBox 71"/>
          <p:cNvSpPr txBox="1"/>
          <p:nvPr/>
        </p:nvSpPr>
        <p:spPr>
          <a:xfrm>
            <a:off x="15608808" y="4478655"/>
            <a:ext cx="1851660" cy="714375"/>
          </a:xfrm>
          <a:prstGeom prst="rect">
            <a:avLst/>
          </a:prstGeom>
        </p:spPr>
        <p:txBody>
          <a:bodyPr lIns="0" tIns="0" rIns="0" bIns="0" rtlCol="0" anchor="t">
            <a:spAutoFit/>
          </a:bodyPr>
          <a:lstStyle/>
          <a:p>
            <a:pPr algn="ctr">
              <a:lnSpc>
                <a:spcPts val="2639"/>
              </a:lnSpc>
            </a:pPr>
            <a:r>
              <a:rPr lang="en-US" sz="2199">
                <a:solidFill>
                  <a:srgbClr val="0B1B33"/>
                </a:solidFill>
                <a:latin typeface="Calibri (MS)"/>
                <a:ea typeface="Calibri (MS)"/>
                <a:cs typeface="Calibri (MS)"/>
                <a:sym typeface="Calibri (MS)"/>
              </a:rPr>
              <a:t>Data and report files</a:t>
            </a:r>
          </a:p>
        </p:txBody>
      </p:sp>
      <p:grpSp>
        <p:nvGrpSpPr>
          <p:cNvPr id="72" name="Group 72"/>
          <p:cNvGrpSpPr/>
          <p:nvPr/>
        </p:nvGrpSpPr>
        <p:grpSpPr>
          <a:xfrm>
            <a:off x="813435" y="6789420"/>
            <a:ext cx="16615410" cy="2066925"/>
            <a:chOff x="0" y="0"/>
            <a:chExt cx="22153880" cy="2755900"/>
          </a:xfrm>
        </p:grpSpPr>
        <p:sp>
          <p:nvSpPr>
            <p:cNvPr id="73" name="Freeform 73"/>
            <p:cNvSpPr/>
            <p:nvPr/>
          </p:nvSpPr>
          <p:spPr>
            <a:xfrm>
              <a:off x="0" y="0"/>
              <a:ext cx="22153880" cy="2755900"/>
            </a:xfrm>
            <a:custGeom>
              <a:avLst/>
              <a:gdLst/>
              <a:ahLst/>
              <a:cxnLst/>
              <a:rect l="l" t="t" r="r" b="b"/>
              <a:pathLst>
                <a:path w="22153880" h="2755900">
                  <a:moveTo>
                    <a:pt x="0" y="220472"/>
                  </a:moveTo>
                  <a:cubicBezTo>
                    <a:pt x="0" y="98732"/>
                    <a:pt x="99187" y="0"/>
                    <a:pt x="221488" y="0"/>
                  </a:cubicBezTo>
                  <a:lnTo>
                    <a:pt x="21932392" y="0"/>
                  </a:lnTo>
                  <a:cubicBezTo>
                    <a:pt x="22054693" y="0"/>
                    <a:pt x="22153880" y="98732"/>
                    <a:pt x="22153880" y="220472"/>
                  </a:cubicBezTo>
                  <a:lnTo>
                    <a:pt x="22153880" y="2535428"/>
                  </a:lnTo>
                  <a:cubicBezTo>
                    <a:pt x="22153880" y="2657168"/>
                    <a:pt x="22054693" y="2755900"/>
                    <a:pt x="21932392" y="2755900"/>
                  </a:cubicBezTo>
                  <a:lnTo>
                    <a:pt x="221488" y="2755900"/>
                  </a:lnTo>
                  <a:cubicBezTo>
                    <a:pt x="99187" y="2755900"/>
                    <a:pt x="0" y="2657168"/>
                    <a:pt x="0" y="2535428"/>
                  </a:cubicBezTo>
                  <a:close/>
                </a:path>
              </a:pathLst>
            </a:custGeom>
            <a:solidFill>
              <a:srgbClr val="D2E4FF"/>
            </a:solidFill>
            <a:ln w="19050" cap="sq">
              <a:solidFill>
                <a:srgbClr val="0B1B33"/>
              </a:solidFill>
              <a:prstDash val="solid"/>
              <a:miter/>
            </a:ln>
          </p:spPr>
        </p:sp>
      </p:grpSp>
      <p:grpSp>
        <p:nvGrpSpPr>
          <p:cNvPr id="74" name="Group 74"/>
          <p:cNvGrpSpPr/>
          <p:nvPr/>
        </p:nvGrpSpPr>
        <p:grpSpPr>
          <a:xfrm>
            <a:off x="1303020" y="6860321"/>
            <a:ext cx="15636240" cy="1925124"/>
            <a:chOff x="0" y="0"/>
            <a:chExt cx="20848320" cy="2566832"/>
          </a:xfrm>
        </p:grpSpPr>
        <p:sp>
          <p:nvSpPr>
            <p:cNvPr id="75" name="Freeform 75"/>
            <p:cNvSpPr/>
            <p:nvPr/>
          </p:nvSpPr>
          <p:spPr>
            <a:xfrm>
              <a:off x="0" y="0"/>
              <a:ext cx="20848320" cy="2566832"/>
            </a:xfrm>
            <a:custGeom>
              <a:avLst/>
              <a:gdLst/>
              <a:ahLst/>
              <a:cxnLst/>
              <a:rect l="l" t="t" r="r" b="b"/>
              <a:pathLst>
                <a:path w="20848320" h="2566832">
                  <a:moveTo>
                    <a:pt x="0" y="0"/>
                  </a:moveTo>
                  <a:lnTo>
                    <a:pt x="20848320" y="0"/>
                  </a:lnTo>
                  <a:lnTo>
                    <a:pt x="20848320" y="2566832"/>
                  </a:lnTo>
                  <a:lnTo>
                    <a:pt x="0" y="2566832"/>
                  </a:lnTo>
                  <a:close/>
                </a:path>
              </a:pathLst>
            </a:custGeom>
            <a:solidFill>
              <a:srgbClr val="D2E4FF"/>
            </a:solidFill>
          </p:spPr>
        </p:sp>
        <p:sp>
          <p:nvSpPr>
            <p:cNvPr id="76" name="TextBox 76"/>
            <p:cNvSpPr txBox="1"/>
            <p:nvPr/>
          </p:nvSpPr>
          <p:spPr>
            <a:xfrm>
              <a:off x="0" y="-47625"/>
              <a:ext cx="20848320" cy="2614457"/>
            </a:xfrm>
            <a:prstGeom prst="rect">
              <a:avLst/>
            </a:prstGeom>
          </p:spPr>
          <p:txBody>
            <a:bodyPr lIns="0" tIns="0" rIns="0" bIns="0" rtlCol="0" anchor="ctr"/>
            <a:lstStyle/>
            <a:p>
              <a:pPr algn="l">
                <a:lnSpc>
                  <a:spcPts val="2999"/>
                </a:lnSpc>
              </a:pPr>
              <a:r>
                <a:rPr lang="en-US" sz="2499" b="1">
                  <a:solidFill>
                    <a:srgbClr val="1E3A5F"/>
                  </a:solidFill>
                  <a:latin typeface="Calibri (MS) Bold"/>
                  <a:ea typeface="Calibri (MS) Bold"/>
                  <a:cs typeface="Calibri (MS) Bold"/>
                  <a:sym typeface="Calibri (MS) Bold"/>
                </a:rPr>
                <a:t>Closest-approach detection</a:t>
              </a:r>
            </a:p>
            <a:p>
              <a:pPr algn="l">
                <a:lnSpc>
                  <a:spcPts val="2999"/>
                </a:lnSpc>
              </a:pPr>
              <a:r>
                <a:rPr lang="en-US" sz="2499">
                  <a:solidFill>
                    <a:srgbClr val="1E3A5F"/>
                  </a:solidFill>
                  <a:latin typeface="Calibri (MS)"/>
                  <a:ea typeface="Calibri (MS)"/>
                  <a:cs typeface="Calibri (MS)"/>
                  <a:sym typeface="Calibri (MS)"/>
                </a:rPr>
                <a:t>Scan 120 minutes in 1-second steps, find the smallest separation, refine it, then record the time and the relative velocity.</a:t>
              </a:r>
            </a:p>
          </p:txBody>
        </p:sp>
      </p:grpSp>
      <p:sp>
        <p:nvSpPr>
          <p:cNvPr id="77" name="TextBox 77"/>
          <p:cNvSpPr txBox="1"/>
          <p:nvPr/>
        </p:nvSpPr>
        <p:spPr>
          <a:xfrm>
            <a:off x="16824960" y="9608820"/>
            <a:ext cx="502920" cy="358140"/>
          </a:xfrm>
          <a:prstGeom prst="rect">
            <a:avLst/>
          </a:prstGeom>
        </p:spPr>
        <p:txBody>
          <a:bodyPr lIns="0" tIns="0" rIns="0" bIns="0" rtlCol="0" anchor="t">
            <a:spAutoFit/>
          </a:bodyPr>
          <a:lstStyle/>
          <a:p>
            <a:pPr algn="l">
              <a:lnSpc>
                <a:spcPts val="1800"/>
              </a:lnSpc>
            </a:pPr>
            <a:r>
              <a:rPr lang="en-US" sz="1500">
                <a:solidFill>
                  <a:srgbClr val="64748B"/>
                </a:solidFill>
                <a:latin typeface="Calibri (MS)"/>
                <a:ea typeface="Calibri (MS)"/>
                <a:cs typeface="Calibri (MS)"/>
                <a:sym typeface="Calibri (MS)"/>
              </a:rPr>
              <a:t>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9601200"/>
            <a:ext cx="9601200" cy="411480"/>
            <a:chOff x="0" y="0"/>
            <a:chExt cx="12801600" cy="548640"/>
          </a:xfrm>
        </p:grpSpPr>
        <p:sp>
          <p:nvSpPr>
            <p:cNvPr id="3" name="Freeform 3"/>
            <p:cNvSpPr/>
            <p:nvPr/>
          </p:nvSpPr>
          <p:spPr>
            <a:xfrm>
              <a:off x="0" y="0"/>
              <a:ext cx="12801600" cy="548640"/>
            </a:xfrm>
            <a:custGeom>
              <a:avLst/>
              <a:gdLst/>
              <a:ahLst/>
              <a:cxnLst/>
              <a:rect l="l" t="t" r="r" b="b"/>
              <a:pathLst>
                <a:path w="12801600" h="548640">
                  <a:moveTo>
                    <a:pt x="0" y="0"/>
                  </a:moveTo>
                  <a:lnTo>
                    <a:pt x="12801600" y="0"/>
                  </a:lnTo>
                  <a:lnTo>
                    <a:pt x="12801600" y="548640"/>
                  </a:lnTo>
                  <a:lnTo>
                    <a:pt x="0" y="548640"/>
                  </a:lnTo>
                  <a:close/>
                </a:path>
              </a:pathLst>
            </a:custGeom>
            <a:blipFill>
              <a:blip r:embed="rId2">
                <a:alphaModFix amt="0"/>
              </a:blip>
              <a:stretch>
                <a:fillRect t="-404650" b="-404650"/>
              </a:stretch>
            </a:blipFill>
          </p:spPr>
        </p:sp>
        <p:sp>
          <p:nvSpPr>
            <p:cNvPr id="4" name="TextBox 4"/>
            <p:cNvSpPr txBox="1"/>
            <p:nvPr/>
          </p:nvSpPr>
          <p:spPr>
            <a:xfrm>
              <a:off x="0" y="-38100"/>
              <a:ext cx="12801600" cy="586740"/>
            </a:xfrm>
            <a:prstGeom prst="rect">
              <a:avLst/>
            </a:prstGeom>
          </p:spPr>
          <p:txBody>
            <a:bodyPr lIns="0" tIns="0" rIns="0" bIns="0" rtlCol="0" anchor="ctr"/>
            <a:lstStyle/>
            <a:p>
              <a:pPr algn="l">
                <a:lnSpc>
                  <a:spcPts val="1800"/>
                </a:lnSpc>
              </a:pPr>
              <a:r>
                <a:rPr lang="en-US" sz="1500">
                  <a:solidFill>
                    <a:srgbClr val="64748B"/>
                  </a:solidFill>
                  <a:latin typeface="Calibri (MS)"/>
                  <a:ea typeface="Calibri (MS)"/>
                  <a:cs typeface="Calibri (MS)"/>
                  <a:sym typeface="Calibri (MS)"/>
                </a:rPr>
                <a:t>SCOPE  |  204ES Object Oriented Programming</a:t>
              </a:r>
            </a:p>
          </p:txBody>
        </p:sp>
      </p:grpSp>
      <p:grpSp>
        <p:nvGrpSpPr>
          <p:cNvPr id="5" name="Group 5"/>
          <p:cNvGrpSpPr/>
          <p:nvPr/>
        </p:nvGrpSpPr>
        <p:grpSpPr>
          <a:xfrm>
            <a:off x="822960" y="548640"/>
            <a:ext cx="16596360" cy="1234440"/>
            <a:chOff x="0" y="0"/>
            <a:chExt cx="22128480" cy="1645920"/>
          </a:xfrm>
        </p:grpSpPr>
        <p:sp>
          <p:nvSpPr>
            <p:cNvPr id="6" name="Freeform 6"/>
            <p:cNvSpPr/>
            <p:nvPr/>
          </p:nvSpPr>
          <p:spPr>
            <a:xfrm>
              <a:off x="0" y="0"/>
              <a:ext cx="22128480" cy="1645920"/>
            </a:xfrm>
            <a:custGeom>
              <a:avLst/>
              <a:gdLst/>
              <a:ahLst/>
              <a:cxnLst/>
              <a:rect l="l" t="t" r="r" b="b"/>
              <a:pathLst>
                <a:path w="22128480" h="1645920">
                  <a:moveTo>
                    <a:pt x="0" y="0"/>
                  </a:moveTo>
                  <a:lnTo>
                    <a:pt x="22128480" y="0"/>
                  </a:lnTo>
                  <a:lnTo>
                    <a:pt x="22128480" y="1645920"/>
                  </a:lnTo>
                  <a:lnTo>
                    <a:pt x="0" y="1645920"/>
                  </a:lnTo>
                  <a:close/>
                </a:path>
              </a:pathLst>
            </a:custGeom>
            <a:blipFill>
              <a:blip r:embed="rId2">
                <a:alphaModFix amt="0"/>
              </a:blip>
              <a:stretch>
                <a:fillRect t="-211965" b="-211965"/>
              </a:stretch>
            </a:blipFill>
          </p:spPr>
        </p:sp>
        <p:sp>
          <p:nvSpPr>
            <p:cNvPr id="7" name="TextBox 7"/>
            <p:cNvSpPr txBox="1"/>
            <p:nvPr/>
          </p:nvSpPr>
          <p:spPr>
            <a:xfrm>
              <a:off x="0" y="-9525"/>
              <a:ext cx="22128480" cy="1655445"/>
            </a:xfrm>
            <a:prstGeom prst="rect">
              <a:avLst/>
            </a:prstGeom>
          </p:spPr>
          <p:txBody>
            <a:bodyPr lIns="0" tIns="0" rIns="0" bIns="0" rtlCol="0" anchor="ctr"/>
            <a:lstStyle/>
            <a:p>
              <a:pPr algn="l">
                <a:lnSpc>
                  <a:spcPts val="6120"/>
                </a:lnSpc>
              </a:pPr>
              <a:r>
                <a:rPr lang="en-US" sz="5100" b="1">
                  <a:solidFill>
                    <a:srgbClr val="0B1B33"/>
                  </a:solidFill>
                  <a:latin typeface="Cambria Bold"/>
                  <a:ea typeface="Cambria Bold"/>
                  <a:cs typeface="Cambria Bold"/>
                  <a:sym typeface="Cambria Bold"/>
                </a:rPr>
                <a:t>Outcomes</a:t>
              </a:r>
            </a:p>
          </p:txBody>
        </p:sp>
      </p:grpSp>
      <p:graphicFrame>
        <p:nvGraphicFramePr>
          <p:cNvPr id="8" name="Table 8"/>
          <p:cNvGraphicFramePr>
            <a:graphicFrameLocks noGrp="1"/>
          </p:cNvGraphicFramePr>
          <p:nvPr/>
        </p:nvGraphicFramePr>
        <p:xfrm>
          <a:off x="822960" y="2194560"/>
          <a:ext cx="16535399" cy="3714750"/>
        </p:xfrm>
        <a:graphic>
          <a:graphicData uri="http://schemas.openxmlformats.org/drawingml/2006/table">
            <a:tbl>
              <a:tblPr/>
              <a:tblGrid>
                <a:gridCol w="3954773">
                  <a:extLst>
                    <a:ext uri="{9D8B030D-6E8A-4147-A177-3AD203B41FA5}">
                      <a16:colId xmlns:a16="http://schemas.microsoft.com/office/drawing/2014/main" val="20000"/>
                    </a:ext>
                  </a:extLst>
                </a:gridCol>
                <a:gridCol w="2597558">
                  <a:extLst>
                    <a:ext uri="{9D8B030D-6E8A-4147-A177-3AD203B41FA5}">
                      <a16:colId xmlns:a16="http://schemas.microsoft.com/office/drawing/2014/main" val="20001"/>
                    </a:ext>
                  </a:extLst>
                </a:gridCol>
                <a:gridCol w="2326115">
                  <a:extLst>
                    <a:ext uri="{9D8B030D-6E8A-4147-A177-3AD203B41FA5}">
                      <a16:colId xmlns:a16="http://schemas.microsoft.com/office/drawing/2014/main" val="20002"/>
                    </a:ext>
                  </a:extLst>
                </a:gridCol>
                <a:gridCol w="3140444">
                  <a:extLst>
                    <a:ext uri="{9D8B030D-6E8A-4147-A177-3AD203B41FA5}">
                      <a16:colId xmlns:a16="http://schemas.microsoft.com/office/drawing/2014/main" val="20003"/>
                    </a:ext>
                  </a:extLst>
                </a:gridCol>
                <a:gridCol w="1511786">
                  <a:extLst>
                    <a:ext uri="{9D8B030D-6E8A-4147-A177-3AD203B41FA5}">
                      <a16:colId xmlns:a16="http://schemas.microsoft.com/office/drawing/2014/main" val="20004"/>
                    </a:ext>
                  </a:extLst>
                </a:gridCol>
                <a:gridCol w="3004723">
                  <a:extLst>
                    <a:ext uri="{9D8B030D-6E8A-4147-A177-3AD203B41FA5}">
                      <a16:colId xmlns:a16="http://schemas.microsoft.com/office/drawing/2014/main" val="20005"/>
                    </a:ext>
                  </a:extLst>
                </a:gridCol>
              </a:tblGrid>
              <a:tr h="742950">
                <a:tc>
                  <a:txBody>
                    <a:bodyPr/>
                    <a:lstStyle/>
                    <a:p>
                      <a:pPr algn="ctr">
                        <a:lnSpc>
                          <a:spcPts val="2520"/>
                        </a:lnSpc>
                        <a:defRPr/>
                      </a:pPr>
                      <a:r>
                        <a:rPr lang="en-US" sz="2100" b="1">
                          <a:solidFill>
                            <a:srgbClr val="FFFFFF"/>
                          </a:solidFill>
                          <a:latin typeface="Calibri (MS) Bold"/>
                          <a:ea typeface="Calibri (MS) Bold"/>
                          <a:cs typeface="Calibri (MS) Bold"/>
                          <a:sym typeface="Calibri (MS) Bold"/>
                        </a:rPr>
                        <a:t>Object pair</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E3A5F"/>
                    </a:solidFill>
                  </a:tcPr>
                </a:tc>
                <a:tc>
                  <a:txBody>
                    <a:bodyPr/>
                    <a:lstStyle/>
                    <a:p>
                      <a:pPr algn="ctr">
                        <a:lnSpc>
                          <a:spcPts val="2520"/>
                        </a:lnSpc>
                        <a:defRPr/>
                      </a:pPr>
                      <a:r>
                        <a:rPr lang="en-US" sz="2100" b="1">
                          <a:solidFill>
                            <a:srgbClr val="FFFFFF"/>
                          </a:solidFill>
                          <a:latin typeface="Calibri (MS) Bold"/>
                          <a:ea typeface="Calibri (MS) Bold"/>
                          <a:cs typeface="Calibri (MS) Bold"/>
                          <a:sym typeface="Calibri (MS) Bold"/>
                        </a:rPr>
                        <a:t>Min distance</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E3A5F"/>
                    </a:solidFill>
                  </a:tcPr>
                </a:tc>
                <a:tc>
                  <a:txBody>
                    <a:bodyPr/>
                    <a:lstStyle/>
                    <a:p>
                      <a:pPr algn="ctr">
                        <a:lnSpc>
                          <a:spcPts val="2520"/>
                        </a:lnSpc>
                        <a:defRPr/>
                      </a:pPr>
                      <a:r>
                        <a:rPr lang="en-US" sz="2100" b="1">
                          <a:solidFill>
                            <a:srgbClr val="FFFFFF"/>
                          </a:solidFill>
                          <a:latin typeface="Calibri (MS) Bold"/>
                          <a:ea typeface="Calibri (MS) Bold"/>
                          <a:cs typeface="Calibri (MS) Bold"/>
                          <a:sym typeface="Calibri (MS) Bold"/>
                        </a:rPr>
                        <a:t>Time</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E3A5F"/>
                    </a:solidFill>
                  </a:tcPr>
                </a:tc>
                <a:tc>
                  <a:txBody>
                    <a:bodyPr/>
                    <a:lstStyle/>
                    <a:p>
                      <a:pPr algn="ctr">
                        <a:lnSpc>
                          <a:spcPts val="2520"/>
                        </a:lnSpc>
                        <a:defRPr/>
                      </a:pPr>
                      <a:r>
                        <a:rPr lang="en-US" sz="2100" b="1">
                          <a:solidFill>
                            <a:srgbClr val="FFFFFF"/>
                          </a:solidFill>
                          <a:latin typeface="Calibri (MS) Bold"/>
                          <a:ea typeface="Calibri (MS) Bold"/>
                          <a:cs typeface="Calibri (MS) Bold"/>
                          <a:sym typeface="Calibri (MS) Bold"/>
                        </a:rPr>
                        <a:t>Relative velocity</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E3A5F"/>
                    </a:solidFill>
                  </a:tcPr>
                </a:tc>
                <a:tc>
                  <a:txBody>
                    <a:bodyPr/>
                    <a:lstStyle/>
                    <a:p>
                      <a:pPr algn="ctr">
                        <a:lnSpc>
                          <a:spcPts val="2520"/>
                        </a:lnSpc>
                        <a:defRPr/>
                      </a:pPr>
                      <a:r>
                        <a:rPr lang="en-US" sz="2100" b="1">
                          <a:solidFill>
                            <a:srgbClr val="FFFFFF"/>
                          </a:solidFill>
                          <a:latin typeface="Calibri (MS) Bold"/>
                          <a:ea typeface="Calibri (MS) Bold"/>
                          <a:cs typeface="Calibri (MS) Bold"/>
                          <a:sym typeface="Calibri (MS) Bold"/>
                        </a:rPr>
                        <a:t>Score</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E3A5F"/>
                    </a:solidFill>
                  </a:tcPr>
                </a:tc>
                <a:tc>
                  <a:txBody>
                    <a:bodyPr/>
                    <a:lstStyle/>
                    <a:p>
                      <a:pPr algn="ctr">
                        <a:lnSpc>
                          <a:spcPts val="2520"/>
                        </a:lnSpc>
                        <a:defRPr/>
                      </a:pPr>
                      <a:r>
                        <a:rPr lang="en-US" sz="2100" b="1">
                          <a:solidFill>
                            <a:srgbClr val="FFFFFF"/>
                          </a:solidFill>
                          <a:latin typeface="Calibri (MS) Bold"/>
                          <a:ea typeface="Calibri (MS) Bold"/>
                          <a:cs typeface="Calibri (MS) Bold"/>
                          <a:sym typeface="Calibri (MS) Bold"/>
                        </a:rPr>
                        <a:t>Risk level</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742950">
                <a:tc>
                  <a:txBody>
                    <a:bodyPr/>
                    <a:lstStyle/>
                    <a:p>
                      <a:pPr algn="ctr">
                        <a:lnSpc>
                          <a:spcPts val="2520"/>
                        </a:lnSpc>
                        <a:defRPr/>
                      </a:pPr>
                      <a:r>
                        <a:rPr lang="en-US" sz="2100">
                          <a:solidFill>
                            <a:srgbClr val="0B1B33"/>
                          </a:solidFill>
                          <a:latin typeface="Calibri (MS)"/>
                          <a:ea typeface="Calibri (MS)"/>
                          <a:cs typeface="Calibri (MS)"/>
                          <a:sym typeface="Calibri (MS)"/>
                        </a:rPr>
                        <a:t>SAT-002 / DEB-002</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0.60 km</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13.70 min</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15.02 km/s</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94</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b="1">
                          <a:solidFill>
                            <a:srgbClr val="FFFFFF"/>
                          </a:solidFill>
                          <a:latin typeface="Calibri (MS) Bold"/>
                          <a:ea typeface="Calibri (MS) Bold"/>
                          <a:cs typeface="Calibri (MS) Bold"/>
                          <a:sym typeface="Calibri (MS) Bold"/>
                        </a:rPr>
                        <a:t>CRITICAL</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DC2626"/>
                    </a:solidFill>
                  </a:tcPr>
                </a:tc>
                <a:extLst>
                  <a:ext uri="{0D108BD9-81ED-4DB2-BD59-A6C34878D82A}">
                    <a16:rowId xmlns:a16="http://schemas.microsoft.com/office/drawing/2014/main" val="10001"/>
                  </a:ext>
                </a:extLst>
              </a:tr>
              <a:tr h="742950">
                <a:tc>
                  <a:txBody>
                    <a:bodyPr/>
                    <a:lstStyle/>
                    <a:p>
                      <a:pPr algn="ctr">
                        <a:lnSpc>
                          <a:spcPts val="2520"/>
                        </a:lnSpc>
                        <a:defRPr/>
                      </a:pPr>
                      <a:r>
                        <a:rPr lang="en-US" sz="2100">
                          <a:solidFill>
                            <a:srgbClr val="0B1B33"/>
                          </a:solidFill>
                          <a:latin typeface="Calibri (MS)"/>
                          <a:ea typeface="Calibri (MS)"/>
                          <a:cs typeface="Calibri (MS)"/>
                          <a:sym typeface="Calibri (MS)"/>
                        </a:rPr>
                        <a:t>SAT-001 / DEB-001</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1.82 km</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24.94 min</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15.18 km/s</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79</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b="1">
                          <a:solidFill>
                            <a:srgbClr val="0B1B33"/>
                          </a:solidFill>
                          <a:latin typeface="Calibri (MS) Bold"/>
                          <a:ea typeface="Calibri (MS) Bold"/>
                          <a:cs typeface="Calibri (MS) Bold"/>
                          <a:sym typeface="Calibri (MS) Bold"/>
                        </a:rPr>
                        <a:t>HIGH</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F97316"/>
                    </a:solidFill>
                  </a:tcPr>
                </a:tc>
                <a:extLst>
                  <a:ext uri="{0D108BD9-81ED-4DB2-BD59-A6C34878D82A}">
                    <a16:rowId xmlns:a16="http://schemas.microsoft.com/office/drawing/2014/main" val="10002"/>
                  </a:ext>
                </a:extLst>
              </a:tr>
              <a:tr h="742950">
                <a:tc>
                  <a:txBody>
                    <a:bodyPr/>
                    <a:lstStyle/>
                    <a:p>
                      <a:pPr algn="ctr">
                        <a:lnSpc>
                          <a:spcPts val="2520"/>
                        </a:lnSpc>
                        <a:defRPr/>
                      </a:pPr>
                      <a:r>
                        <a:rPr lang="en-US" sz="2100">
                          <a:solidFill>
                            <a:srgbClr val="0B1B33"/>
                          </a:solidFill>
                          <a:latin typeface="Calibri (MS)"/>
                          <a:ea typeface="Calibri (MS)"/>
                          <a:cs typeface="Calibri (MS)"/>
                          <a:sym typeface="Calibri (MS)"/>
                        </a:rPr>
                        <a:t>SAT-003 / DEB-003</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12.00 km</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26.61 min</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14.90 km/s</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49</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b="1">
                          <a:solidFill>
                            <a:srgbClr val="0B1B33"/>
                          </a:solidFill>
                          <a:latin typeface="Calibri (MS) Bold"/>
                          <a:ea typeface="Calibri (MS) Bold"/>
                          <a:cs typeface="Calibri (MS) Bold"/>
                          <a:sym typeface="Calibri (MS) Bold"/>
                        </a:rPr>
                        <a:t>MODERATE</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F59E0B"/>
                    </a:solidFill>
                  </a:tcPr>
                </a:tc>
                <a:extLst>
                  <a:ext uri="{0D108BD9-81ED-4DB2-BD59-A6C34878D82A}">
                    <a16:rowId xmlns:a16="http://schemas.microsoft.com/office/drawing/2014/main" val="10003"/>
                  </a:ext>
                </a:extLst>
              </a:tr>
              <a:tr h="742950">
                <a:tc>
                  <a:txBody>
                    <a:bodyPr/>
                    <a:lstStyle/>
                    <a:p>
                      <a:pPr algn="ctr">
                        <a:lnSpc>
                          <a:spcPts val="2520"/>
                        </a:lnSpc>
                        <a:defRPr/>
                      </a:pPr>
                      <a:r>
                        <a:rPr lang="en-US" sz="2100">
                          <a:solidFill>
                            <a:srgbClr val="0B1B33"/>
                          </a:solidFill>
                          <a:latin typeface="Calibri (MS)"/>
                          <a:ea typeface="Calibri (MS)"/>
                          <a:cs typeface="Calibri (MS)"/>
                          <a:sym typeface="Calibri (MS)"/>
                        </a:rPr>
                        <a:t>Other 18 pairs</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above 25 km</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a:solidFill>
                            <a:srgbClr val="0B1B33"/>
                          </a:solidFill>
                          <a:latin typeface="Calibri (MS)"/>
                          <a:ea typeface="Calibri (MS)"/>
                          <a:cs typeface="Calibri (MS)"/>
                          <a:sym typeface="Calibri (MS)"/>
                        </a:rPr>
                        <a:t>0</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algn="ctr">
                        <a:lnSpc>
                          <a:spcPts val="2520"/>
                        </a:lnSpc>
                        <a:defRPr/>
                      </a:pPr>
                      <a:r>
                        <a:rPr lang="en-US" sz="2100" b="1">
                          <a:solidFill>
                            <a:srgbClr val="0B1B33"/>
                          </a:solidFill>
                          <a:latin typeface="Calibri (MS) Bold"/>
                          <a:ea typeface="Calibri (MS) Bold"/>
                          <a:cs typeface="Calibri (MS) Bold"/>
                          <a:sym typeface="Calibri (MS) Bold"/>
                        </a:rPr>
                        <a:t>LOW</a:t>
                      </a:r>
                      <a:endParaRPr lang="en-US" sz="1100"/>
                    </a:p>
                  </a:txBody>
                  <a:tcPr marL="109728" marR="109728" marT="109728" marB="109728" anchor="ctr">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22C55E"/>
                    </a:solidFill>
                  </a:tcPr>
                </a:tc>
                <a:extLst>
                  <a:ext uri="{0D108BD9-81ED-4DB2-BD59-A6C34878D82A}">
                    <a16:rowId xmlns:a16="http://schemas.microsoft.com/office/drawing/2014/main" val="10004"/>
                  </a:ext>
                </a:extLst>
              </a:tr>
            </a:tbl>
          </a:graphicData>
        </a:graphic>
      </p:graphicFrame>
      <p:grpSp>
        <p:nvGrpSpPr>
          <p:cNvPr id="9" name="Group 9"/>
          <p:cNvGrpSpPr/>
          <p:nvPr/>
        </p:nvGrpSpPr>
        <p:grpSpPr>
          <a:xfrm>
            <a:off x="813435" y="6574155"/>
            <a:ext cx="5368290" cy="2350770"/>
            <a:chOff x="0" y="0"/>
            <a:chExt cx="7157720" cy="3134360"/>
          </a:xfrm>
        </p:grpSpPr>
        <p:sp>
          <p:nvSpPr>
            <p:cNvPr id="10" name="Freeform 10"/>
            <p:cNvSpPr/>
            <p:nvPr/>
          </p:nvSpPr>
          <p:spPr>
            <a:xfrm>
              <a:off x="0" y="0"/>
              <a:ext cx="7157720" cy="3134360"/>
            </a:xfrm>
            <a:custGeom>
              <a:avLst/>
              <a:gdLst/>
              <a:ahLst/>
              <a:cxnLst/>
              <a:rect l="l" t="t" r="r" b="b"/>
              <a:pathLst>
                <a:path w="7157720" h="3134360">
                  <a:moveTo>
                    <a:pt x="0" y="221234"/>
                  </a:moveTo>
                  <a:cubicBezTo>
                    <a:pt x="0" y="99060"/>
                    <a:pt x="99060" y="0"/>
                    <a:pt x="221234" y="0"/>
                  </a:cubicBezTo>
                  <a:lnTo>
                    <a:pt x="6936486" y="0"/>
                  </a:lnTo>
                  <a:cubicBezTo>
                    <a:pt x="7058660" y="0"/>
                    <a:pt x="7157720" y="99060"/>
                    <a:pt x="7157720" y="221234"/>
                  </a:cubicBezTo>
                  <a:lnTo>
                    <a:pt x="7157720" y="2913126"/>
                  </a:lnTo>
                  <a:cubicBezTo>
                    <a:pt x="7157720" y="3035300"/>
                    <a:pt x="7058660" y="3134360"/>
                    <a:pt x="6936486" y="3134360"/>
                  </a:cubicBezTo>
                  <a:lnTo>
                    <a:pt x="221234" y="3134360"/>
                  </a:lnTo>
                  <a:cubicBezTo>
                    <a:pt x="99060" y="3134360"/>
                    <a:pt x="0" y="3035300"/>
                    <a:pt x="0" y="2913126"/>
                  </a:cubicBezTo>
                  <a:close/>
                </a:path>
              </a:pathLst>
            </a:custGeom>
            <a:solidFill>
              <a:srgbClr val="EEF3F9"/>
            </a:solidFill>
            <a:ln w="19050" cap="sq">
              <a:solidFill>
                <a:srgbClr val="EEF3F9"/>
              </a:solidFill>
              <a:prstDash val="solid"/>
              <a:miter/>
            </a:ln>
          </p:spPr>
        </p:sp>
      </p:grpSp>
      <p:grpSp>
        <p:nvGrpSpPr>
          <p:cNvPr id="11" name="Group 11"/>
          <p:cNvGrpSpPr/>
          <p:nvPr/>
        </p:nvGrpSpPr>
        <p:grpSpPr>
          <a:xfrm>
            <a:off x="1234440" y="6789420"/>
            <a:ext cx="4526280" cy="1234440"/>
            <a:chOff x="0" y="0"/>
            <a:chExt cx="6035040" cy="1645920"/>
          </a:xfrm>
        </p:grpSpPr>
        <p:sp>
          <p:nvSpPr>
            <p:cNvPr id="12" name="Freeform 12"/>
            <p:cNvSpPr/>
            <p:nvPr/>
          </p:nvSpPr>
          <p:spPr>
            <a:xfrm>
              <a:off x="0" y="0"/>
              <a:ext cx="6035040" cy="1645920"/>
            </a:xfrm>
            <a:custGeom>
              <a:avLst/>
              <a:gdLst/>
              <a:ahLst/>
              <a:cxnLst/>
              <a:rect l="l" t="t" r="r" b="b"/>
              <a:pathLst>
                <a:path w="6035040" h="1645920">
                  <a:moveTo>
                    <a:pt x="0" y="0"/>
                  </a:moveTo>
                  <a:lnTo>
                    <a:pt x="6035040" y="0"/>
                  </a:lnTo>
                  <a:lnTo>
                    <a:pt x="6035040" y="1645920"/>
                  </a:lnTo>
                  <a:lnTo>
                    <a:pt x="0" y="1645920"/>
                  </a:lnTo>
                  <a:close/>
                </a:path>
              </a:pathLst>
            </a:custGeom>
            <a:blipFill>
              <a:blip r:embed="rId2">
                <a:alphaModFix amt="0"/>
              </a:blip>
              <a:stretch>
                <a:fillRect t="-21445" b="-21445"/>
              </a:stretch>
            </a:blipFill>
          </p:spPr>
        </p:sp>
        <p:sp>
          <p:nvSpPr>
            <p:cNvPr id="13" name="TextBox 13"/>
            <p:cNvSpPr txBox="1"/>
            <p:nvPr/>
          </p:nvSpPr>
          <p:spPr>
            <a:xfrm>
              <a:off x="0" y="-9525"/>
              <a:ext cx="6035040" cy="1655445"/>
            </a:xfrm>
            <a:prstGeom prst="rect">
              <a:avLst/>
            </a:prstGeom>
          </p:spPr>
          <p:txBody>
            <a:bodyPr lIns="0" tIns="0" rIns="0" bIns="0" rtlCol="0" anchor="ctr"/>
            <a:lstStyle/>
            <a:p>
              <a:pPr algn="l">
                <a:lnSpc>
                  <a:spcPts val="7200"/>
                </a:lnSpc>
              </a:pPr>
              <a:r>
                <a:rPr lang="en-US" sz="6000" b="1">
                  <a:solidFill>
                    <a:srgbClr val="1E3A5F"/>
                  </a:solidFill>
                  <a:latin typeface="Cambria Bold"/>
                  <a:ea typeface="Cambria Bold"/>
                  <a:cs typeface="Cambria Bold"/>
                  <a:sym typeface="Cambria Bold"/>
                </a:rPr>
                <a:t>21</a:t>
              </a:r>
            </a:p>
          </p:txBody>
        </p:sp>
      </p:grpSp>
      <p:sp>
        <p:nvSpPr>
          <p:cNvPr id="14" name="TextBox 14"/>
          <p:cNvSpPr txBox="1"/>
          <p:nvPr/>
        </p:nvSpPr>
        <p:spPr>
          <a:xfrm>
            <a:off x="1234440" y="7985760"/>
            <a:ext cx="4526280" cy="723900"/>
          </a:xfrm>
          <a:prstGeom prst="rect">
            <a:avLst/>
          </a:prstGeom>
        </p:spPr>
        <p:txBody>
          <a:bodyPr lIns="0" tIns="0" rIns="0" bIns="0" rtlCol="0" anchor="t">
            <a:spAutoFit/>
          </a:bodyPr>
          <a:lstStyle/>
          <a:p>
            <a:pPr algn="l">
              <a:lnSpc>
                <a:spcPts val="2879"/>
              </a:lnSpc>
            </a:pPr>
            <a:r>
              <a:rPr lang="en-US" sz="2400">
                <a:solidFill>
                  <a:srgbClr val="0B1B33"/>
                </a:solidFill>
                <a:latin typeface="Calibri (MS)"/>
                <a:ea typeface="Calibri (MS)"/>
                <a:cs typeface="Calibri (MS)"/>
                <a:sym typeface="Calibri (MS)"/>
              </a:rPr>
              <a:t>object pairs analysed</a:t>
            </a:r>
          </a:p>
        </p:txBody>
      </p:sp>
      <p:grpSp>
        <p:nvGrpSpPr>
          <p:cNvPr id="15" name="Group 15"/>
          <p:cNvGrpSpPr/>
          <p:nvPr/>
        </p:nvGrpSpPr>
        <p:grpSpPr>
          <a:xfrm>
            <a:off x="6436995" y="6574155"/>
            <a:ext cx="5368290" cy="2350770"/>
            <a:chOff x="0" y="0"/>
            <a:chExt cx="7157720" cy="3134360"/>
          </a:xfrm>
        </p:grpSpPr>
        <p:sp>
          <p:nvSpPr>
            <p:cNvPr id="16" name="Freeform 16"/>
            <p:cNvSpPr/>
            <p:nvPr/>
          </p:nvSpPr>
          <p:spPr>
            <a:xfrm>
              <a:off x="0" y="0"/>
              <a:ext cx="7157720" cy="3134360"/>
            </a:xfrm>
            <a:custGeom>
              <a:avLst/>
              <a:gdLst/>
              <a:ahLst/>
              <a:cxnLst/>
              <a:rect l="l" t="t" r="r" b="b"/>
              <a:pathLst>
                <a:path w="7157720" h="3134360">
                  <a:moveTo>
                    <a:pt x="0" y="221234"/>
                  </a:moveTo>
                  <a:cubicBezTo>
                    <a:pt x="0" y="99060"/>
                    <a:pt x="99060" y="0"/>
                    <a:pt x="221234" y="0"/>
                  </a:cubicBezTo>
                  <a:lnTo>
                    <a:pt x="6936486" y="0"/>
                  </a:lnTo>
                  <a:cubicBezTo>
                    <a:pt x="7058660" y="0"/>
                    <a:pt x="7157720" y="99060"/>
                    <a:pt x="7157720" y="221234"/>
                  </a:cubicBezTo>
                  <a:lnTo>
                    <a:pt x="7157720" y="2913126"/>
                  </a:lnTo>
                  <a:cubicBezTo>
                    <a:pt x="7157720" y="3035300"/>
                    <a:pt x="7058660" y="3134360"/>
                    <a:pt x="6936486" y="3134360"/>
                  </a:cubicBezTo>
                  <a:lnTo>
                    <a:pt x="221234" y="3134360"/>
                  </a:lnTo>
                  <a:cubicBezTo>
                    <a:pt x="99060" y="3134360"/>
                    <a:pt x="0" y="3035300"/>
                    <a:pt x="0" y="2913126"/>
                  </a:cubicBezTo>
                  <a:close/>
                </a:path>
              </a:pathLst>
            </a:custGeom>
            <a:solidFill>
              <a:srgbClr val="EEF3F9"/>
            </a:solidFill>
            <a:ln w="19050" cap="sq">
              <a:solidFill>
                <a:srgbClr val="EEF3F9"/>
              </a:solidFill>
              <a:prstDash val="solid"/>
              <a:miter/>
            </a:ln>
          </p:spPr>
        </p:sp>
      </p:grpSp>
      <p:grpSp>
        <p:nvGrpSpPr>
          <p:cNvPr id="17" name="Group 17"/>
          <p:cNvGrpSpPr/>
          <p:nvPr/>
        </p:nvGrpSpPr>
        <p:grpSpPr>
          <a:xfrm>
            <a:off x="6858000" y="6789420"/>
            <a:ext cx="4526280" cy="1234440"/>
            <a:chOff x="0" y="0"/>
            <a:chExt cx="6035040" cy="1645920"/>
          </a:xfrm>
        </p:grpSpPr>
        <p:sp>
          <p:nvSpPr>
            <p:cNvPr id="18" name="Freeform 18"/>
            <p:cNvSpPr/>
            <p:nvPr/>
          </p:nvSpPr>
          <p:spPr>
            <a:xfrm>
              <a:off x="0" y="0"/>
              <a:ext cx="6035040" cy="1645920"/>
            </a:xfrm>
            <a:custGeom>
              <a:avLst/>
              <a:gdLst/>
              <a:ahLst/>
              <a:cxnLst/>
              <a:rect l="l" t="t" r="r" b="b"/>
              <a:pathLst>
                <a:path w="6035040" h="1645920">
                  <a:moveTo>
                    <a:pt x="0" y="0"/>
                  </a:moveTo>
                  <a:lnTo>
                    <a:pt x="6035040" y="0"/>
                  </a:lnTo>
                  <a:lnTo>
                    <a:pt x="6035040" y="1645920"/>
                  </a:lnTo>
                  <a:lnTo>
                    <a:pt x="0" y="1645920"/>
                  </a:lnTo>
                  <a:close/>
                </a:path>
              </a:pathLst>
            </a:custGeom>
            <a:blipFill>
              <a:blip r:embed="rId2">
                <a:alphaModFix amt="0"/>
              </a:blip>
              <a:stretch>
                <a:fillRect t="-21445" b="-21445"/>
              </a:stretch>
            </a:blipFill>
          </p:spPr>
        </p:sp>
        <p:sp>
          <p:nvSpPr>
            <p:cNvPr id="19" name="TextBox 19"/>
            <p:cNvSpPr txBox="1"/>
            <p:nvPr/>
          </p:nvSpPr>
          <p:spPr>
            <a:xfrm>
              <a:off x="0" y="-9525"/>
              <a:ext cx="6035040" cy="1655445"/>
            </a:xfrm>
            <a:prstGeom prst="rect">
              <a:avLst/>
            </a:prstGeom>
          </p:spPr>
          <p:txBody>
            <a:bodyPr lIns="0" tIns="0" rIns="0" bIns="0" rtlCol="0" anchor="ctr"/>
            <a:lstStyle/>
            <a:p>
              <a:pPr algn="l">
                <a:lnSpc>
                  <a:spcPts val="7200"/>
                </a:lnSpc>
              </a:pPr>
              <a:r>
                <a:rPr lang="en-US" sz="6000" b="1">
                  <a:solidFill>
                    <a:srgbClr val="1E3A5F"/>
                  </a:solidFill>
                  <a:latin typeface="Cambria Bold"/>
                  <a:ea typeface="Cambria Bold"/>
                  <a:cs typeface="Cambria Bold"/>
                  <a:sym typeface="Cambria Bold"/>
                </a:rPr>
                <a:t>3</a:t>
              </a:r>
            </a:p>
          </p:txBody>
        </p:sp>
      </p:grpSp>
      <p:sp>
        <p:nvSpPr>
          <p:cNvPr id="20" name="TextBox 20"/>
          <p:cNvSpPr txBox="1"/>
          <p:nvPr/>
        </p:nvSpPr>
        <p:spPr>
          <a:xfrm>
            <a:off x="6858000" y="7985760"/>
            <a:ext cx="4526280" cy="723900"/>
          </a:xfrm>
          <a:prstGeom prst="rect">
            <a:avLst/>
          </a:prstGeom>
        </p:spPr>
        <p:txBody>
          <a:bodyPr lIns="0" tIns="0" rIns="0" bIns="0" rtlCol="0" anchor="t">
            <a:spAutoFit/>
          </a:bodyPr>
          <a:lstStyle/>
          <a:p>
            <a:pPr algn="l">
              <a:lnSpc>
                <a:spcPts val="2879"/>
              </a:lnSpc>
            </a:pPr>
            <a:r>
              <a:rPr lang="en-US" sz="2400">
                <a:solidFill>
                  <a:srgbClr val="0B1B33"/>
                </a:solidFill>
                <a:latin typeface="Calibri (MS)"/>
                <a:ea typeface="Calibri (MS)"/>
                <a:cs typeface="Calibri (MS)"/>
                <a:sym typeface="Calibri (MS)"/>
              </a:rPr>
              <a:t>close approaches found</a:t>
            </a:r>
          </a:p>
        </p:txBody>
      </p:sp>
      <p:grpSp>
        <p:nvGrpSpPr>
          <p:cNvPr id="21" name="Group 21"/>
          <p:cNvGrpSpPr/>
          <p:nvPr/>
        </p:nvGrpSpPr>
        <p:grpSpPr>
          <a:xfrm>
            <a:off x="12060555" y="6574155"/>
            <a:ext cx="5368290" cy="2350770"/>
            <a:chOff x="0" y="0"/>
            <a:chExt cx="7157720" cy="3134360"/>
          </a:xfrm>
        </p:grpSpPr>
        <p:sp>
          <p:nvSpPr>
            <p:cNvPr id="22" name="Freeform 22"/>
            <p:cNvSpPr/>
            <p:nvPr/>
          </p:nvSpPr>
          <p:spPr>
            <a:xfrm>
              <a:off x="0" y="0"/>
              <a:ext cx="7157720" cy="3134360"/>
            </a:xfrm>
            <a:custGeom>
              <a:avLst/>
              <a:gdLst/>
              <a:ahLst/>
              <a:cxnLst/>
              <a:rect l="l" t="t" r="r" b="b"/>
              <a:pathLst>
                <a:path w="7157720" h="3134360">
                  <a:moveTo>
                    <a:pt x="0" y="221234"/>
                  </a:moveTo>
                  <a:cubicBezTo>
                    <a:pt x="0" y="99060"/>
                    <a:pt x="99060" y="0"/>
                    <a:pt x="221234" y="0"/>
                  </a:cubicBezTo>
                  <a:lnTo>
                    <a:pt x="6936486" y="0"/>
                  </a:lnTo>
                  <a:cubicBezTo>
                    <a:pt x="7058660" y="0"/>
                    <a:pt x="7157720" y="99060"/>
                    <a:pt x="7157720" y="221234"/>
                  </a:cubicBezTo>
                  <a:lnTo>
                    <a:pt x="7157720" y="2913126"/>
                  </a:lnTo>
                  <a:cubicBezTo>
                    <a:pt x="7157720" y="3035300"/>
                    <a:pt x="7058660" y="3134360"/>
                    <a:pt x="6936486" y="3134360"/>
                  </a:cubicBezTo>
                  <a:lnTo>
                    <a:pt x="221234" y="3134360"/>
                  </a:lnTo>
                  <a:cubicBezTo>
                    <a:pt x="99060" y="3134360"/>
                    <a:pt x="0" y="3035300"/>
                    <a:pt x="0" y="2913126"/>
                  </a:cubicBezTo>
                  <a:close/>
                </a:path>
              </a:pathLst>
            </a:custGeom>
            <a:solidFill>
              <a:srgbClr val="EEF3F9"/>
            </a:solidFill>
            <a:ln w="19050" cap="sq">
              <a:solidFill>
                <a:srgbClr val="EEF3F9"/>
              </a:solidFill>
              <a:prstDash val="solid"/>
              <a:miter/>
            </a:ln>
          </p:spPr>
        </p:sp>
      </p:grpSp>
      <p:grpSp>
        <p:nvGrpSpPr>
          <p:cNvPr id="23" name="Group 23"/>
          <p:cNvGrpSpPr/>
          <p:nvPr/>
        </p:nvGrpSpPr>
        <p:grpSpPr>
          <a:xfrm>
            <a:off x="12481560" y="6789420"/>
            <a:ext cx="4526280" cy="1234440"/>
            <a:chOff x="0" y="0"/>
            <a:chExt cx="6035040" cy="1645920"/>
          </a:xfrm>
        </p:grpSpPr>
        <p:sp>
          <p:nvSpPr>
            <p:cNvPr id="24" name="Freeform 24"/>
            <p:cNvSpPr/>
            <p:nvPr/>
          </p:nvSpPr>
          <p:spPr>
            <a:xfrm>
              <a:off x="0" y="0"/>
              <a:ext cx="6035040" cy="1645920"/>
            </a:xfrm>
            <a:custGeom>
              <a:avLst/>
              <a:gdLst/>
              <a:ahLst/>
              <a:cxnLst/>
              <a:rect l="l" t="t" r="r" b="b"/>
              <a:pathLst>
                <a:path w="6035040" h="1645920">
                  <a:moveTo>
                    <a:pt x="0" y="0"/>
                  </a:moveTo>
                  <a:lnTo>
                    <a:pt x="6035040" y="0"/>
                  </a:lnTo>
                  <a:lnTo>
                    <a:pt x="6035040" y="1645920"/>
                  </a:lnTo>
                  <a:lnTo>
                    <a:pt x="0" y="1645920"/>
                  </a:lnTo>
                  <a:close/>
                </a:path>
              </a:pathLst>
            </a:custGeom>
            <a:blipFill>
              <a:blip r:embed="rId2">
                <a:alphaModFix amt="0"/>
              </a:blip>
              <a:stretch>
                <a:fillRect t="-21445" b="-21445"/>
              </a:stretch>
            </a:blipFill>
          </p:spPr>
        </p:sp>
        <p:sp>
          <p:nvSpPr>
            <p:cNvPr id="25" name="TextBox 25"/>
            <p:cNvSpPr txBox="1"/>
            <p:nvPr/>
          </p:nvSpPr>
          <p:spPr>
            <a:xfrm>
              <a:off x="0" y="-9525"/>
              <a:ext cx="6035040" cy="1655445"/>
            </a:xfrm>
            <a:prstGeom prst="rect">
              <a:avLst/>
            </a:prstGeom>
          </p:spPr>
          <p:txBody>
            <a:bodyPr lIns="0" tIns="0" rIns="0" bIns="0" rtlCol="0" anchor="ctr"/>
            <a:lstStyle/>
            <a:p>
              <a:pPr algn="l">
                <a:lnSpc>
                  <a:spcPts val="7200"/>
                </a:lnSpc>
              </a:pPr>
              <a:r>
                <a:rPr lang="en-US" sz="6000" b="1">
                  <a:solidFill>
                    <a:srgbClr val="1E3A5F"/>
                  </a:solidFill>
                  <a:latin typeface="Cambria Bold"/>
                  <a:ea typeface="Cambria Bold"/>
                  <a:cs typeface="Cambria Bold"/>
                  <a:sym typeface="Cambria Bold"/>
                </a:rPr>
                <a:t>14 / 14</a:t>
              </a:r>
            </a:p>
          </p:txBody>
        </p:sp>
      </p:grpSp>
      <p:sp>
        <p:nvSpPr>
          <p:cNvPr id="26" name="TextBox 26"/>
          <p:cNvSpPr txBox="1"/>
          <p:nvPr/>
        </p:nvSpPr>
        <p:spPr>
          <a:xfrm>
            <a:off x="12481560" y="7985760"/>
            <a:ext cx="4526280" cy="723900"/>
          </a:xfrm>
          <a:prstGeom prst="rect">
            <a:avLst/>
          </a:prstGeom>
        </p:spPr>
        <p:txBody>
          <a:bodyPr lIns="0" tIns="0" rIns="0" bIns="0" rtlCol="0" anchor="t">
            <a:spAutoFit/>
          </a:bodyPr>
          <a:lstStyle/>
          <a:p>
            <a:pPr algn="l">
              <a:lnSpc>
                <a:spcPts val="2879"/>
              </a:lnSpc>
            </a:pPr>
            <a:r>
              <a:rPr lang="en-US" sz="2400">
                <a:solidFill>
                  <a:srgbClr val="0B1B33"/>
                </a:solidFill>
                <a:latin typeface="Calibri (MS)"/>
                <a:ea typeface="Calibri (MS)"/>
                <a:cs typeface="Calibri (MS)"/>
                <a:sym typeface="Calibri (MS)"/>
              </a:rPr>
              <a:t>test cases passed</a:t>
            </a:r>
          </a:p>
        </p:txBody>
      </p:sp>
      <p:sp>
        <p:nvSpPr>
          <p:cNvPr id="27" name="TextBox 27"/>
          <p:cNvSpPr txBox="1"/>
          <p:nvPr/>
        </p:nvSpPr>
        <p:spPr>
          <a:xfrm>
            <a:off x="16824960" y="9608820"/>
            <a:ext cx="502920" cy="358140"/>
          </a:xfrm>
          <a:prstGeom prst="rect">
            <a:avLst/>
          </a:prstGeom>
        </p:spPr>
        <p:txBody>
          <a:bodyPr lIns="0" tIns="0" rIns="0" bIns="0" rtlCol="0" anchor="t">
            <a:spAutoFit/>
          </a:bodyPr>
          <a:lstStyle/>
          <a:p>
            <a:pPr algn="l">
              <a:lnSpc>
                <a:spcPts val="1800"/>
              </a:lnSpc>
            </a:pPr>
            <a:r>
              <a:rPr lang="en-US" sz="1500">
                <a:solidFill>
                  <a:srgbClr val="64748B"/>
                </a:solidFill>
                <a:latin typeface="Calibri (MS)"/>
                <a:ea typeface="Calibri (MS)"/>
                <a:cs typeface="Calibri (MS)"/>
                <a:sym typeface="Calibri (MS)"/>
              </a:rPr>
              <a:t>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9601200"/>
            <a:ext cx="9601200" cy="411480"/>
            <a:chOff x="0" y="0"/>
            <a:chExt cx="12801600" cy="548640"/>
          </a:xfrm>
        </p:grpSpPr>
        <p:sp>
          <p:nvSpPr>
            <p:cNvPr id="3" name="Freeform 3"/>
            <p:cNvSpPr/>
            <p:nvPr/>
          </p:nvSpPr>
          <p:spPr>
            <a:xfrm>
              <a:off x="0" y="0"/>
              <a:ext cx="12801600" cy="548640"/>
            </a:xfrm>
            <a:custGeom>
              <a:avLst/>
              <a:gdLst/>
              <a:ahLst/>
              <a:cxnLst/>
              <a:rect l="l" t="t" r="r" b="b"/>
              <a:pathLst>
                <a:path w="12801600" h="548640">
                  <a:moveTo>
                    <a:pt x="0" y="0"/>
                  </a:moveTo>
                  <a:lnTo>
                    <a:pt x="12801600" y="0"/>
                  </a:lnTo>
                  <a:lnTo>
                    <a:pt x="12801600" y="548640"/>
                  </a:lnTo>
                  <a:lnTo>
                    <a:pt x="0" y="548640"/>
                  </a:lnTo>
                  <a:close/>
                </a:path>
              </a:pathLst>
            </a:custGeom>
            <a:blipFill>
              <a:blip r:embed="rId4">
                <a:alphaModFix amt="0"/>
              </a:blip>
              <a:stretch>
                <a:fillRect t="-404650" b="-404650"/>
              </a:stretch>
            </a:blipFill>
          </p:spPr>
        </p:sp>
        <p:sp>
          <p:nvSpPr>
            <p:cNvPr id="4" name="TextBox 4"/>
            <p:cNvSpPr txBox="1"/>
            <p:nvPr/>
          </p:nvSpPr>
          <p:spPr>
            <a:xfrm>
              <a:off x="0" y="-38100"/>
              <a:ext cx="12801600" cy="586740"/>
            </a:xfrm>
            <a:prstGeom prst="rect">
              <a:avLst/>
            </a:prstGeom>
          </p:spPr>
          <p:txBody>
            <a:bodyPr lIns="0" tIns="0" rIns="0" bIns="0" rtlCol="0" anchor="ctr"/>
            <a:lstStyle/>
            <a:p>
              <a:pPr algn="l">
                <a:lnSpc>
                  <a:spcPts val="1800"/>
                </a:lnSpc>
              </a:pPr>
              <a:r>
                <a:rPr lang="en-US" sz="1500">
                  <a:solidFill>
                    <a:srgbClr val="64748B"/>
                  </a:solidFill>
                  <a:latin typeface="Calibri (MS)"/>
                  <a:ea typeface="Calibri (MS)"/>
                  <a:cs typeface="Calibri (MS)"/>
                  <a:sym typeface="Calibri (MS)"/>
                </a:rPr>
                <a:t>SCOPE  |  204ES Object Oriented Programming</a:t>
              </a:r>
            </a:p>
          </p:txBody>
        </p:sp>
      </p:grpSp>
      <p:grpSp>
        <p:nvGrpSpPr>
          <p:cNvPr id="5" name="Group 5"/>
          <p:cNvGrpSpPr/>
          <p:nvPr/>
        </p:nvGrpSpPr>
        <p:grpSpPr>
          <a:xfrm>
            <a:off x="822960" y="272724"/>
            <a:ext cx="16596360" cy="1234440"/>
            <a:chOff x="0" y="0"/>
            <a:chExt cx="22128480" cy="1645920"/>
          </a:xfrm>
        </p:grpSpPr>
        <p:sp>
          <p:nvSpPr>
            <p:cNvPr id="6" name="Freeform 6"/>
            <p:cNvSpPr/>
            <p:nvPr/>
          </p:nvSpPr>
          <p:spPr>
            <a:xfrm>
              <a:off x="0" y="0"/>
              <a:ext cx="22128480" cy="1645920"/>
            </a:xfrm>
            <a:custGeom>
              <a:avLst/>
              <a:gdLst/>
              <a:ahLst/>
              <a:cxnLst/>
              <a:rect l="l" t="t" r="r" b="b"/>
              <a:pathLst>
                <a:path w="22128480" h="1645920">
                  <a:moveTo>
                    <a:pt x="0" y="0"/>
                  </a:moveTo>
                  <a:lnTo>
                    <a:pt x="22128480" y="0"/>
                  </a:lnTo>
                  <a:lnTo>
                    <a:pt x="22128480" y="1645920"/>
                  </a:lnTo>
                  <a:lnTo>
                    <a:pt x="0" y="1645920"/>
                  </a:lnTo>
                  <a:close/>
                </a:path>
              </a:pathLst>
            </a:custGeom>
            <a:blipFill>
              <a:blip r:embed="rId4">
                <a:alphaModFix amt="0"/>
              </a:blip>
              <a:stretch>
                <a:fillRect t="-211965" b="-211965"/>
              </a:stretch>
            </a:blipFill>
          </p:spPr>
        </p:sp>
        <p:sp>
          <p:nvSpPr>
            <p:cNvPr id="7" name="TextBox 7"/>
            <p:cNvSpPr txBox="1"/>
            <p:nvPr/>
          </p:nvSpPr>
          <p:spPr>
            <a:xfrm>
              <a:off x="0" y="-9525"/>
              <a:ext cx="22128480" cy="1655445"/>
            </a:xfrm>
            <a:prstGeom prst="rect">
              <a:avLst/>
            </a:prstGeom>
          </p:spPr>
          <p:txBody>
            <a:bodyPr lIns="0" tIns="0" rIns="0" bIns="0" rtlCol="0" anchor="ctr"/>
            <a:lstStyle/>
            <a:p>
              <a:pPr algn="l">
                <a:lnSpc>
                  <a:spcPts val="6120"/>
                </a:lnSpc>
              </a:pPr>
              <a:r>
                <a:rPr lang="en-US" sz="5100" b="1">
                  <a:solidFill>
                    <a:srgbClr val="0B1B33"/>
                  </a:solidFill>
                  <a:latin typeface="Cambria Bold"/>
                  <a:ea typeface="Cambria Bold"/>
                  <a:cs typeface="Cambria Bold"/>
                  <a:sym typeface="Cambria Bold"/>
                </a:rPr>
                <a:t>Working Video</a:t>
              </a:r>
            </a:p>
          </p:txBody>
        </p:sp>
      </p:grpSp>
      <p:grpSp>
        <p:nvGrpSpPr>
          <p:cNvPr id="8" name="Group 8"/>
          <p:cNvGrpSpPr/>
          <p:nvPr/>
        </p:nvGrpSpPr>
        <p:grpSpPr>
          <a:xfrm>
            <a:off x="636708" y="1507164"/>
            <a:ext cx="16968863" cy="7625318"/>
            <a:chOff x="0" y="0"/>
            <a:chExt cx="22400377" cy="10066084"/>
          </a:xfrm>
        </p:grpSpPr>
        <p:sp>
          <p:nvSpPr>
            <p:cNvPr id="9" name="Freeform 9"/>
            <p:cNvSpPr/>
            <p:nvPr/>
          </p:nvSpPr>
          <p:spPr>
            <a:xfrm>
              <a:off x="0" y="0"/>
              <a:ext cx="22400377" cy="10066084"/>
            </a:xfrm>
            <a:custGeom>
              <a:avLst/>
              <a:gdLst/>
              <a:ahLst/>
              <a:cxnLst/>
              <a:rect l="l" t="t" r="r" b="b"/>
              <a:pathLst>
                <a:path w="22400377" h="10066084">
                  <a:moveTo>
                    <a:pt x="0" y="262561"/>
                  </a:moveTo>
                  <a:cubicBezTo>
                    <a:pt x="0" y="117569"/>
                    <a:pt x="162820" y="0"/>
                    <a:pt x="363618" y="0"/>
                  </a:cubicBezTo>
                  <a:lnTo>
                    <a:pt x="22036759" y="0"/>
                  </a:lnTo>
                  <a:cubicBezTo>
                    <a:pt x="22237556" y="0"/>
                    <a:pt x="22400377" y="117569"/>
                    <a:pt x="22400377" y="262561"/>
                  </a:cubicBezTo>
                  <a:lnTo>
                    <a:pt x="22400377" y="9803523"/>
                  </a:lnTo>
                  <a:cubicBezTo>
                    <a:pt x="22400377" y="9948515"/>
                    <a:pt x="22237556" y="10066084"/>
                    <a:pt x="22036759" y="10066084"/>
                  </a:cubicBezTo>
                  <a:lnTo>
                    <a:pt x="363618" y="10066084"/>
                  </a:lnTo>
                  <a:cubicBezTo>
                    <a:pt x="162820" y="10066084"/>
                    <a:pt x="0" y="9948515"/>
                    <a:pt x="0" y="9803523"/>
                  </a:cubicBezTo>
                  <a:close/>
                </a:path>
              </a:pathLst>
            </a:custGeom>
            <a:solidFill>
              <a:srgbClr val="0B1B33"/>
            </a:solidFill>
            <a:ln w="19050" cap="sq">
              <a:solidFill>
                <a:srgbClr val="0B1B33"/>
              </a:solidFill>
              <a:prstDash val="solid"/>
              <a:miter/>
            </a:ln>
          </p:spPr>
        </p:sp>
      </p:grpSp>
      <p:pic>
        <p:nvPicPr>
          <p:cNvPr id="10" name="Picture 1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t="619" b="619"/>
          <a:stretch>
            <a:fillRect/>
          </a:stretch>
        </p:blipFill>
        <p:spPr>
          <a:xfrm>
            <a:off x="822960" y="1645920"/>
            <a:ext cx="16596360" cy="7345688"/>
          </a:xfrm>
          <a:prstGeom prst="rect">
            <a:avLst/>
          </a:prstGeom>
        </p:spPr>
      </p:pic>
      <p:sp>
        <p:nvSpPr>
          <p:cNvPr id="11" name="TextBox 11"/>
          <p:cNvSpPr txBox="1"/>
          <p:nvPr/>
        </p:nvSpPr>
        <p:spPr>
          <a:xfrm>
            <a:off x="16824960" y="9608820"/>
            <a:ext cx="502920" cy="358140"/>
          </a:xfrm>
          <a:prstGeom prst="rect">
            <a:avLst/>
          </a:prstGeom>
        </p:spPr>
        <p:txBody>
          <a:bodyPr lIns="0" tIns="0" rIns="0" bIns="0" rtlCol="0" anchor="t">
            <a:spAutoFit/>
          </a:bodyPr>
          <a:lstStyle/>
          <a:p>
            <a:pPr algn="l">
              <a:lnSpc>
                <a:spcPts val="1800"/>
              </a:lnSpc>
            </a:pPr>
            <a:r>
              <a:rPr lang="en-US" sz="1500">
                <a:solidFill>
                  <a:srgbClr val="64748B"/>
                </a:solidFill>
                <a:latin typeface="Calibri (MS)"/>
                <a:ea typeface="Calibri (MS)"/>
                <a:cs typeface="Calibri (MS)"/>
                <a:sym typeface="Calibri (MS)"/>
              </a:rPr>
              <a:t>13</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10"/>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9601200"/>
            <a:ext cx="9601200" cy="411480"/>
            <a:chOff x="0" y="0"/>
            <a:chExt cx="12801600" cy="548640"/>
          </a:xfrm>
        </p:grpSpPr>
        <p:sp>
          <p:nvSpPr>
            <p:cNvPr id="3" name="Freeform 3"/>
            <p:cNvSpPr/>
            <p:nvPr/>
          </p:nvSpPr>
          <p:spPr>
            <a:xfrm>
              <a:off x="0" y="0"/>
              <a:ext cx="12801600" cy="548640"/>
            </a:xfrm>
            <a:custGeom>
              <a:avLst/>
              <a:gdLst/>
              <a:ahLst/>
              <a:cxnLst/>
              <a:rect l="l" t="t" r="r" b="b"/>
              <a:pathLst>
                <a:path w="12801600" h="548640">
                  <a:moveTo>
                    <a:pt x="0" y="0"/>
                  </a:moveTo>
                  <a:lnTo>
                    <a:pt x="12801600" y="0"/>
                  </a:lnTo>
                  <a:lnTo>
                    <a:pt x="12801600" y="548640"/>
                  </a:lnTo>
                  <a:lnTo>
                    <a:pt x="0" y="548640"/>
                  </a:lnTo>
                  <a:close/>
                </a:path>
              </a:pathLst>
            </a:custGeom>
            <a:blipFill>
              <a:blip r:embed="rId2">
                <a:alphaModFix amt="0"/>
              </a:blip>
              <a:stretch>
                <a:fillRect t="-404650" b="-404650"/>
              </a:stretch>
            </a:blipFill>
          </p:spPr>
        </p:sp>
        <p:sp>
          <p:nvSpPr>
            <p:cNvPr id="4" name="TextBox 4"/>
            <p:cNvSpPr txBox="1"/>
            <p:nvPr/>
          </p:nvSpPr>
          <p:spPr>
            <a:xfrm>
              <a:off x="0" y="-38100"/>
              <a:ext cx="12801600" cy="586740"/>
            </a:xfrm>
            <a:prstGeom prst="rect">
              <a:avLst/>
            </a:prstGeom>
          </p:spPr>
          <p:txBody>
            <a:bodyPr lIns="0" tIns="0" rIns="0" bIns="0" rtlCol="0" anchor="ctr"/>
            <a:lstStyle/>
            <a:p>
              <a:pPr algn="l">
                <a:lnSpc>
                  <a:spcPts val="1800"/>
                </a:lnSpc>
              </a:pPr>
              <a:r>
                <a:rPr lang="en-US" sz="1500">
                  <a:solidFill>
                    <a:srgbClr val="64748B"/>
                  </a:solidFill>
                  <a:latin typeface="Calibri (MS)"/>
                  <a:ea typeface="Calibri (MS)"/>
                  <a:cs typeface="Calibri (MS)"/>
                  <a:sym typeface="Calibri (MS)"/>
                </a:rPr>
                <a:t>SCOPE  |  204ES Object Oriented Programming</a:t>
              </a:r>
            </a:p>
          </p:txBody>
        </p:sp>
      </p:grpSp>
      <p:grpSp>
        <p:nvGrpSpPr>
          <p:cNvPr id="5" name="Group 5"/>
          <p:cNvGrpSpPr/>
          <p:nvPr/>
        </p:nvGrpSpPr>
        <p:grpSpPr>
          <a:xfrm>
            <a:off x="822960" y="548640"/>
            <a:ext cx="16596360" cy="1234440"/>
            <a:chOff x="0" y="0"/>
            <a:chExt cx="22128480" cy="1645920"/>
          </a:xfrm>
        </p:grpSpPr>
        <p:sp>
          <p:nvSpPr>
            <p:cNvPr id="6" name="Freeform 6"/>
            <p:cNvSpPr/>
            <p:nvPr/>
          </p:nvSpPr>
          <p:spPr>
            <a:xfrm>
              <a:off x="0" y="0"/>
              <a:ext cx="22128480" cy="1645920"/>
            </a:xfrm>
            <a:custGeom>
              <a:avLst/>
              <a:gdLst/>
              <a:ahLst/>
              <a:cxnLst/>
              <a:rect l="l" t="t" r="r" b="b"/>
              <a:pathLst>
                <a:path w="22128480" h="1645920">
                  <a:moveTo>
                    <a:pt x="0" y="0"/>
                  </a:moveTo>
                  <a:lnTo>
                    <a:pt x="22128480" y="0"/>
                  </a:lnTo>
                  <a:lnTo>
                    <a:pt x="22128480" y="1645920"/>
                  </a:lnTo>
                  <a:lnTo>
                    <a:pt x="0" y="1645920"/>
                  </a:lnTo>
                  <a:close/>
                </a:path>
              </a:pathLst>
            </a:custGeom>
            <a:blipFill>
              <a:blip r:embed="rId2">
                <a:alphaModFix amt="0"/>
              </a:blip>
              <a:stretch>
                <a:fillRect t="-211965" b="-211965"/>
              </a:stretch>
            </a:blipFill>
          </p:spPr>
        </p:sp>
        <p:sp>
          <p:nvSpPr>
            <p:cNvPr id="7" name="TextBox 7"/>
            <p:cNvSpPr txBox="1"/>
            <p:nvPr/>
          </p:nvSpPr>
          <p:spPr>
            <a:xfrm>
              <a:off x="0" y="-9525"/>
              <a:ext cx="22128480" cy="1655445"/>
            </a:xfrm>
            <a:prstGeom prst="rect">
              <a:avLst/>
            </a:prstGeom>
          </p:spPr>
          <p:txBody>
            <a:bodyPr lIns="0" tIns="0" rIns="0" bIns="0" rtlCol="0" anchor="ctr"/>
            <a:lstStyle/>
            <a:p>
              <a:pPr algn="l">
                <a:lnSpc>
                  <a:spcPts val="6120"/>
                </a:lnSpc>
              </a:pPr>
              <a:r>
                <a:rPr lang="en-US" sz="5100" b="1">
                  <a:solidFill>
                    <a:srgbClr val="0B1B33"/>
                  </a:solidFill>
                  <a:latin typeface="Cambria Bold"/>
                  <a:ea typeface="Cambria Bold"/>
                  <a:cs typeface="Cambria Bold"/>
                  <a:sym typeface="Cambria Bold"/>
                </a:rPr>
                <a:t>Limitations and Future Scope</a:t>
              </a:r>
            </a:p>
          </p:txBody>
        </p:sp>
      </p:grpSp>
      <p:grpSp>
        <p:nvGrpSpPr>
          <p:cNvPr id="8" name="Group 8"/>
          <p:cNvGrpSpPr/>
          <p:nvPr/>
        </p:nvGrpSpPr>
        <p:grpSpPr>
          <a:xfrm>
            <a:off x="813435" y="2185035"/>
            <a:ext cx="8180070" cy="6465570"/>
            <a:chOff x="0" y="0"/>
            <a:chExt cx="10906760" cy="8620760"/>
          </a:xfrm>
        </p:grpSpPr>
        <p:sp>
          <p:nvSpPr>
            <p:cNvPr id="9" name="Freeform 9"/>
            <p:cNvSpPr/>
            <p:nvPr/>
          </p:nvSpPr>
          <p:spPr>
            <a:xfrm>
              <a:off x="0" y="0"/>
              <a:ext cx="10906760" cy="8620760"/>
            </a:xfrm>
            <a:custGeom>
              <a:avLst/>
              <a:gdLst/>
              <a:ahLst/>
              <a:cxnLst/>
              <a:rect l="l" t="t" r="r" b="b"/>
              <a:pathLst>
                <a:path w="10906760" h="8620760">
                  <a:moveTo>
                    <a:pt x="0" y="220091"/>
                  </a:moveTo>
                  <a:cubicBezTo>
                    <a:pt x="0" y="98552"/>
                    <a:pt x="98552" y="0"/>
                    <a:pt x="220091" y="0"/>
                  </a:cubicBezTo>
                  <a:lnTo>
                    <a:pt x="10686669" y="0"/>
                  </a:lnTo>
                  <a:cubicBezTo>
                    <a:pt x="10808208" y="0"/>
                    <a:pt x="10906760" y="98552"/>
                    <a:pt x="10906760" y="220091"/>
                  </a:cubicBezTo>
                  <a:lnTo>
                    <a:pt x="10906760" y="8400669"/>
                  </a:lnTo>
                  <a:cubicBezTo>
                    <a:pt x="10906760" y="8522208"/>
                    <a:pt x="10808208" y="8620760"/>
                    <a:pt x="10686669" y="8620760"/>
                  </a:cubicBezTo>
                  <a:lnTo>
                    <a:pt x="220091" y="8620760"/>
                  </a:lnTo>
                  <a:cubicBezTo>
                    <a:pt x="98552" y="8620760"/>
                    <a:pt x="0" y="8522208"/>
                    <a:pt x="0" y="8400669"/>
                  </a:cubicBezTo>
                  <a:close/>
                </a:path>
              </a:pathLst>
            </a:custGeom>
            <a:solidFill>
              <a:srgbClr val="EEF3F9"/>
            </a:solidFill>
            <a:ln w="19050" cap="sq">
              <a:solidFill>
                <a:srgbClr val="EEF3F9"/>
              </a:solidFill>
              <a:prstDash val="solid"/>
              <a:miter/>
            </a:ln>
          </p:spPr>
        </p:sp>
      </p:grpSp>
      <p:grpSp>
        <p:nvGrpSpPr>
          <p:cNvPr id="10" name="Group 10"/>
          <p:cNvGrpSpPr/>
          <p:nvPr/>
        </p:nvGrpSpPr>
        <p:grpSpPr>
          <a:xfrm>
            <a:off x="1224915" y="2527935"/>
            <a:ext cx="979170" cy="979170"/>
            <a:chOff x="0" y="0"/>
            <a:chExt cx="1305560" cy="1305560"/>
          </a:xfrm>
        </p:grpSpPr>
        <p:sp>
          <p:nvSpPr>
            <p:cNvPr id="11" name="Freeform 11"/>
            <p:cNvSpPr/>
            <p:nvPr/>
          </p:nvSpPr>
          <p:spPr>
            <a:xfrm>
              <a:off x="0" y="0"/>
              <a:ext cx="1305560" cy="1305560"/>
            </a:xfrm>
            <a:custGeom>
              <a:avLst/>
              <a:gdLst/>
              <a:ahLst/>
              <a:cxnLst/>
              <a:rect l="l" t="t" r="r" b="b"/>
              <a:pathLst>
                <a:path w="1305560" h="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1E3A5F"/>
            </a:solidFill>
            <a:ln w="19050" cap="sq">
              <a:solidFill>
                <a:srgbClr val="1E3A5F"/>
              </a:solidFill>
              <a:prstDash val="solid"/>
              <a:miter/>
            </a:ln>
          </p:spPr>
        </p:sp>
      </p:grpSp>
      <p:grpSp>
        <p:nvGrpSpPr>
          <p:cNvPr id="12" name="Group 12"/>
          <p:cNvGrpSpPr/>
          <p:nvPr/>
        </p:nvGrpSpPr>
        <p:grpSpPr>
          <a:xfrm>
            <a:off x="1474470" y="2777490"/>
            <a:ext cx="480060" cy="480060"/>
            <a:chOff x="0" y="0"/>
            <a:chExt cx="640080" cy="640080"/>
          </a:xfrm>
        </p:grpSpPr>
        <p:sp>
          <p:nvSpPr>
            <p:cNvPr id="13" name="Freeform 13" descr="Limitations"/>
            <p:cNvSpPr/>
            <p:nvPr/>
          </p:nvSpPr>
          <p:spPr>
            <a:xfrm>
              <a:off x="0" y="0"/>
              <a:ext cx="640080" cy="640080"/>
            </a:xfrm>
            <a:custGeom>
              <a:avLst/>
              <a:gdLst/>
              <a:ahLst/>
              <a:cxnLst/>
              <a:rect l="l" t="t" r="r" b="b"/>
              <a:pathLst>
                <a:path w="640080" h="640080">
                  <a:moveTo>
                    <a:pt x="0" y="0"/>
                  </a:moveTo>
                  <a:lnTo>
                    <a:pt x="640080" y="0"/>
                  </a:lnTo>
                  <a:lnTo>
                    <a:pt x="640080" y="640080"/>
                  </a:lnTo>
                  <a:lnTo>
                    <a:pt x="0" y="640080"/>
                  </a:lnTo>
                  <a:lnTo>
                    <a:pt x="0" y="0"/>
                  </a:lnTo>
                  <a:close/>
                </a:path>
              </a:pathLst>
            </a:custGeom>
            <a:blipFill>
              <a:blip r:embed="rId3"/>
              <a:stretch>
                <a:fillRect/>
              </a:stretch>
            </a:blipFill>
          </p:spPr>
        </p:sp>
      </p:grpSp>
      <p:grpSp>
        <p:nvGrpSpPr>
          <p:cNvPr id="14" name="Group 14"/>
          <p:cNvGrpSpPr/>
          <p:nvPr/>
        </p:nvGrpSpPr>
        <p:grpSpPr>
          <a:xfrm>
            <a:off x="2468880" y="2537460"/>
            <a:ext cx="6172200" cy="960120"/>
            <a:chOff x="0" y="0"/>
            <a:chExt cx="8229600" cy="1280160"/>
          </a:xfrm>
        </p:grpSpPr>
        <p:sp>
          <p:nvSpPr>
            <p:cNvPr id="15" name="Freeform 15"/>
            <p:cNvSpPr/>
            <p:nvPr/>
          </p:nvSpPr>
          <p:spPr>
            <a:xfrm>
              <a:off x="0" y="0"/>
              <a:ext cx="8229600" cy="1280160"/>
            </a:xfrm>
            <a:custGeom>
              <a:avLst/>
              <a:gdLst/>
              <a:ahLst/>
              <a:cxnLst/>
              <a:rect l="l" t="t" r="r" b="b"/>
              <a:pathLst>
                <a:path w="8229600" h="1280160">
                  <a:moveTo>
                    <a:pt x="0" y="0"/>
                  </a:moveTo>
                  <a:lnTo>
                    <a:pt x="8229600" y="0"/>
                  </a:lnTo>
                  <a:lnTo>
                    <a:pt x="8229600" y="1280160"/>
                  </a:lnTo>
                  <a:lnTo>
                    <a:pt x="0" y="1280160"/>
                  </a:lnTo>
                  <a:close/>
                </a:path>
              </a:pathLst>
            </a:custGeom>
            <a:blipFill>
              <a:blip r:embed="rId2">
                <a:alphaModFix amt="0"/>
              </a:blip>
              <a:stretch>
                <a:fillRect t="-75260" b="-75260"/>
              </a:stretch>
            </a:blipFill>
          </p:spPr>
        </p:sp>
        <p:sp>
          <p:nvSpPr>
            <p:cNvPr id="16" name="TextBox 16"/>
            <p:cNvSpPr txBox="1"/>
            <p:nvPr/>
          </p:nvSpPr>
          <p:spPr>
            <a:xfrm>
              <a:off x="0" y="-9525"/>
              <a:ext cx="8229600" cy="1289685"/>
            </a:xfrm>
            <a:prstGeom prst="rect">
              <a:avLst/>
            </a:prstGeom>
          </p:spPr>
          <p:txBody>
            <a:bodyPr lIns="0" tIns="0" rIns="0" bIns="0" rtlCol="0" anchor="ctr"/>
            <a:lstStyle/>
            <a:p>
              <a:pPr algn="l">
                <a:lnSpc>
                  <a:spcPts val="3960"/>
                </a:lnSpc>
              </a:pPr>
              <a:r>
                <a:rPr lang="en-US" sz="3300" b="1">
                  <a:solidFill>
                    <a:srgbClr val="0B1B33"/>
                  </a:solidFill>
                  <a:latin typeface="Cambria Bold"/>
                  <a:ea typeface="Cambria Bold"/>
                  <a:cs typeface="Cambria Bold"/>
                  <a:sym typeface="Cambria Bold"/>
                </a:rPr>
                <a:t>Limitations</a:t>
              </a:r>
            </a:p>
          </p:txBody>
        </p:sp>
      </p:grpSp>
      <p:sp>
        <p:nvSpPr>
          <p:cNvPr id="17" name="TextBox 17"/>
          <p:cNvSpPr txBox="1"/>
          <p:nvPr/>
        </p:nvSpPr>
        <p:spPr>
          <a:xfrm>
            <a:off x="1474470" y="3705621"/>
            <a:ext cx="6632474" cy="4645654"/>
          </a:xfrm>
          <a:prstGeom prst="rect">
            <a:avLst/>
          </a:prstGeom>
        </p:spPr>
        <p:txBody>
          <a:bodyPr lIns="0" tIns="0" rIns="0" bIns="0" rtlCol="0" anchor="t">
            <a:spAutoFit/>
          </a:bodyPr>
          <a:lstStyle/>
          <a:p>
            <a:pPr marL="495350" lvl="1" indent="-247675" algn="l">
              <a:lnSpc>
                <a:spcPts val="3284"/>
              </a:lnSpc>
              <a:buFont typeface="Arial"/>
              <a:buChar char="•"/>
            </a:pPr>
            <a:r>
              <a:rPr lang="en-US" sz="2737">
                <a:solidFill>
                  <a:srgbClr val="0B1B33"/>
                </a:solidFill>
                <a:latin typeface="Calibri (MS)"/>
                <a:ea typeface="Calibri (MS)"/>
                <a:cs typeface="Calibri (MS)"/>
                <a:sym typeface="Calibri (MS)"/>
              </a:rPr>
              <a:t>2D circular orbits only</a:t>
            </a:r>
          </a:p>
          <a:p>
            <a:pPr algn="l">
              <a:lnSpc>
                <a:spcPts val="3284"/>
              </a:lnSpc>
            </a:pPr>
            <a:endParaRPr lang="en-US" sz="2737">
              <a:solidFill>
                <a:srgbClr val="0B1B33"/>
              </a:solidFill>
              <a:latin typeface="Calibri (MS)"/>
              <a:ea typeface="Calibri (MS)"/>
              <a:cs typeface="Calibri (MS)"/>
              <a:sym typeface="Calibri (MS)"/>
            </a:endParaRPr>
          </a:p>
          <a:p>
            <a:pPr marL="495350" lvl="1" indent="-247675" algn="l">
              <a:lnSpc>
                <a:spcPts val="3284"/>
              </a:lnSpc>
              <a:buFont typeface="Arial"/>
              <a:buChar char="•"/>
            </a:pPr>
            <a:r>
              <a:rPr lang="en-US" sz="2737">
                <a:solidFill>
                  <a:srgbClr val="0B1B33"/>
                </a:solidFill>
                <a:latin typeface="Calibri (MS)"/>
                <a:ea typeface="Calibri (MS)"/>
                <a:cs typeface="Calibri (MS)"/>
                <a:sym typeface="Calibri (MS)"/>
              </a:rPr>
              <a:t>Objects are not affected by air resistance or other disturbing forces.</a:t>
            </a:r>
          </a:p>
          <a:p>
            <a:pPr algn="l">
              <a:lnSpc>
                <a:spcPts val="3284"/>
              </a:lnSpc>
            </a:pPr>
            <a:endParaRPr lang="en-US" sz="2737">
              <a:solidFill>
                <a:srgbClr val="0B1B33"/>
              </a:solidFill>
              <a:latin typeface="Calibri (MS)"/>
              <a:ea typeface="Calibri (MS)"/>
              <a:cs typeface="Calibri (MS)"/>
              <a:sym typeface="Calibri (MS)"/>
            </a:endParaRPr>
          </a:p>
          <a:p>
            <a:pPr marL="495350" lvl="1" indent="-247675" algn="l">
              <a:lnSpc>
                <a:spcPts val="3284"/>
              </a:lnSpc>
              <a:buFont typeface="Arial"/>
              <a:buChar char="•"/>
            </a:pPr>
            <a:r>
              <a:rPr lang="en-US" sz="2737">
                <a:solidFill>
                  <a:srgbClr val="0B1B33"/>
                </a:solidFill>
                <a:latin typeface="Calibri (MS)"/>
                <a:ea typeface="Calibri (MS)"/>
                <a:cs typeface="Calibri (MS)"/>
                <a:sym typeface="Calibri (MS)"/>
              </a:rPr>
              <a:t>Simulated data, not real tracking</a:t>
            </a:r>
          </a:p>
          <a:p>
            <a:pPr algn="l">
              <a:lnSpc>
                <a:spcPts val="3284"/>
              </a:lnSpc>
            </a:pPr>
            <a:endParaRPr lang="en-US" sz="2737">
              <a:solidFill>
                <a:srgbClr val="0B1B33"/>
              </a:solidFill>
              <a:latin typeface="Calibri (MS)"/>
              <a:ea typeface="Calibri (MS)"/>
              <a:cs typeface="Calibri (MS)"/>
              <a:sym typeface="Calibri (MS)"/>
            </a:endParaRPr>
          </a:p>
          <a:p>
            <a:pPr marL="495350" lvl="1" indent="-247675" algn="l">
              <a:lnSpc>
                <a:spcPts val="3284"/>
              </a:lnSpc>
              <a:buFont typeface="Arial"/>
              <a:buChar char="•"/>
            </a:pPr>
            <a:r>
              <a:rPr lang="en-US" sz="2737">
                <a:solidFill>
                  <a:srgbClr val="0B1B33"/>
                </a:solidFill>
                <a:latin typeface="Calibri (MS)"/>
                <a:ea typeface="Calibri (MS)"/>
                <a:cs typeface="Calibri (MS)"/>
                <a:sym typeface="Calibri (MS)"/>
              </a:rPr>
              <a:t>No uncertainty or collision probability</a:t>
            </a:r>
          </a:p>
          <a:p>
            <a:pPr algn="l">
              <a:lnSpc>
                <a:spcPts val="3284"/>
              </a:lnSpc>
            </a:pPr>
            <a:endParaRPr lang="en-US" sz="2737">
              <a:solidFill>
                <a:srgbClr val="0B1B33"/>
              </a:solidFill>
              <a:latin typeface="Calibri (MS)"/>
              <a:ea typeface="Calibri (MS)"/>
              <a:cs typeface="Calibri (MS)"/>
              <a:sym typeface="Calibri (MS)"/>
            </a:endParaRPr>
          </a:p>
          <a:p>
            <a:pPr marL="495350" lvl="1" indent="-247675" algn="l">
              <a:lnSpc>
                <a:spcPts val="3284"/>
              </a:lnSpc>
              <a:buFont typeface="Arial"/>
              <a:buChar char="•"/>
            </a:pPr>
            <a:r>
              <a:rPr lang="en-US" sz="2737">
                <a:solidFill>
                  <a:srgbClr val="0B1B33"/>
                </a:solidFill>
                <a:latin typeface="Calibri (MS)"/>
                <a:ea typeface="Calibri (MS)"/>
                <a:cs typeface="Calibri (MS)"/>
                <a:sym typeface="Calibri (MS)"/>
              </a:rPr>
              <a:t>Objects do not change their paths or directions intentionally.</a:t>
            </a:r>
          </a:p>
        </p:txBody>
      </p:sp>
      <p:grpSp>
        <p:nvGrpSpPr>
          <p:cNvPr id="18" name="Group 18"/>
          <p:cNvGrpSpPr/>
          <p:nvPr/>
        </p:nvGrpSpPr>
        <p:grpSpPr>
          <a:xfrm>
            <a:off x="9248775" y="2185035"/>
            <a:ext cx="8180070" cy="6465570"/>
            <a:chOff x="0" y="0"/>
            <a:chExt cx="10906760" cy="8620760"/>
          </a:xfrm>
        </p:grpSpPr>
        <p:sp>
          <p:nvSpPr>
            <p:cNvPr id="19" name="Freeform 19"/>
            <p:cNvSpPr/>
            <p:nvPr/>
          </p:nvSpPr>
          <p:spPr>
            <a:xfrm>
              <a:off x="0" y="0"/>
              <a:ext cx="10906760" cy="8620760"/>
            </a:xfrm>
            <a:custGeom>
              <a:avLst/>
              <a:gdLst/>
              <a:ahLst/>
              <a:cxnLst/>
              <a:rect l="l" t="t" r="r" b="b"/>
              <a:pathLst>
                <a:path w="10906760" h="8620760">
                  <a:moveTo>
                    <a:pt x="0" y="220091"/>
                  </a:moveTo>
                  <a:cubicBezTo>
                    <a:pt x="0" y="98552"/>
                    <a:pt x="98552" y="0"/>
                    <a:pt x="220091" y="0"/>
                  </a:cubicBezTo>
                  <a:lnTo>
                    <a:pt x="10686669" y="0"/>
                  </a:lnTo>
                  <a:cubicBezTo>
                    <a:pt x="10808208" y="0"/>
                    <a:pt x="10906760" y="98552"/>
                    <a:pt x="10906760" y="220091"/>
                  </a:cubicBezTo>
                  <a:lnTo>
                    <a:pt x="10906760" y="8400669"/>
                  </a:lnTo>
                  <a:cubicBezTo>
                    <a:pt x="10906760" y="8522208"/>
                    <a:pt x="10808208" y="8620760"/>
                    <a:pt x="10686669" y="8620760"/>
                  </a:cubicBezTo>
                  <a:lnTo>
                    <a:pt x="220091" y="8620760"/>
                  </a:lnTo>
                  <a:cubicBezTo>
                    <a:pt x="98552" y="8620760"/>
                    <a:pt x="0" y="8522208"/>
                    <a:pt x="0" y="8400669"/>
                  </a:cubicBezTo>
                  <a:close/>
                </a:path>
              </a:pathLst>
            </a:custGeom>
            <a:solidFill>
              <a:srgbClr val="EEF3F9"/>
            </a:solidFill>
            <a:ln w="19050" cap="sq">
              <a:solidFill>
                <a:srgbClr val="EEF3F9"/>
              </a:solidFill>
              <a:prstDash val="solid"/>
              <a:miter/>
            </a:ln>
          </p:spPr>
        </p:sp>
      </p:grpSp>
      <p:grpSp>
        <p:nvGrpSpPr>
          <p:cNvPr id="20" name="Group 20"/>
          <p:cNvGrpSpPr/>
          <p:nvPr/>
        </p:nvGrpSpPr>
        <p:grpSpPr>
          <a:xfrm>
            <a:off x="9660255" y="2527935"/>
            <a:ext cx="979170" cy="979170"/>
            <a:chOff x="0" y="0"/>
            <a:chExt cx="1305560" cy="1305560"/>
          </a:xfrm>
        </p:grpSpPr>
        <p:sp>
          <p:nvSpPr>
            <p:cNvPr id="21" name="Freeform 21"/>
            <p:cNvSpPr/>
            <p:nvPr/>
          </p:nvSpPr>
          <p:spPr>
            <a:xfrm>
              <a:off x="0" y="0"/>
              <a:ext cx="1305560" cy="1305560"/>
            </a:xfrm>
            <a:custGeom>
              <a:avLst/>
              <a:gdLst/>
              <a:ahLst/>
              <a:cxnLst/>
              <a:rect l="l" t="t" r="r" b="b"/>
              <a:pathLst>
                <a:path w="1305560" h="1305560">
                  <a:moveTo>
                    <a:pt x="0" y="652780"/>
                  </a:moveTo>
                  <a:cubicBezTo>
                    <a:pt x="0" y="292227"/>
                    <a:pt x="292227" y="0"/>
                    <a:pt x="652780" y="0"/>
                  </a:cubicBezTo>
                  <a:cubicBezTo>
                    <a:pt x="1013333" y="0"/>
                    <a:pt x="1305560" y="292227"/>
                    <a:pt x="1305560" y="652780"/>
                  </a:cubicBezTo>
                  <a:cubicBezTo>
                    <a:pt x="1305560" y="1013333"/>
                    <a:pt x="1013333" y="1305560"/>
                    <a:pt x="652780" y="1305560"/>
                  </a:cubicBezTo>
                  <a:cubicBezTo>
                    <a:pt x="292227" y="1305560"/>
                    <a:pt x="0" y="1013333"/>
                    <a:pt x="0" y="652780"/>
                  </a:cubicBezTo>
                  <a:close/>
                </a:path>
              </a:pathLst>
            </a:custGeom>
            <a:solidFill>
              <a:srgbClr val="1E3A5F"/>
            </a:solidFill>
            <a:ln w="19050" cap="sq">
              <a:solidFill>
                <a:srgbClr val="1E3A5F"/>
              </a:solidFill>
              <a:prstDash val="solid"/>
              <a:miter/>
            </a:ln>
          </p:spPr>
        </p:sp>
      </p:grpSp>
      <p:grpSp>
        <p:nvGrpSpPr>
          <p:cNvPr id="22" name="Group 22"/>
          <p:cNvGrpSpPr/>
          <p:nvPr/>
        </p:nvGrpSpPr>
        <p:grpSpPr>
          <a:xfrm>
            <a:off x="9909810" y="2777490"/>
            <a:ext cx="480060" cy="480060"/>
            <a:chOff x="0" y="0"/>
            <a:chExt cx="640080" cy="640080"/>
          </a:xfrm>
        </p:grpSpPr>
        <p:sp>
          <p:nvSpPr>
            <p:cNvPr id="23" name="Freeform 23" descr="Future Scope"/>
            <p:cNvSpPr/>
            <p:nvPr/>
          </p:nvSpPr>
          <p:spPr>
            <a:xfrm>
              <a:off x="0" y="0"/>
              <a:ext cx="640080" cy="640080"/>
            </a:xfrm>
            <a:custGeom>
              <a:avLst/>
              <a:gdLst/>
              <a:ahLst/>
              <a:cxnLst/>
              <a:rect l="l" t="t" r="r" b="b"/>
              <a:pathLst>
                <a:path w="640080" h="640080">
                  <a:moveTo>
                    <a:pt x="0" y="0"/>
                  </a:moveTo>
                  <a:lnTo>
                    <a:pt x="640080" y="0"/>
                  </a:lnTo>
                  <a:lnTo>
                    <a:pt x="640080" y="640080"/>
                  </a:lnTo>
                  <a:lnTo>
                    <a:pt x="0" y="640080"/>
                  </a:lnTo>
                  <a:lnTo>
                    <a:pt x="0" y="0"/>
                  </a:lnTo>
                  <a:close/>
                </a:path>
              </a:pathLst>
            </a:custGeom>
            <a:blipFill>
              <a:blip r:embed="rId4"/>
              <a:stretch>
                <a:fillRect/>
              </a:stretch>
            </a:blipFill>
          </p:spPr>
        </p:sp>
      </p:grpSp>
      <p:grpSp>
        <p:nvGrpSpPr>
          <p:cNvPr id="24" name="Group 24"/>
          <p:cNvGrpSpPr/>
          <p:nvPr/>
        </p:nvGrpSpPr>
        <p:grpSpPr>
          <a:xfrm>
            <a:off x="10904220" y="2537460"/>
            <a:ext cx="6172200" cy="960120"/>
            <a:chOff x="0" y="0"/>
            <a:chExt cx="8229600" cy="1280160"/>
          </a:xfrm>
        </p:grpSpPr>
        <p:sp>
          <p:nvSpPr>
            <p:cNvPr id="25" name="Freeform 25"/>
            <p:cNvSpPr/>
            <p:nvPr/>
          </p:nvSpPr>
          <p:spPr>
            <a:xfrm>
              <a:off x="0" y="0"/>
              <a:ext cx="8229600" cy="1280160"/>
            </a:xfrm>
            <a:custGeom>
              <a:avLst/>
              <a:gdLst/>
              <a:ahLst/>
              <a:cxnLst/>
              <a:rect l="l" t="t" r="r" b="b"/>
              <a:pathLst>
                <a:path w="8229600" h="1280160">
                  <a:moveTo>
                    <a:pt x="0" y="0"/>
                  </a:moveTo>
                  <a:lnTo>
                    <a:pt x="8229600" y="0"/>
                  </a:lnTo>
                  <a:lnTo>
                    <a:pt x="8229600" y="1280160"/>
                  </a:lnTo>
                  <a:lnTo>
                    <a:pt x="0" y="1280160"/>
                  </a:lnTo>
                  <a:close/>
                </a:path>
              </a:pathLst>
            </a:custGeom>
            <a:blipFill>
              <a:blip r:embed="rId2">
                <a:alphaModFix amt="0"/>
              </a:blip>
              <a:stretch>
                <a:fillRect t="-75260" b="-75260"/>
              </a:stretch>
            </a:blipFill>
          </p:spPr>
        </p:sp>
        <p:sp>
          <p:nvSpPr>
            <p:cNvPr id="26" name="TextBox 26"/>
            <p:cNvSpPr txBox="1"/>
            <p:nvPr/>
          </p:nvSpPr>
          <p:spPr>
            <a:xfrm>
              <a:off x="0" y="-9525"/>
              <a:ext cx="8229600" cy="1289685"/>
            </a:xfrm>
            <a:prstGeom prst="rect">
              <a:avLst/>
            </a:prstGeom>
          </p:spPr>
          <p:txBody>
            <a:bodyPr lIns="0" tIns="0" rIns="0" bIns="0" rtlCol="0" anchor="ctr"/>
            <a:lstStyle/>
            <a:p>
              <a:pPr algn="l">
                <a:lnSpc>
                  <a:spcPts val="3960"/>
                </a:lnSpc>
              </a:pPr>
              <a:r>
                <a:rPr lang="en-US" sz="3300" b="1">
                  <a:solidFill>
                    <a:srgbClr val="0B1B33"/>
                  </a:solidFill>
                  <a:latin typeface="Cambria Bold"/>
                  <a:ea typeface="Cambria Bold"/>
                  <a:cs typeface="Cambria Bold"/>
                  <a:sym typeface="Cambria Bold"/>
                </a:rPr>
                <a:t>Future Scope</a:t>
              </a:r>
            </a:p>
          </p:txBody>
        </p:sp>
      </p:grpSp>
      <p:sp>
        <p:nvSpPr>
          <p:cNvPr id="27" name="TextBox 27"/>
          <p:cNvSpPr txBox="1"/>
          <p:nvPr/>
        </p:nvSpPr>
        <p:spPr>
          <a:xfrm>
            <a:off x="9909810" y="3705621"/>
            <a:ext cx="6533004" cy="4562475"/>
          </a:xfrm>
          <a:prstGeom prst="rect">
            <a:avLst/>
          </a:prstGeom>
        </p:spPr>
        <p:txBody>
          <a:bodyPr lIns="0" tIns="0" rIns="0" bIns="0" rtlCol="0" anchor="t">
            <a:spAutoFit/>
          </a:bodyPr>
          <a:lstStyle/>
          <a:p>
            <a:pPr marL="495871" lvl="1" indent="-247936" algn="l">
              <a:lnSpc>
                <a:spcPts val="3287"/>
              </a:lnSpc>
              <a:buFont typeface="Arial"/>
              <a:buChar char="•"/>
            </a:pPr>
            <a:r>
              <a:rPr lang="en-US" sz="2739">
                <a:solidFill>
                  <a:srgbClr val="0B1B33"/>
                </a:solidFill>
                <a:latin typeface="Calibri (MS)"/>
                <a:ea typeface="Calibri (MS)"/>
                <a:cs typeface="Calibri (MS)"/>
                <a:sym typeface="Calibri (MS)"/>
              </a:rPr>
              <a:t>3D elliptical orbits</a:t>
            </a:r>
          </a:p>
          <a:p>
            <a:pPr algn="l">
              <a:lnSpc>
                <a:spcPts val="3287"/>
              </a:lnSpc>
            </a:pPr>
            <a:endParaRPr lang="en-US" sz="2739">
              <a:solidFill>
                <a:srgbClr val="0B1B33"/>
              </a:solidFill>
              <a:latin typeface="Calibri (MS)"/>
              <a:ea typeface="Calibri (MS)"/>
              <a:cs typeface="Calibri (MS)"/>
              <a:sym typeface="Calibri (MS)"/>
            </a:endParaRPr>
          </a:p>
          <a:p>
            <a:pPr marL="495871" lvl="1" indent="-247936" algn="l">
              <a:lnSpc>
                <a:spcPts val="3287"/>
              </a:lnSpc>
              <a:buFont typeface="Arial"/>
              <a:buChar char="•"/>
            </a:pPr>
            <a:r>
              <a:rPr lang="en-US" sz="2739">
                <a:solidFill>
                  <a:srgbClr val="0B1B33"/>
                </a:solidFill>
                <a:latin typeface="Calibri (MS)"/>
                <a:ea typeface="Calibri (MS)"/>
                <a:cs typeface="Calibri (MS)"/>
                <a:sym typeface="Calibri (MS)"/>
              </a:rPr>
              <a:t> Uses real satellite orbital data and a model to predict their positions.</a:t>
            </a:r>
          </a:p>
          <a:p>
            <a:pPr algn="l">
              <a:lnSpc>
                <a:spcPts val="3287"/>
              </a:lnSpc>
            </a:pPr>
            <a:endParaRPr lang="en-US" sz="2739">
              <a:solidFill>
                <a:srgbClr val="0B1B33"/>
              </a:solidFill>
              <a:latin typeface="Calibri (MS)"/>
              <a:ea typeface="Calibri (MS)"/>
              <a:cs typeface="Calibri (MS)"/>
              <a:sym typeface="Calibri (MS)"/>
            </a:endParaRPr>
          </a:p>
          <a:p>
            <a:pPr marL="495871" lvl="1" indent="-247936" algn="l">
              <a:lnSpc>
                <a:spcPts val="3287"/>
              </a:lnSpc>
              <a:buFont typeface="Arial"/>
              <a:buChar char="•"/>
            </a:pPr>
            <a:r>
              <a:rPr lang="en-US" sz="2739">
                <a:solidFill>
                  <a:srgbClr val="0B1B33"/>
                </a:solidFill>
                <a:latin typeface="Calibri (MS)"/>
                <a:ea typeface="Calibri (MS)"/>
                <a:cs typeface="Calibri (MS)"/>
                <a:sym typeface="Calibri (MS)"/>
              </a:rPr>
              <a:t>Probability of collision</a:t>
            </a:r>
          </a:p>
          <a:p>
            <a:pPr algn="l">
              <a:lnSpc>
                <a:spcPts val="3287"/>
              </a:lnSpc>
            </a:pPr>
            <a:endParaRPr lang="en-US" sz="2739">
              <a:solidFill>
                <a:srgbClr val="0B1B33"/>
              </a:solidFill>
              <a:latin typeface="Calibri (MS)"/>
              <a:ea typeface="Calibri (MS)"/>
              <a:cs typeface="Calibri (MS)"/>
              <a:sym typeface="Calibri (MS)"/>
            </a:endParaRPr>
          </a:p>
          <a:p>
            <a:pPr marL="495871" lvl="1" indent="-247936" algn="l">
              <a:lnSpc>
                <a:spcPts val="3287"/>
              </a:lnSpc>
              <a:buFont typeface="Arial"/>
              <a:buChar char="•"/>
            </a:pPr>
            <a:r>
              <a:rPr lang="en-US" sz="2739">
                <a:solidFill>
                  <a:srgbClr val="0B1B33"/>
                </a:solidFill>
                <a:latin typeface="Calibri (MS)"/>
                <a:ea typeface="Calibri (MS)"/>
                <a:cs typeface="Calibri (MS)"/>
                <a:sym typeface="Calibri (MS)"/>
              </a:rPr>
              <a:t>Plans changes in an object's path to prevent collisions.</a:t>
            </a:r>
          </a:p>
          <a:p>
            <a:pPr algn="l">
              <a:lnSpc>
                <a:spcPts val="3287"/>
              </a:lnSpc>
            </a:pPr>
            <a:endParaRPr lang="en-US" sz="2739">
              <a:solidFill>
                <a:srgbClr val="0B1B33"/>
              </a:solidFill>
              <a:latin typeface="Calibri (MS)"/>
              <a:ea typeface="Calibri (MS)"/>
              <a:cs typeface="Calibri (MS)"/>
              <a:sym typeface="Calibri (MS)"/>
            </a:endParaRPr>
          </a:p>
          <a:p>
            <a:pPr marL="495871" lvl="1" indent="-247936" algn="l">
              <a:lnSpc>
                <a:spcPts val="3287"/>
              </a:lnSpc>
              <a:buFont typeface="Arial"/>
              <a:buChar char="•"/>
            </a:pPr>
            <a:r>
              <a:rPr lang="en-US" sz="2739">
                <a:solidFill>
                  <a:srgbClr val="0B1B33"/>
                </a:solidFill>
                <a:latin typeface="Calibri (MS)"/>
                <a:ea typeface="Calibri (MS)"/>
                <a:cs typeface="Calibri (MS)"/>
                <a:sym typeface="Calibri (MS)"/>
              </a:rPr>
              <a:t>Graphical orbit display</a:t>
            </a:r>
          </a:p>
        </p:txBody>
      </p:sp>
      <p:sp>
        <p:nvSpPr>
          <p:cNvPr id="28" name="TextBox 28"/>
          <p:cNvSpPr txBox="1"/>
          <p:nvPr/>
        </p:nvSpPr>
        <p:spPr>
          <a:xfrm>
            <a:off x="16824960" y="9608820"/>
            <a:ext cx="502920" cy="358140"/>
          </a:xfrm>
          <a:prstGeom prst="rect">
            <a:avLst/>
          </a:prstGeom>
        </p:spPr>
        <p:txBody>
          <a:bodyPr lIns="0" tIns="0" rIns="0" bIns="0" rtlCol="0" anchor="t">
            <a:spAutoFit/>
          </a:bodyPr>
          <a:lstStyle/>
          <a:p>
            <a:pPr algn="l">
              <a:lnSpc>
                <a:spcPts val="1800"/>
              </a:lnSpc>
            </a:pPr>
            <a:r>
              <a:rPr lang="en-US" sz="1500">
                <a:solidFill>
                  <a:srgbClr val="64748B"/>
                </a:solidFill>
                <a:latin typeface="Calibri (MS)"/>
                <a:ea typeface="Calibri (MS)"/>
                <a:cs typeface="Calibri (MS)"/>
                <a:sym typeface="Calibri (MS)"/>
              </a:rPr>
              <a:t>14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9601200"/>
            <a:ext cx="9601200" cy="411480"/>
            <a:chOff x="0" y="0"/>
            <a:chExt cx="12801600" cy="548640"/>
          </a:xfrm>
        </p:grpSpPr>
        <p:sp>
          <p:nvSpPr>
            <p:cNvPr id="3" name="Freeform 3"/>
            <p:cNvSpPr/>
            <p:nvPr/>
          </p:nvSpPr>
          <p:spPr>
            <a:xfrm>
              <a:off x="0" y="0"/>
              <a:ext cx="12801600" cy="548640"/>
            </a:xfrm>
            <a:custGeom>
              <a:avLst/>
              <a:gdLst/>
              <a:ahLst/>
              <a:cxnLst/>
              <a:rect l="l" t="t" r="r" b="b"/>
              <a:pathLst>
                <a:path w="12801600" h="548640">
                  <a:moveTo>
                    <a:pt x="0" y="0"/>
                  </a:moveTo>
                  <a:lnTo>
                    <a:pt x="12801600" y="0"/>
                  </a:lnTo>
                  <a:lnTo>
                    <a:pt x="12801600" y="548640"/>
                  </a:lnTo>
                  <a:lnTo>
                    <a:pt x="0" y="548640"/>
                  </a:lnTo>
                  <a:close/>
                </a:path>
              </a:pathLst>
            </a:custGeom>
            <a:blipFill>
              <a:blip r:embed="rId2">
                <a:alphaModFix amt="0"/>
              </a:blip>
              <a:stretch>
                <a:fillRect t="-404650" b="-404650"/>
              </a:stretch>
            </a:blipFill>
          </p:spPr>
        </p:sp>
        <p:sp>
          <p:nvSpPr>
            <p:cNvPr id="4" name="TextBox 4"/>
            <p:cNvSpPr txBox="1"/>
            <p:nvPr/>
          </p:nvSpPr>
          <p:spPr>
            <a:xfrm>
              <a:off x="0" y="-38100"/>
              <a:ext cx="12801600" cy="586740"/>
            </a:xfrm>
            <a:prstGeom prst="rect">
              <a:avLst/>
            </a:prstGeom>
          </p:spPr>
          <p:txBody>
            <a:bodyPr lIns="0" tIns="0" rIns="0" bIns="0" rtlCol="0" anchor="ctr"/>
            <a:lstStyle/>
            <a:p>
              <a:pPr algn="l">
                <a:lnSpc>
                  <a:spcPts val="1800"/>
                </a:lnSpc>
              </a:pPr>
              <a:r>
                <a:rPr lang="en-US" sz="1500">
                  <a:solidFill>
                    <a:srgbClr val="64748B"/>
                  </a:solidFill>
                  <a:latin typeface="Calibri (MS)"/>
                  <a:ea typeface="Calibri (MS)"/>
                  <a:cs typeface="Calibri (MS)"/>
                  <a:sym typeface="Calibri (MS)"/>
                </a:rPr>
                <a:t>SCOPE  |  204ES Object Oriented Programming</a:t>
              </a:r>
            </a:p>
          </p:txBody>
        </p:sp>
      </p:grpSp>
      <p:grpSp>
        <p:nvGrpSpPr>
          <p:cNvPr id="5" name="Group 5"/>
          <p:cNvGrpSpPr/>
          <p:nvPr/>
        </p:nvGrpSpPr>
        <p:grpSpPr>
          <a:xfrm>
            <a:off x="822960" y="548640"/>
            <a:ext cx="16596360" cy="1234440"/>
            <a:chOff x="0" y="0"/>
            <a:chExt cx="22128480" cy="1645920"/>
          </a:xfrm>
        </p:grpSpPr>
        <p:sp>
          <p:nvSpPr>
            <p:cNvPr id="6" name="Freeform 6"/>
            <p:cNvSpPr/>
            <p:nvPr/>
          </p:nvSpPr>
          <p:spPr>
            <a:xfrm>
              <a:off x="0" y="0"/>
              <a:ext cx="22128480" cy="1645920"/>
            </a:xfrm>
            <a:custGeom>
              <a:avLst/>
              <a:gdLst/>
              <a:ahLst/>
              <a:cxnLst/>
              <a:rect l="l" t="t" r="r" b="b"/>
              <a:pathLst>
                <a:path w="22128480" h="1645920">
                  <a:moveTo>
                    <a:pt x="0" y="0"/>
                  </a:moveTo>
                  <a:lnTo>
                    <a:pt x="22128480" y="0"/>
                  </a:lnTo>
                  <a:lnTo>
                    <a:pt x="22128480" y="1645920"/>
                  </a:lnTo>
                  <a:lnTo>
                    <a:pt x="0" y="1645920"/>
                  </a:lnTo>
                  <a:close/>
                </a:path>
              </a:pathLst>
            </a:custGeom>
            <a:blipFill>
              <a:blip r:embed="rId2">
                <a:alphaModFix amt="0"/>
              </a:blip>
              <a:stretch>
                <a:fillRect t="-211965" b="-211965"/>
              </a:stretch>
            </a:blipFill>
          </p:spPr>
        </p:sp>
        <p:sp>
          <p:nvSpPr>
            <p:cNvPr id="7" name="TextBox 7"/>
            <p:cNvSpPr txBox="1"/>
            <p:nvPr/>
          </p:nvSpPr>
          <p:spPr>
            <a:xfrm>
              <a:off x="0" y="-9525"/>
              <a:ext cx="22128480" cy="1655445"/>
            </a:xfrm>
            <a:prstGeom prst="rect">
              <a:avLst/>
            </a:prstGeom>
          </p:spPr>
          <p:txBody>
            <a:bodyPr lIns="0" tIns="0" rIns="0" bIns="0" rtlCol="0" anchor="ctr"/>
            <a:lstStyle/>
            <a:p>
              <a:pPr algn="l">
                <a:lnSpc>
                  <a:spcPts val="6120"/>
                </a:lnSpc>
              </a:pPr>
              <a:r>
                <a:rPr lang="en-US" sz="5100" b="1">
                  <a:solidFill>
                    <a:srgbClr val="0B1B33"/>
                  </a:solidFill>
                  <a:latin typeface="Cambria Bold"/>
                  <a:ea typeface="Cambria Bold"/>
                  <a:cs typeface="Cambria Bold"/>
                  <a:sym typeface="Cambria Bold"/>
                </a:rPr>
                <a:t>References</a:t>
              </a:r>
            </a:p>
          </p:txBody>
        </p:sp>
      </p:grpSp>
      <p:grpSp>
        <p:nvGrpSpPr>
          <p:cNvPr id="8" name="Group 8"/>
          <p:cNvGrpSpPr/>
          <p:nvPr/>
        </p:nvGrpSpPr>
        <p:grpSpPr>
          <a:xfrm>
            <a:off x="813435" y="2185035"/>
            <a:ext cx="16615410" cy="6465570"/>
            <a:chOff x="0" y="0"/>
            <a:chExt cx="22153880" cy="8620760"/>
          </a:xfrm>
        </p:grpSpPr>
        <p:sp>
          <p:nvSpPr>
            <p:cNvPr id="9" name="Freeform 9"/>
            <p:cNvSpPr/>
            <p:nvPr/>
          </p:nvSpPr>
          <p:spPr>
            <a:xfrm>
              <a:off x="0" y="0"/>
              <a:ext cx="22153879" cy="8620760"/>
            </a:xfrm>
            <a:custGeom>
              <a:avLst/>
              <a:gdLst/>
              <a:ahLst/>
              <a:cxnLst/>
              <a:rect l="l" t="t" r="r" b="b"/>
              <a:pathLst>
                <a:path w="22153879" h="8620760">
                  <a:moveTo>
                    <a:pt x="0" y="220091"/>
                  </a:moveTo>
                  <a:cubicBezTo>
                    <a:pt x="0" y="98552"/>
                    <a:pt x="98552" y="0"/>
                    <a:pt x="220091" y="0"/>
                  </a:cubicBezTo>
                  <a:lnTo>
                    <a:pt x="21933788" y="0"/>
                  </a:lnTo>
                  <a:cubicBezTo>
                    <a:pt x="22055327" y="0"/>
                    <a:pt x="22153879" y="98552"/>
                    <a:pt x="22153879" y="220091"/>
                  </a:cubicBezTo>
                  <a:lnTo>
                    <a:pt x="22153879" y="8400669"/>
                  </a:lnTo>
                  <a:cubicBezTo>
                    <a:pt x="22153879" y="8522208"/>
                    <a:pt x="22055327" y="8620760"/>
                    <a:pt x="21933788" y="8620760"/>
                  </a:cubicBezTo>
                  <a:lnTo>
                    <a:pt x="220091" y="8620760"/>
                  </a:lnTo>
                  <a:cubicBezTo>
                    <a:pt x="98552" y="8620760"/>
                    <a:pt x="0" y="8522208"/>
                    <a:pt x="0" y="8400669"/>
                  </a:cubicBezTo>
                  <a:close/>
                </a:path>
              </a:pathLst>
            </a:custGeom>
            <a:solidFill>
              <a:srgbClr val="EEF3F9"/>
            </a:solidFill>
            <a:ln w="19050" cap="sq">
              <a:solidFill>
                <a:srgbClr val="EEF3F9"/>
              </a:solidFill>
              <a:prstDash val="solid"/>
              <a:miter/>
            </a:ln>
          </p:spPr>
        </p:sp>
      </p:grpSp>
      <p:sp>
        <p:nvSpPr>
          <p:cNvPr id="10" name="TextBox 10"/>
          <p:cNvSpPr txBox="1"/>
          <p:nvPr/>
        </p:nvSpPr>
        <p:spPr>
          <a:xfrm>
            <a:off x="1394460" y="2554605"/>
            <a:ext cx="15499080" cy="5488305"/>
          </a:xfrm>
          <a:prstGeom prst="rect">
            <a:avLst/>
          </a:prstGeom>
        </p:spPr>
        <p:txBody>
          <a:bodyPr lIns="0" tIns="0" rIns="0" bIns="0" rtlCol="0" anchor="t">
            <a:spAutoFit/>
          </a:bodyPr>
          <a:lstStyle/>
          <a:p>
            <a:pPr marL="542925" lvl="1" indent="-271462" algn="l">
              <a:lnSpc>
                <a:spcPts val="5460"/>
              </a:lnSpc>
              <a:buAutoNum type="arabicPeriod"/>
            </a:pPr>
            <a:r>
              <a:rPr lang="en-US" sz="3000">
                <a:solidFill>
                  <a:srgbClr val="0B1B33"/>
                </a:solidFill>
                <a:latin typeface="Calibri (MS)"/>
                <a:ea typeface="Calibri (MS)"/>
                <a:cs typeface="Calibri (MS)"/>
                <a:sym typeface="Calibri (MS)"/>
              </a:rPr>
              <a:t>Bjarne Stroustrup, The C++ Programming Language, Addison-Wesley</a:t>
            </a:r>
          </a:p>
          <a:p>
            <a:pPr marL="542925" lvl="1" indent="-271462" algn="l">
              <a:lnSpc>
                <a:spcPts val="5460"/>
              </a:lnSpc>
              <a:buAutoNum type="arabicPeriod"/>
            </a:pPr>
            <a:r>
              <a:rPr lang="en-US" sz="3000">
                <a:solidFill>
                  <a:srgbClr val="0B1B33"/>
                </a:solidFill>
                <a:latin typeface="Calibri (MS)"/>
                <a:ea typeface="Calibri (MS)"/>
                <a:cs typeface="Calibri (MS)"/>
                <a:sym typeface="Calibri (MS)"/>
              </a:rPr>
              <a:t>E. Balagurusamy, Object-Oriented Programming with C++, McGraw-Hill</a:t>
            </a:r>
          </a:p>
          <a:p>
            <a:pPr marL="542925" lvl="1" indent="-271462" algn="l">
              <a:lnSpc>
                <a:spcPts val="5460"/>
              </a:lnSpc>
              <a:buAutoNum type="arabicPeriod"/>
            </a:pPr>
            <a:r>
              <a:rPr lang="en-US" sz="3000">
                <a:solidFill>
                  <a:srgbClr val="0B1B33"/>
                </a:solidFill>
                <a:latin typeface="Calibri (MS)"/>
                <a:ea typeface="Calibri (MS)"/>
                <a:cs typeface="Calibri (MS)"/>
                <a:sym typeface="Calibri (MS)"/>
              </a:rPr>
              <a:t>cppreference.com: C++ standard library documentation</a:t>
            </a:r>
          </a:p>
          <a:p>
            <a:pPr marL="542925" lvl="1" indent="-271462" algn="l">
              <a:lnSpc>
                <a:spcPts val="5460"/>
              </a:lnSpc>
              <a:buAutoNum type="arabicPeriod"/>
            </a:pPr>
            <a:r>
              <a:rPr lang="en-US" sz="3000">
                <a:solidFill>
                  <a:srgbClr val="0B1B33"/>
                </a:solidFill>
                <a:latin typeface="Calibri (MS)"/>
                <a:ea typeface="Calibri (MS)"/>
                <a:cs typeface="Calibri (MS)"/>
                <a:sym typeface="Calibri (MS)"/>
              </a:rPr>
              <a:t>H. D. Curtis, Orbital Mechanics for Engineering Students, Elsevier</a:t>
            </a:r>
          </a:p>
          <a:p>
            <a:pPr marL="542925" lvl="1" indent="-271462" algn="l">
              <a:lnSpc>
                <a:spcPts val="5460"/>
              </a:lnSpc>
              <a:buAutoNum type="arabicPeriod"/>
            </a:pPr>
            <a:r>
              <a:rPr lang="en-US" sz="3000">
                <a:solidFill>
                  <a:srgbClr val="0B1B33"/>
                </a:solidFill>
                <a:latin typeface="Calibri (MS)"/>
                <a:ea typeface="Calibri (MS)"/>
                <a:cs typeface="Calibri (MS)"/>
                <a:sym typeface="Calibri (MS)"/>
              </a:rPr>
              <a:t>NASA Orbital Debris Program Office and ESA Space Debris Office: public overview pages (background only)</a:t>
            </a:r>
          </a:p>
          <a:p>
            <a:pPr marL="542925" lvl="1" indent="-271462" algn="l">
              <a:lnSpc>
                <a:spcPts val="5460"/>
              </a:lnSpc>
              <a:buAutoNum type="arabicPeriod"/>
            </a:pPr>
            <a:r>
              <a:rPr lang="en-US" sz="3000">
                <a:solidFill>
                  <a:srgbClr val="0B1B33"/>
                </a:solidFill>
                <a:latin typeface="Calibri (MS)"/>
                <a:ea typeface="Calibri (MS)"/>
                <a:cs typeface="Calibri (MS)"/>
                <a:sym typeface="Calibri (MS)"/>
              </a:rPr>
              <a:t>Project source code: </a:t>
            </a:r>
            <a:r>
              <a:rPr lang="en-US" sz="3000" u="sng">
                <a:solidFill>
                  <a:srgbClr val="0B1B33"/>
                </a:solidFill>
                <a:latin typeface="Calibri (MS)"/>
                <a:ea typeface="Calibri (MS)"/>
                <a:cs typeface="Calibri (MS)"/>
                <a:sym typeface="Calibri (MS)"/>
                <a:hlinkClick r:id="rId3" tooltip="https://github.com/CosmicFrontierDev/SCOPE---Space-Collision-Orbital-Proximity-Evaluation"/>
              </a:rPr>
              <a:t>github.com/CosmicFrontierDev/SCOPE-Space-Collision-Orbital-Proximity-Evaluation</a:t>
            </a:r>
          </a:p>
        </p:txBody>
      </p:sp>
      <p:sp>
        <p:nvSpPr>
          <p:cNvPr id="11" name="TextBox 11"/>
          <p:cNvSpPr txBox="1"/>
          <p:nvPr/>
        </p:nvSpPr>
        <p:spPr>
          <a:xfrm>
            <a:off x="16824960" y="9608820"/>
            <a:ext cx="502920" cy="358140"/>
          </a:xfrm>
          <a:prstGeom prst="rect">
            <a:avLst/>
          </a:prstGeom>
        </p:spPr>
        <p:txBody>
          <a:bodyPr lIns="0" tIns="0" rIns="0" bIns="0" rtlCol="0" anchor="t">
            <a:spAutoFit/>
          </a:bodyPr>
          <a:lstStyle/>
          <a:p>
            <a:pPr algn="l">
              <a:lnSpc>
                <a:spcPts val="1800"/>
              </a:lnSpc>
            </a:pPr>
            <a:r>
              <a:rPr lang="en-US" sz="1500">
                <a:solidFill>
                  <a:srgbClr val="64748B"/>
                </a:solidFill>
                <a:latin typeface="Calibri (MS)"/>
                <a:ea typeface="Calibri (MS)"/>
                <a:cs typeface="Calibri (MS)"/>
                <a:sym typeface="Calibri (MS)"/>
              </a:rPr>
              <a:t>15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837B3-983E-CEA6-CEA3-B90B321FC9B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B00754F-1F9E-F182-9EC7-D1A36874C36E}"/>
              </a:ext>
            </a:extLst>
          </p:cNvPr>
          <p:cNvGrpSpPr/>
          <p:nvPr/>
        </p:nvGrpSpPr>
        <p:grpSpPr>
          <a:xfrm>
            <a:off x="12403554" y="3951303"/>
            <a:ext cx="2948064" cy="2948064"/>
            <a:chOff x="0" y="0"/>
            <a:chExt cx="3930752" cy="3930752"/>
          </a:xfrm>
        </p:grpSpPr>
        <p:sp>
          <p:nvSpPr>
            <p:cNvPr id="3" name="Freeform 3">
              <a:extLst>
                <a:ext uri="{FF2B5EF4-FFF2-40B4-BE49-F238E27FC236}">
                  <a16:creationId xmlns:a16="http://schemas.microsoft.com/office/drawing/2014/main" id="{3CECB624-396B-8B86-DAA9-51FDB39E0D76}"/>
                </a:ext>
              </a:extLst>
            </p:cNvPr>
            <p:cNvSpPr/>
            <p:nvPr/>
          </p:nvSpPr>
          <p:spPr>
            <a:xfrm>
              <a:off x="0" y="0"/>
              <a:ext cx="3930777" cy="3930777"/>
            </a:xfrm>
            <a:custGeom>
              <a:avLst/>
              <a:gdLst/>
              <a:ahLst/>
              <a:cxnLst/>
              <a:rect l="l" t="t" r="r" b="b"/>
              <a:pathLst>
                <a:path w="3930777" h="3930777">
                  <a:moveTo>
                    <a:pt x="0" y="1965325"/>
                  </a:moveTo>
                  <a:cubicBezTo>
                    <a:pt x="0" y="879983"/>
                    <a:pt x="879983" y="0"/>
                    <a:pt x="1965325" y="0"/>
                  </a:cubicBezTo>
                  <a:cubicBezTo>
                    <a:pt x="3050667" y="0"/>
                    <a:pt x="3930777" y="879983"/>
                    <a:pt x="3930777" y="1965325"/>
                  </a:cubicBezTo>
                  <a:cubicBezTo>
                    <a:pt x="3930777" y="3050667"/>
                    <a:pt x="3050794" y="3930777"/>
                    <a:pt x="1965325" y="3930777"/>
                  </a:cubicBezTo>
                  <a:cubicBezTo>
                    <a:pt x="879856" y="3930777"/>
                    <a:pt x="0" y="3050794"/>
                    <a:pt x="0" y="1965325"/>
                  </a:cubicBezTo>
                  <a:close/>
                </a:path>
              </a:pathLst>
            </a:custGeom>
            <a:blipFill>
              <a:blip r:embed="rId2">
                <a:alphaModFix amt="0"/>
              </a:blip>
              <a:stretch>
                <a:fillRect l="-78303" r="-78302"/>
              </a:stretch>
            </a:blipFill>
            <a:ln w="23812" cap="sq">
              <a:solidFill>
                <a:srgbClr val="2B4C7E"/>
              </a:solidFill>
              <a:prstDash val="solid"/>
              <a:miter/>
            </a:ln>
          </p:spPr>
        </p:sp>
      </p:grpSp>
      <p:grpSp>
        <p:nvGrpSpPr>
          <p:cNvPr id="4" name="Group 4">
            <a:extLst>
              <a:ext uri="{FF2B5EF4-FFF2-40B4-BE49-F238E27FC236}">
                <a16:creationId xmlns:a16="http://schemas.microsoft.com/office/drawing/2014/main" id="{78E4C264-25C7-96E6-7D4F-8B8001678D83}"/>
              </a:ext>
            </a:extLst>
          </p:cNvPr>
          <p:cNvGrpSpPr/>
          <p:nvPr/>
        </p:nvGrpSpPr>
        <p:grpSpPr>
          <a:xfrm>
            <a:off x="11503785" y="3051535"/>
            <a:ext cx="4747603" cy="4747603"/>
            <a:chOff x="0" y="0"/>
            <a:chExt cx="6330137" cy="6330137"/>
          </a:xfrm>
        </p:grpSpPr>
        <p:sp>
          <p:nvSpPr>
            <p:cNvPr id="5" name="Freeform 5">
              <a:extLst>
                <a:ext uri="{FF2B5EF4-FFF2-40B4-BE49-F238E27FC236}">
                  <a16:creationId xmlns:a16="http://schemas.microsoft.com/office/drawing/2014/main" id="{75DB0FB1-4446-8B79-FE84-0E5DCE8E26AC}"/>
                </a:ext>
              </a:extLst>
            </p:cNvPr>
            <p:cNvSpPr/>
            <p:nvPr/>
          </p:nvSpPr>
          <p:spPr>
            <a:xfrm>
              <a:off x="0" y="0"/>
              <a:ext cx="6330188" cy="6330188"/>
            </a:xfrm>
            <a:custGeom>
              <a:avLst/>
              <a:gdLst/>
              <a:ahLst/>
              <a:cxnLst/>
              <a:rect l="l" t="t" r="r" b="b"/>
              <a:pathLst>
                <a:path w="6330188" h="6330188">
                  <a:moveTo>
                    <a:pt x="0" y="3165094"/>
                  </a:moveTo>
                  <a:cubicBezTo>
                    <a:pt x="0" y="1417066"/>
                    <a:pt x="1417066" y="0"/>
                    <a:pt x="3165094" y="0"/>
                  </a:cubicBezTo>
                  <a:cubicBezTo>
                    <a:pt x="4913122" y="0"/>
                    <a:pt x="6330188" y="1417066"/>
                    <a:pt x="6330188" y="3165094"/>
                  </a:cubicBezTo>
                  <a:cubicBezTo>
                    <a:pt x="6330188" y="4913122"/>
                    <a:pt x="4913122" y="6330188"/>
                    <a:pt x="3165094" y="6330188"/>
                  </a:cubicBezTo>
                  <a:cubicBezTo>
                    <a:pt x="1417066" y="6330188"/>
                    <a:pt x="0" y="4913122"/>
                    <a:pt x="0" y="3165094"/>
                  </a:cubicBezTo>
                  <a:close/>
                </a:path>
              </a:pathLst>
            </a:custGeom>
            <a:blipFill>
              <a:blip r:embed="rId2">
                <a:alphaModFix amt="0"/>
              </a:blip>
              <a:stretch>
                <a:fillRect l="-78302" r="-78302"/>
              </a:stretch>
            </a:blipFill>
            <a:ln w="23812" cap="sq">
              <a:solidFill>
                <a:srgbClr val="3A6EA5"/>
              </a:solidFill>
              <a:prstDash val="solid"/>
              <a:miter/>
            </a:ln>
          </p:spPr>
        </p:sp>
      </p:grpSp>
      <p:grpSp>
        <p:nvGrpSpPr>
          <p:cNvPr id="6" name="Group 6">
            <a:extLst>
              <a:ext uri="{FF2B5EF4-FFF2-40B4-BE49-F238E27FC236}">
                <a16:creationId xmlns:a16="http://schemas.microsoft.com/office/drawing/2014/main" id="{D0C74E32-25A3-7A4A-96E3-59DD834EA037}"/>
              </a:ext>
            </a:extLst>
          </p:cNvPr>
          <p:cNvGrpSpPr/>
          <p:nvPr/>
        </p:nvGrpSpPr>
        <p:grpSpPr>
          <a:xfrm>
            <a:off x="10666645" y="2146396"/>
            <a:ext cx="6547104" cy="6547104"/>
            <a:chOff x="-5448823" y="876822"/>
            <a:chExt cx="8729472" cy="8729472"/>
          </a:xfrm>
        </p:grpSpPr>
        <p:sp>
          <p:nvSpPr>
            <p:cNvPr id="7" name="Freeform 7">
              <a:extLst>
                <a:ext uri="{FF2B5EF4-FFF2-40B4-BE49-F238E27FC236}">
                  <a16:creationId xmlns:a16="http://schemas.microsoft.com/office/drawing/2014/main" id="{61F7E04A-F2FE-1BA7-7DF0-D0EC1ACB0D24}"/>
                </a:ext>
              </a:extLst>
            </p:cNvPr>
            <p:cNvSpPr/>
            <p:nvPr/>
          </p:nvSpPr>
          <p:spPr>
            <a:xfrm>
              <a:off x="-5448823" y="876822"/>
              <a:ext cx="8729472" cy="8729472"/>
            </a:xfrm>
            <a:custGeom>
              <a:avLst/>
              <a:gdLst/>
              <a:ahLst/>
              <a:cxnLst/>
              <a:rect l="l" t="t" r="r" b="b"/>
              <a:pathLst>
                <a:path w="8729472" h="8729472">
                  <a:moveTo>
                    <a:pt x="0" y="4364736"/>
                  </a:moveTo>
                  <a:cubicBezTo>
                    <a:pt x="0" y="1954149"/>
                    <a:pt x="1954149" y="0"/>
                    <a:pt x="4364736" y="0"/>
                  </a:cubicBezTo>
                  <a:cubicBezTo>
                    <a:pt x="6775323" y="0"/>
                    <a:pt x="8729472" y="1954149"/>
                    <a:pt x="8729472" y="4364736"/>
                  </a:cubicBezTo>
                  <a:cubicBezTo>
                    <a:pt x="8729472" y="6775323"/>
                    <a:pt x="6775323" y="8729472"/>
                    <a:pt x="4364736" y="8729472"/>
                  </a:cubicBezTo>
                  <a:cubicBezTo>
                    <a:pt x="1954149" y="8729472"/>
                    <a:pt x="0" y="6775323"/>
                    <a:pt x="0" y="4364736"/>
                  </a:cubicBezTo>
                  <a:close/>
                </a:path>
              </a:pathLst>
            </a:custGeom>
            <a:blipFill>
              <a:blip r:embed="rId2">
                <a:alphaModFix amt="0"/>
              </a:blip>
              <a:stretch>
                <a:fillRect l="-78304" r="-78304"/>
              </a:stretch>
            </a:blipFill>
            <a:ln w="23812" cap="sq">
              <a:solidFill>
                <a:srgbClr val="38BDF8"/>
              </a:solidFill>
              <a:prstDash val="solid"/>
              <a:miter/>
            </a:ln>
          </p:spPr>
        </p:sp>
      </p:grpSp>
      <p:grpSp>
        <p:nvGrpSpPr>
          <p:cNvPr id="8" name="Group 8">
            <a:extLst>
              <a:ext uri="{FF2B5EF4-FFF2-40B4-BE49-F238E27FC236}">
                <a16:creationId xmlns:a16="http://schemas.microsoft.com/office/drawing/2014/main" id="{AFB0038F-485C-2FDB-B8C6-313097331343}"/>
              </a:ext>
            </a:extLst>
          </p:cNvPr>
          <p:cNvGrpSpPr/>
          <p:nvPr/>
        </p:nvGrpSpPr>
        <p:grpSpPr>
          <a:xfrm>
            <a:off x="13138630" y="4623750"/>
            <a:ext cx="1603172" cy="1603172"/>
            <a:chOff x="0" y="0"/>
            <a:chExt cx="2137562" cy="2137562"/>
          </a:xfrm>
        </p:grpSpPr>
        <p:sp>
          <p:nvSpPr>
            <p:cNvPr id="9" name="Freeform 9">
              <a:extLst>
                <a:ext uri="{FF2B5EF4-FFF2-40B4-BE49-F238E27FC236}">
                  <a16:creationId xmlns:a16="http://schemas.microsoft.com/office/drawing/2014/main" id="{3545C6AE-96D1-06A9-4949-08FA13B811C9}"/>
                </a:ext>
              </a:extLst>
            </p:cNvPr>
            <p:cNvSpPr/>
            <p:nvPr/>
          </p:nvSpPr>
          <p:spPr>
            <a:xfrm>
              <a:off x="0" y="0"/>
              <a:ext cx="2137664" cy="2137664"/>
            </a:xfrm>
            <a:custGeom>
              <a:avLst/>
              <a:gdLst/>
              <a:ahLst/>
              <a:cxnLst/>
              <a:rect l="l" t="t" r="r" b="b"/>
              <a:pathLst>
                <a:path w="2137664" h="2137664">
                  <a:moveTo>
                    <a:pt x="0" y="1068832"/>
                  </a:moveTo>
                  <a:cubicBezTo>
                    <a:pt x="0" y="478536"/>
                    <a:pt x="478536" y="0"/>
                    <a:pt x="1068832" y="0"/>
                  </a:cubicBezTo>
                  <a:cubicBezTo>
                    <a:pt x="1659128" y="0"/>
                    <a:pt x="2137664" y="478536"/>
                    <a:pt x="2137664" y="1068832"/>
                  </a:cubicBezTo>
                  <a:cubicBezTo>
                    <a:pt x="2137664" y="1659128"/>
                    <a:pt x="1659128" y="2137664"/>
                    <a:pt x="1068832" y="2137664"/>
                  </a:cubicBezTo>
                  <a:cubicBezTo>
                    <a:pt x="478536" y="2137664"/>
                    <a:pt x="0" y="1659001"/>
                    <a:pt x="0" y="1068832"/>
                  </a:cubicBezTo>
                  <a:close/>
                </a:path>
              </a:pathLst>
            </a:custGeom>
            <a:solidFill>
              <a:srgbClr val="D2E4FF"/>
            </a:solidFill>
            <a:ln w="28575" cap="sq">
              <a:solidFill>
                <a:srgbClr val="38BDF8"/>
              </a:solidFill>
              <a:prstDash val="solid"/>
              <a:miter/>
            </a:ln>
          </p:spPr>
        </p:sp>
      </p:grpSp>
      <p:grpSp>
        <p:nvGrpSpPr>
          <p:cNvPr id="10" name="Group 10">
            <a:extLst>
              <a:ext uri="{FF2B5EF4-FFF2-40B4-BE49-F238E27FC236}">
                <a16:creationId xmlns:a16="http://schemas.microsoft.com/office/drawing/2014/main" id="{145DC617-402F-803A-42B1-6562758A8030}"/>
              </a:ext>
            </a:extLst>
          </p:cNvPr>
          <p:cNvGrpSpPr/>
          <p:nvPr/>
        </p:nvGrpSpPr>
        <p:grpSpPr>
          <a:xfrm>
            <a:off x="14904026" y="3358408"/>
            <a:ext cx="625631" cy="469223"/>
            <a:chOff x="0" y="0"/>
            <a:chExt cx="812800" cy="609600"/>
          </a:xfrm>
        </p:grpSpPr>
        <p:sp>
          <p:nvSpPr>
            <p:cNvPr id="11" name="Freeform 11">
              <a:extLst>
                <a:ext uri="{FF2B5EF4-FFF2-40B4-BE49-F238E27FC236}">
                  <a16:creationId xmlns:a16="http://schemas.microsoft.com/office/drawing/2014/main" id="{367C2399-265B-2AD5-6AF7-2BB2596FF770}"/>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1B33"/>
            </a:solidFill>
          </p:spPr>
        </p:sp>
        <p:sp>
          <p:nvSpPr>
            <p:cNvPr id="12" name="TextBox 12">
              <a:extLst>
                <a:ext uri="{FF2B5EF4-FFF2-40B4-BE49-F238E27FC236}">
                  <a16:creationId xmlns:a16="http://schemas.microsoft.com/office/drawing/2014/main" id="{65B3D594-885C-67D0-2CB4-B62292FFF88A}"/>
                </a:ext>
              </a:extLst>
            </p:cNvPr>
            <p:cNvSpPr txBox="1"/>
            <p:nvPr/>
          </p:nvSpPr>
          <p:spPr>
            <a:xfrm>
              <a:off x="101600" y="-47625"/>
              <a:ext cx="609600" cy="657225"/>
            </a:xfrm>
            <a:prstGeom prst="rect">
              <a:avLst/>
            </a:prstGeom>
          </p:spPr>
          <p:txBody>
            <a:bodyPr lIns="50800" tIns="50800" rIns="50800" bIns="50800" rtlCol="0" anchor="ctr"/>
            <a:lstStyle/>
            <a:p>
              <a:pPr algn="ctr">
                <a:lnSpc>
                  <a:spcPts val="2520"/>
                </a:lnSpc>
              </a:pPr>
              <a:endParaRPr/>
            </a:p>
          </p:txBody>
        </p:sp>
      </p:grpSp>
      <p:grpSp>
        <p:nvGrpSpPr>
          <p:cNvPr id="15" name="Group 15">
            <a:extLst>
              <a:ext uri="{FF2B5EF4-FFF2-40B4-BE49-F238E27FC236}">
                <a16:creationId xmlns:a16="http://schemas.microsoft.com/office/drawing/2014/main" id="{FB8A0303-0C84-4ECA-8B73-78DEC8F1D0E1}"/>
              </a:ext>
            </a:extLst>
          </p:cNvPr>
          <p:cNvGrpSpPr/>
          <p:nvPr/>
        </p:nvGrpSpPr>
        <p:grpSpPr>
          <a:xfrm>
            <a:off x="14219335" y="7472807"/>
            <a:ext cx="625631" cy="469223"/>
            <a:chOff x="0" y="0"/>
            <a:chExt cx="812800" cy="609600"/>
          </a:xfrm>
        </p:grpSpPr>
        <p:sp>
          <p:nvSpPr>
            <p:cNvPr id="16" name="Freeform 16">
              <a:extLst>
                <a:ext uri="{FF2B5EF4-FFF2-40B4-BE49-F238E27FC236}">
                  <a16:creationId xmlns:a16="http://schemas.microsoft.com/office/drawing/2014/main" id="{CE10E09A-C1F5-EC66-50AA-AE5A80C3C4A3}"/>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1B33"/>
            </a:solidFill>
          </p:spPr>
        </p:sp>
        <p:sp>
          <p:nvSpPr>
            <p:cNvPr id="17" name="TextBox 17">
              <a:extLst>
                <a:ext uri="{FF2B5EF4-FFF2-40B4-BE49-F238E27FC236}">
                  <a16:creationId xmlns:a16="http://schemas.microsoft.com/office/drawing/2014/main" id="{1721EDD4-B9CC-29D2-7A80-5C7C9E400C79}"/>
                </a:ext>
              </a:extLst>
            </p:cNvPr>
            <p:cNvSpPr txBox="1"/>
            <p:nvPr/>
          </p:nvSpPr>
          <p:spPr>
            <a:xfrm>
              <a:off x="101600" y="-47625"/>
              <a:ext cx="609600" cy="657225"/>
            </a:xfrm>
            <a:prstGeom prst="rect">
              <a:avLst/>
            </a:prstGeom>
          </p:spPr>
          <p:txBody>
            <a:bodyPr lIns="50800" tIns="50800" rIns="50800" bIns="50800" rtlCol="0" anchor="ctr"/>
            <a:lstStyle/>
            <a:p>
              <a:pPr algn="ctr">
                <a:lnSpc>
                  <a:spcPts val="2520"/>
                </a:lnSpc>
              </a:pPr>
              <a:endParaRPr/>
            </a:p>
          </p:txBody>
        </p:sp>
      </p:grpSp>
      <p:grpSp>
        <p:nvGrpSpPr>
          <p:cNvPr id="18" name="Group 18">
            <a:extLst>
              <a:ext uri="{FF2B5EF4-FFF2-40B4-BE49-F238E27FC236}">
                <a16:creationId xmlns:a16="http://schemas.microsoft.com/office/drawing/2014/main" id="{80ACA15F-76BC-89DC-A182-FF7AF1FA60B6}"/>
              </a:ext>
            </a:extLst>
          </p:cNvPr>
          <p:cNvGrpSpPr/>
          <p:nvPr/>
        </p:nvGrpSpPr>
        <p:grpSpPr>
          <a:xfrm>
            <a:off x="14381426" y="7562930"/>
            <a:ext cx="288979" cy="288979"/>
            <a:chOff x="0" y="0"/>
            <a:chExt cx="385305" cy="385305"/>
          </a:xfrm>
        </p:grpSpPr>
        <p:sp>
          <p:nvSpPr>
            <p:cNvPr id="19" name="Freeform 19">
              <a:extLst>
                <a:ext uri="{FF2B5EF4-FFF2-40B4-BE49-F238E27FC236}">
                  <a16:creationId xmlns:a16="http://schemas.microsoft.com/office/drawing/2014/main" id="{31072193-1817-2CAA-028C-795DAAE5F031}"/>
                </a:ext>
              </a:extLst>
            </p:cNvPr>
            <p:cNvSpPr/>
            <p:nvPr/>
          </p:nvSpPr>
          <p:spPr>
            <a:xfrm>
              <a:off x="0" y="0"/>
              <a:ext cx="385318" cy="385318"/>
            </a:xfrm>
            <a:custGeom>
              <a:avLst/>
              <a:gdLst/>
              <a:ahLst/>
              <a:cxnLst/>
              <a:rect l="l" t="t" r="r" b="b"/>
              <a:pathLst>
                <a:path w="385318" h="385318">
                  <a:moveTo>
                    <a:pt x="0" y="192659"/>
                  </a:moveTo>
                  <a:cubicBezTo>
                    <a:pt x="0" y="86233"/>
                    <a:pt x="86233" y="0"/>
                    <a:pt x="192659" y="0"/>
                  </a:cubicBezTo>
                  <a:cubicBezTo>
                    <a:pt x="299085" y="0"/>
                    <a:pt x="385318" y="86233"/>
                    <a:pt x="385318" y="192659"/>
                  </a:cubicBezTo>
                  <a:cubicBezTo>
                    <a:pt x="385318" y="299085"/>
                    <a:pt x="299085" y="385318"/>
                    <a:pt x="192659" y="385318"/>
                  </a:cubicBezTo>
                  <a:cubicBezTo>
                    <a:pt x="86233" y="385318"/>
                    <a:pt x="0" y="299085"/>
                    <a:pt x="0" y="192659"/>
                  </a:cubicBezTo>
                  <a:close/>
                </a:path>
              </a:pathLst>
            </a:custGeom>
            <a:solidFill>
              <a:srgbClr val="F59E0B"/>
            </a:solidFill>
            <a:ln w="19050" cap="sq">
              <a:solidFill>
                <a:srgbClr val="F59E0B"/>
              </a:solidFill>
              <a:prstDash val="solid"/>
              <a:miter/>
            </a:ln>
          </p:spPr>
        </p:sp>
      </p:grpSp>
      <p:grpSp>
        <p:nvGrpSpPr>
          <p:cNvPr id="20" name="Group 20">
            <a:extLst>
              <a:ext uri="{FF2B5EF4-FFF2-40B4-BE49-F238E27FC236}">
                <a16:creationId xmlns:a16="http://schemas.microsoft.com/office/drawing/2014/main" id="{FD1DF3A8-60E3-B1DE-925B-6B2F844570FF}"/>
              </a:ext>
            </a:extLst>
          </p:cNvPr>
          <p:cNvGrpSpPr/>
          <p:nvPr/>
        </p:nvGrpSpPr>
        <p:grpSpPr>
          <a:xfrm>
            <a:off x="11187250" y="4908504"/>
            <a:ext cx="625631" cy="469223"/>
            <a:chOff x="0" y="0"/>
            <a:chExt cx="812800" cy="609600"/>
          </a:xfrm>
        </p:grpSpPr>
        <p:sp>
          <p:nvSpPr>
            <p:cNvPr id="21" name="Freeform 21">
              <a:extLst>
                <a:ext uri="{FF2B5EF4-FFF2-40B4-BE49-F238E27FC236}">
                  <a16:creationId xmlns:a16="http://schemas.microsoft.com/office/drawing/2014/main" id="{850A576C-D5FE-838E-1D5C-D49CDAF8BD80}"/>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1B33"/>
            </a:solidFill>
          </p:spPr>
        </p:sp>
        <p:sp>
          <p:nvSpPr>
            <p:cNvPr id="22" name="TextBox 22">
              <a:extLst>
                <a:ext uri="{FF2B5EF4-FFF2-40B4-BE49-F238E27FC236}">
                  <a16:creationId xmlns:a16="http://schemas.microsoft.com/office/drawing/2014/main" id="{E075CD0F-5BF2-A410-49BD-75D719AF6F27}"/>
                </a:ext>
              </a:extLst>
            </p:cNvPr>
            <p:cNvSpPr txBox="1"/>
            <p:nvPr/>
          </p:nvSpPr>
          <p:spPr>
            <a:xfrm>
              <a:off x="101600" y="-47625"/>
              <a:ext cx="609600" cy="657225"/>
            </a:xfrm>
            <a:prstGeom prst="rect">
              <a:avLst/>
            </a:prstGeom>
          </p:spPr>
          <p:txBody>
            <a:bodyPr lIns="50800" tIns="50800" rIns="50800" bIns="50800" rtlCol="0" anchor="ctr"/>
            <a:lstStyle/>
            <a:p>
              <a:pPr algn="ctr">
                <a:lnSpc>
                  <a:spcPts val="2520"/>
                </a:lnSpc>
              </a:pPr>
              <a:endParaRPr/>
            </a:p>
          </p:txBody>
        </p:sp>
      </p:grpSp>
      <p:grpSp>
        <p:nvGrpSpPr>
          <p:cNvPr id="29" name="Group 29">
            <a:extLst>
              <a:ext uri="{FF2B5EF4-FFF2-40B4-BE49-F238E27FC236}">
                <a16:creationId xmlns:a16="http://schemas.microsoft.com/office/drawing/2014/main" id="{3F0A8730-65FC-CC37-0D43-A51FA597D168}"/>
              </a:ext>
            </a:extLst>
          </p:cNvPr>
          <p:cNvGrpSpPr/>
          <p:nvPr/>
        </p:nvGrpSpPr>
        <p:grpSpPr>
          <a:xfrm>
            <a:off x="16579173" y="6445550"/>
            <a:ext cx="625631" cy="469223"/>
            <a:chOff x="0" y="0"/>
            <a:chExt cx="812800" cy="609600"/>
          </a:xfrm>
        </p:grpSpPr>
        <p:sp>
          <p:nvSpPr>
            <p:cNvPr id="30" name="Freeform 30">
              <a:extLst>
                <a:ext uri="{FF2B5EF4-FFF2-40B4-BE49-F238E27FC236}">
                  <a16:creationId xmlns:a16="http://schemas.microsoft.com/office/drawing/2014/main" id="{392E9D96-C66E-0346-286C-50F0C0F38EC8}"/>
                </a:ext>
              </a:extLst>
            </p:cNvPr>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0B1B33"/>
            </a:solidFill>
          </p:spPr>
        </p:sp>
        <p:sp>
          <p:nvSpPr>
            <p:cNvPr id="31" name="TextBox 31">
              <a:extLst>
                <a:ext uri="{FF2B5EF4-FFF2-40B4-BE49-F238E27FC236}">
                  <a16:creationId xmlns:a16="http://schemas.microsoft.com/office/drawing/2014/main" id="{44203C09-2E37-B400-FE89-7522DA370D7D}"/>
                </a:ext>
              </a:extLst>
            </p:cNvPr>
            <p:cNvSpPr txBox="1"/>
            <p:nvPr/>
          </p:nvSpPr>
          <p:spPr>
            <a:xfrm>
              <a:off x="101600" y="-47625"/>
              <a:ext cx="609600" cy="657225"/>
            </a:xfrm>
            <a:prstGeom prst="rect">
              <a:avLst/>
            </a:prstGeom>
          </p:spPr>
          <p:txBody>
            <a:bodyPr lIns="50800" tIns="50800" rIns="50800" bIns="50800" rtlCol="0" anchor="ctr"/>
            <a:lstStyle/>
            <a:p>
              <a:pPr algn="ctr">
                <a:lnSpc>
                  <a:spcPts val="2520"/>
                </a:lnSpc>
              </a:pPr>
              <a:endParaRPr/>
            </a:p>
          </p:txBody>
        </p:sp>
      </p:grpSp>
      <p:grpSp>
        <p:nvGrpSpPr>
          <p:cNvPr id="32" name="Group 32">
            <a:extLst>
              <a:ext uri="{FF2B5EF4-FFF2-40B4-BE49-F238E27FC236}">
                <a16:creationId xmlns:a16="http://schemas.microsoft.com/office/drawing/2014/main" id="{C65556B4-9174-6A4A-666B-6C136EF33C86}"/>
              </a:ext>
            </a:extLst>
          </p:cNvPr>
          <p:cNvGrpSpPr/>
          <p:nvPr/>
        </p:nvGrpSpPr>
        <p:grpSpPr>
          <a:xfrm>
            <a:off x="15089656" y="3468652"/>
            <a:ext cx="253953" cy="253953"/>
            <a:chOff x="0" y="0"/>
            <a:chExt cx="385305" cy="385305"/>
          </a:xfrm>
        </p:grpSpPr>
        <p:sp>
          <p:nvSpPr>
            <p:cNvPr id="33" name="Freeform 33">
              <a:extLst>
                <a:ext uri="{FF2B5EF4-FFF2-40B4-BE49-F238E27FC236}">
                  <a16:creationId xmlns:a16="http://schemas.microsoft.com/office/drawing/2014/main" id="{B35F2FFE-EE82-091E-A143-81163AAF09E4}"/>
                </a:ext>
              </a:extLst>
            </p:cNvPr>
            <p:cNvSpPr/>
            <p:nvPr/>
          </p:nvSpPr>
          <p:spPr>
            <a:xfrm>
              <a:off x="0" y="0"/>
              <a:ext cx="385318" cy="385318"/>
            </a:xfrm>
            <a:custGeom>
              <a:avLst/>
              <a:gdLst/>
              <a:ahLst/>
              <a:cxnLst/>
              <a:rect l="l" t="t" r="r" b="b"/>
              <a:pathLst>
                <a:path w="385318" h="385318">
                  <a:moveTo>
                    <a:pt x="0" y="192659"/>
                  </a:moveTo>
                  <a:cubicBezTo>
                    <a:pt x="0" y="86233"/>
                    <a:pt x="86233" y="0"/>
                    <a:pt x="192659" y="0"/>
                  </a:cubicBezTo>
                  <a:cubicBezTo>
                    <a:pt x="299085" y="0"/>
                    <a:pt x="385318" y="86233"/>
                    <a:pt x="385318" y="192659"/>
                  </a:cubicBezTo>
                  <a:cubicBezTo>
                    <a:pt x="385318" y="299085"/>
                    <a:pt x="299085" y="385318"/>
                    <a:pt x="192659" y="385318"/>
                  </a:cubicBezTo>
                  <a:cubicBezTo>
                    <a:pt x="86233" y="385318"/>
                    <a:pt x="0" y="299085"/>
                    <a:pt x="0" y="192659"/>
                  </a:cubicBezTo>
                  <a:close/>
                </a:path>
              </a:pathLst>
            </a:custGeom>
            <a:solidFill>
              <a:srgbClr val="F59E0B"/>
            </a:solidFill>
            <a:ln w="19050" cap="sq">
              <a:solidFill>
                <a:srgbClr val="F59E0B"/>
              </a:solidFill>
              <a:prstDash val="solid"/>
              <a:miter/>
            </a:ln>
          </p:spPr>
        </p:sp>
      </p:grpSp>
      <p:sp>
        <p:nvSpPr>
          <p:cNvPr id="35" name="Freeform 19">
            <a:extLst>
              <a:ext uri="{FF2B5EF4-FFF2-40B4-BE49-F238E27FC236}">
                <a16:creationId xmlns:a16="http://schemas.microsoft.com/office/drawing/2014/main" id="{F0AE842B-A63F-9E01-A60B-449175542E4E}"/>
              </a:ext>
            </a:extLst>
          </p:cNvPr>
          <p:cNvSpPr/>
          <p:nvPr/>
        </p:nvSpPr>
        <p:spPr>
          <a:xfrm>
            <a:off x="11355347" y="5006577"/>
            <a:ext cx="288989" cy="288989"/>
          </a:xfrm>
          <a:custGeom>
            <a:avLst/>
            <a:gdLst/>
            <a:ahLst/>
            <a:cxnLst/>
            <a:rect l="l" t="t" r="r" b="b"/>
            <a:pathLst>
              <a:path w="385318" h="385318">
                <a:moveTo>
                  <a:pt x="0" y="192659"/>
                </a:moveTo>
                <a:cubicBezTo>
                  <a:pt x="0" y="86233"/>
                  <a:pt x="86233" y="0"/>
                  <a:pt x="192659" y="0"/>
                </a:cubicBezTo>
                <a:cubicBezTo>
                  <a:pt x="299085" y="0"/>
                  <a:pt x="385318" y="86233"/>
                  <a:pt x="385318" y="192659"/>
                </a:cubicBezTo>
                <a:cubicBezTo>
                  <a:pt x="385318" y="299085"/>
                  <a:pt x="299085" y="385318"/>
                  <a:pt x="192659" y="385318"/>
                </a:cubicBezTo>
                <a:cubicBezTo>
                  <a:pt x="86233" y="385318"/>
                  <a:pt x="0" y="299085"/>
                  <a:pt x="0" y="192659"/>
                </a:cubicBezTo>
                <a:close/>
              </a:path>
            </a:pathLst>
          </a:custGeom>
          <a:solidFill>
            <a:srgbClr val="F59E0B"/>
          </a:solidFill>
          <a:ln w="19050" cap="sq">
            <a:solidFill>
              <a:srgbClr val="F59E0B"/>
            </a:solidFill>
            <a:prstDash val="solid"/>
            <a:miter/>
          </a:ln>
        </p:spPr>
      </p:sp>
      <p:sp>
        <p:nvSpPr>
          <p:cNvPr id="37" name="Freeform 19">
            <a:extLst>
              <a:ext uri="{FF2B5EF4-FFF2-40B4-BE49-F238E27FC236}">
                <a16:creationId xmlns:a16="http://schemas.microsoft.com/office/drawing/2014/main" id="{DC3A9072-50BB-FD27-9DC7-97DC58FAA70B}"/>
              </a:ext>
            </a:extLst>
          </p:cNvPr>
          <p:cNvSpPr/>
          <p:nvPr/>
        </p:nvSpPr>
        <p:spPr>
          <a:xfrm>
            <a:off x="16753021" y="6536840"/>
            <a:ext cx="288989" cy="288989"/>
          </a:xfrm>
          <a:custGeom>
            <a:avLst/>
            <a:gdLst/>
            <a:ahLst/>
            <a:cxnLst/>
            <a:rect l="l" t="t" r="r" b="b"/>
            <a:pathLst>
              <a:path w="385318" h="385318">
                <a:moveTo>
                  <a:pt x="0" y="192659"/>
                </a:moveTo>
                <a:cubicBezTo>
                  <a:pt x="0" y="86233"/>
                  <a:pt x="86233" y="0"/>
                  <a:pt x="192659" y="0"/>
                </a:cubicBezTo>
                <a:cubicBezTo>
                  <a:pt x="299085" y="0"/>
                  <a:pt x="385318" y="86233"/>
                  <a:pt x="385318" y="192659"/>
                </a:cubicBezTo>
                <a:cubicBezTo>
                  <a:pt x="385318" y="299085"/>
                  <a:pt x="299085" y="385318"/>
                  <a:pt x="192659" y="385318"/>
                </a:cubicBezTo>
                <a:cubicBezTo>
                  <a:pt x="86233" y="385318"/>
                  <a:pt x="0" y="299085"/>
                  <a:pt x="0" y="192659"/>
                </a:cubicBezTo>
                <a:close/>
              </a:path>
            </a:pathLst>
          </a:custGeom>
          <a:solidFill>
            <a:srgbClr val="F59E0B"/>
          </a:solidFill>
          <a:ln w="19050" cap="sq">
            <a:solidFill>
              <a:srgbClr val="F59E0B"/>
            </a:solidFill>
            <a:prstDash val="solid"/>
            <a:miter/>
          </a:ln>
        </p:spPr>
      </p:sp>
      <p:sp>
        <p:nvSpPr>
          <p:cNvPr id="23" name="TextBox 31">
            <a:extLst>
              <a:ext uri="{FF2B5EF4-FFF2-40B4-BE49-F238E27FC236}">
                <a16:creationId xmlns:a16="http://schemas.microsoft.com/office/drawing/2014/main" id="{15DB65E3-FF2F-05DE-3997-C0AB0907EB21}"/>
              </a:ext>
            </a:extLst>
          </p:cNvPr>
          <p:cNvSpPr txBox="1"/>
          <p:nvPr/>
        </p:nvSpPr>
        <p:spPr>
          <a:xfrm>
            <a:off x="1028700" y="4760157"/>
            <a:ext cx="9875520" cy="1943100"/>
          </a:xfrm>
          <a:prstGeom prst="rect">
            <a:avLst/>
          </a:prstGeom>
        </p:spPr>
        <p:txBody>
          <a:bodyPr lIns="0" tIns="0" rIns="0" bIns="0" rtlCol="0" anchor="t">
            <a:spAutoFit/>
          </a:bodyPr>
          <a:lstStyle/>
          <a:p>
            <a:pPr algn="l">
              <a:lnSpc>
                <a:spcPts val="3479"/>
              </a:lnSpc>
            </a:pPr>
            <a:r>
              <a:rPr lang="en-US" sz="2899">
                <a:solidFill>
                  <a:srgbClr val="1E3A5F"/>
                </a:solidFill>
                <a:latin typeface="Calibri (MS)"/>
                <a:ea typeface="Calibri (MS)"/>
                <a:cs typeface="Calibri (MS)"/>
                <a:sym typeface="Calibri (MS)"/>
              </a:rPr>
              <a:t>SCOPE applies Object Oriented Programming to a space-safety problem in a tested, modular C++ program.</a:t>
            </a:r>
          </a:p>
          <a:p>
            <a:pPr algn="l">
              <a:lnSpc>
                <a:spcPts val="2039"/>
              </a:lnSpc>
            </a:pPr>
            <a:r>
              <a:rPr lang="en-US" sz="1699">
                <a:solidFill>
                  <a:srgbClr val="1E3A5F"/>
                </a:solidFill>
                <a:latin typeface="Calibri (MS)"/>
                <a:ea typeface="Calibri (MS)"/>
                <a:cs typeface="Calibri (MS)"/>
                <a:sym typeface="Calibri (MS)"/>
              </a:rPr>
              <a:t> </a:t>
            </a:r>
          </a:p>
          <a:p>
            <a:pPr algn="l">
              <a:lnSpc>
                <a:spcPts val="5999"/>
              </a:lnSpc>
            </a:pPr>
            <a:r>
              <a:rPr lang="en-US" sz="4999" b="1">
                <a:solidFill>
                  <a:srgbClr val="1E3A5F"/>
                </a:solidFill>
                <a:latin typeface="Calibri (MS) Bold"/>
                <a:ea typeface="Calibri (MS) Bold"/>
                <a:cs typeface="Calibri (MS) Bold"/>
                <a:sym typeface="Calibri (MS) Bold"/>
              </a:rPr>
              <a:t>Questions?</a:t>
            </a:r>
          </a:p>
        </p:txBody>
      </p:sp>
      <p:sp>
        <p:nvSpPr>
          <p:cNvPr id="38" name="TextBox 30">
            <a:extLst>
              <a:ext uri="{FF2B5EF4-FFF2-40B4-BE49-F238E27FC236}">
                <a16:creationId xmlns:a16="http://schemas.microsoft.com/office/drawing/2014/main" id="{8BA36B1D-02CC-1A04-DC11-8ECF2F567733}"/>
              </a:ext>
            </a:extLst>
          </p:cNvPr>
          <p:cNvSpPr txBox="1"/>
          <p:nvPr/>
        </p:nvSpPr>
        <p:spPr>
          <a:xfrm>
            <a:off x="984104" y="2989364"/>
            <a:ext cx="9875520" cy="1543050"/>
          </a:xfrm>
          <a:prstGeom prst="rect">
            <a:avLst/>
          </a:prstGeom>
        </p:spPr>
        <p:txBody>
          <a:bodyPr lIns="0" tIns="0" rIns="0" bIns="0" rtlCol="0" anchor="t">
            <a:spAutoFit/>
          </a:bodyPr>
          <a:lstStyle/>
          <a:p>
            <a:pPr algn="l">
              <a:lnSpc>
                <a:spcPts val="10799"/>
              </a:lnSpc>
            </a:pPr>
            <a:r>
              <a:rPr lang="en-US" sz="8999" b="1">
                <a:solidFill>
                  <a:srgbClr val="0B1B33"/>
                </a:solidFill>
                <a:latin typeface="Calibri (MS) Bold"/>
                <a:ea typeface="Calibri (MS) Bold"/>
                <a:cs typeface="Calibri (MS) Bold"/>
                <a:sym typeface="Calibri (MS) Bold"/>
              </a:rPr>
              <a:t>Thank You</a:t>
            </a:r>
          </a:p>
        </p:txBody>
      </p:sp>
    </p:spTree>
    <p:extLst>
      <p:ext uri="{BB962C8B-B14F-4D97-AF65-F5344CB8AC3E}">
        <p14:creationId xmlns:p14="http://schemas.microsoft.com/office/powerpoint/2010/main" val="4071680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SCOPE</dc:title>
  <cp:revision>71</cp:revision>
  <dcterms:created xsi:type="dcterms:W3CDTF">2006-08-16T00:00:00Z</dcterms:created>
  <dcterms:modified xsi:type="dcterms:W3CDTF">2026-10-24T05:47:03Z</dcterms:modified>
  <dc:identifier>DAHYLdQrw24</dc:identifier>
</cp:coreProperties>
</file>